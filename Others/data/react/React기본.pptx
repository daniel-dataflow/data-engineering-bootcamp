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75"/>
  </p:notesMasterIdLst>
  <p:sldIdLst>
    <p:sldId id="284" r:id="rId2"/>
    <p:sldId id="522" r:id="rId3"/>
    <p:sldId id="368" r:id="rId4"/>
    <p:sldId id="537" r:id="rId5"/>
    <p:sldId id="538" r:id="rId6"/>
    <p:sldId id="536" r:id="rId7"/>
    <p:sldId id="556" r:id="rId8"/>
    <p:sldId id="558" r:id="rId9"/>
    <p:sldId id="559" r:id="rId10"/>
    <p:sldId id="562" r:id="rId11"/>
    <p:sldId id="560" r:id="rId12"/>
    <p:sldId id="563" r:id="rId13"/>
    <p:sldId id="564" r:id="rId14"/>
    <p:sldId id="600" r:id="rId15"/>
    <p:sldId id="540" r:id="rId16"/>
    <p:sldId id="539" r:id="rId17"/>
    <p:sldId id="565" r:id="rId18"/>
    <p:sldId id="566" r:id="rId19"/>
    <p:sldId id="567" r:id="rId20"/>
    <p:sldId id="577" r:id="rId21"/>
    <p:sldId id="578" r:id="rId22"/>
    <p:sldId id="579" r:id="rId23"/>
    <p:sldId id="568" r:id="rId24"/>
    <p:sldId id="569" r:id="rId25"/>
    <p:sldId id="571" r:id="rId26"/>
    <p:sldId id="572" r:id="rId27"/>
    <p:sldId id="575" r:id="rId28"/>
    <p:sldId id="573" r:id="rId29"/>
    <p:sldId id="576" r:id="rId30"/>
    <p:sldId id="574" r:id="rId31"/>
    <p:sldId id="580" r:id="rId32"/>
    <p:sldId id="581" r:id="rId33"/>
    <p:sldId id="582" r:id="rId34"/>
    <p:sldId id="583" r:id="rId35"/>
    <p:sldId id="584" r:id="rId36"/>
    <p:sldId id="585" r:id="rId37"/>
    <p:sldId id="588" r:id="rId38"/>
    <p:sldId id="589" r:id="rId39"/>
    <p:sldId id="590" r:id="rId40"/>
    <p:sldId id="591" r:id="rId41"/>
    <p:sldId id="592" r:id="rId42"/>
    <p:sldId id="587" r:id="rId43"/>
    <p:sldId id="586" r:id="rId44"/>
    <p:sldId id="593" r:id="rId45"/>
    <p:sldId id="595" r:id="rId46"/>
    <p:sldId id="596" r:id="rId47"/>
    <p:sldId id="597" r:id="rId48"/>
    <p:sldId id="598" r:id="rId49"/>
    <p:sldId id="599" r:id="rId50"/>
    <p:sldId id="601" r:id="rId51"/>
    <p:sldId id="602" r:id="rId52"/>
    <p:sldId id="604" r:id="rId53"/>
    <p:sldId id="603" r:id="rId54"/>
    <p:sldId id="605" r:id="rId55"/>
    <p:sldId id="606" r:id="rId56"/>
    <p:sldId id="609" r:id="rId57"/>
    <p:sldId id="608" r:id="rId58"/>
    <p:sldId id="610" r:id="rId59"/>
    <p:sldId id="611" r:id="rId60"/>
    <p:sldId id="612" r:id="rId61"/>
    <p:sldId id="613" r:id="rId62"/>
    <p:sldId id="614" r:id="rId63"/>
    <p:sldId id="615" r:id="rId64"/>
    <p:sldId id="616" r:id="rId65"/>
    <p:sldId id="618" r:id="rId66"/>
    <p:sldId id="619" r:id="rId67"/>
    <p:sldId id="622" r:id="rId68"/>
    <p:sldId id="623" r:id="rId69"/>
    <p:sldId id="617" r:id="rId70"/>
    <p:sldId id="624" r:id="rId71"/>
    <p:sldId id="256" r:id="rId72"/>
    <p:sldId id="626" r:id="rId73"/>
    <p:sldId id="625" r:id="rId7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7D7D"/>
    <a:srgbClr val="653D3D"/>
    <a:srgbClr val="730057"/>
    <a:srgbClr val="AD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89A1B2-62E0-0F47-9590-DE66083BFCA8}" v="66" dt="2025-01-03T14:43:33.8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76" autoAdjust="0"/>
    <p:restoredTop sz="92586" autoAdjust="0"/>
  </p:normalViewPr>
  <p:slideViewPr>
    <p:cSldViewPr snapToGrid="0">
      <p:cViewPr varScale="1">
        <p:scale>
          <a:sx n="132" d="100"/>
          <a:sy n="132" d="100"/>
        </p:scale>
        <p:origin x="2208" y="4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01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8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yungSeung Yoo" userId="1f883ba32b4980a9" providerId="LiveId" clId="{F589A1B2-62E0-0F47-9590-DE66083BFCA8}"/>
    <pc:docChg chg="undo custSel addSld delSld modSld">
      <pc:chgData name="ByungSeung Yoo" userId="1f883ba32b4980a9" providerId="LiveId" clId="{F589A1B2-62E0-0F47-9590-DE66083BFCA8}" dt="2025-01-08T14:42:39.919" v="11517" actId="20577"/>
      <pc:docMkLst>
        <pc:docMk/>
      </pc:docMkLst>
      <pc:sldChg chg="modSp mod">
        <pc:chgData name="ByungSeung Yoo" userId="1f883ba32b4980a9" providerId="LiveId" clId="{F589A1B2-62E0-0F47-9590-DE66083BFCA8}" dt="2025-01-02T13:29:49.068" v="4291" actId="207"/>
        <pc:sldMkLst>
          <pc:docMk/>
          <pc:sldMk cId="1434600790" sldId="538"/>
        </pc:sldMkLst>
        <pc:spChg chg="mod">
          <ac:chgData name="ByungSeung Yoo" userId="1f883ba32b4980a9" providerId="LiveId" clId="{F589A1B2-62E0-0F47-9590-DE66083BFCA8}" dt="2025-01-02T13:29:49.068" v="4291" actId="207"/>
          <ac:spMkLst>
            <pc:docMk/>
            <pc:sldMk cId="1434600790" sldId="538"/>
            <ac:spMk id="8" creationId="{D7104DF4-3F6A-FAB9-B96A-F19D64959BEC}"/>
          </ac:spMkLst>
        </pc:spChg>
      </pc:sldChg>
      <pc:sldChg chg="modSp mod">
        <pc:chgData name="ByungSeung Yoo" userId="1f883ba32b4980a9" providerId="LiveId" clId="{F589A1B2-62E0-0F47-9590-DE66083BFCA8}" dt="2025-01-02T13:29:30.972" v="4289" actId="207"/>
        <pc:sldMkLst>
          <pc:docMk/>
          <pc:sldMk cId="2587378685" sldId="541"/>
        </pc:sldMkLst>
        <pc:spChg chg="mod">
          <ac:chgData name="ByungSeung Yoo" userId="1f883ba32b4980a9" providerId="LiveId" clId="{F589A1B2-62E0-0F47-9590-DE66083BFCA8}" dt="2025-01-02T13:29:30.972" v="4289" actId="207"/>
          <ac:spMkLst>
            <pc:docMk/>
            <pc:sldMk cId="2587378685" sldId="541"/>
            <ac:spMk id="3" creationId="{01D705CE-4CC1-E635-A1F5-0AFEBEE82075}"/>
          </ac:spMkLst>
        </pc:spChg>
      </pc:sldChg>
      <pc:sldChg chg="modSp mod">
        <pc:chgData name="ByungSeung Yoo" userId="1f883ba32b4980a9" providerId="LiveId" clId="{F589A1B2-62E0-0F47-9590-DE66083BFCA8}" dt="2025-01-02T13:30:13.790" v="4292" actId="207"/>
        <pc:sldMkLst>
          <pc:docMk/>
          <pc:sldMk cId="2954140455" sldId="544"/>
        </pc:sldMkLst>
        <pc:spChg chg="mod">
          <ac:chgData name="ByungSeung Yoo" userId="1f883ba32b4980a9" providerId="LiveId" clId="{F589A1B2-62E0-0F47-9590-DE66083BFCA8}" dt="2025-01-02T13:30:13.790" v="4292" actId="207"/>
          <ac:spMkLst>
            <pc:docMk/>
            <pc:sldMk cId="2954140455" sldId="544"/>
            <ac:spMk id="2" creationId="{9F48F875-52BE-865B-BEB7-458277C329D6}"/>
          </ac:spMkLst>
        </pc:spChg>
      </pc:sldChg>
      <pc:sldChg chg="addSp delSp modSp mod">
        <pc:chgData name="ByungSeung Yoo" userId="1f883ba32b4980a9" providerId="LiveId" clId="{F589A1B2-62E0-0F47-9590-DE66083BFCA8}" dt="2025-01-02T13:19:22.630" v="3504" actId="113"/>
        <pc:sldMkLst>
          <pc:docMk/>
          <pc:sldMk cId="531104364" sldId="545"/>
        </pc:sldMkLst>
        <pc:spChg chg="add mod">
          <ac:chgData name="ByungSeung Yoo" userId="1f883ba32b4980a9" providerId="LiveId" clId="{F589A1B2-62E0-0F47-9590-DE66083BFCA8}" dt="2025-01-02T13:19:22.630" v="3504" actId="113"/>
          <ac:spMkLst>
            <pc:docMk/>
            <pc:sldMk cId="531104364" sldId="545"/>
            <ac:spMk id="3" creationId="{43934713-CBC2-C317-3A64-A9B942ACF22A}"/>
          </ac:spMkLst>
        </pc:spChg>
        <pc:spChg chg="mod">
          <ac:chgData name="ByungSeung Yoo" userId="1f883ba32b4980a9" providerId="LiveId" clId="{F589A1B2-62E0-0F47-9590-DE66083BFCA8}" dt="2025-01-02T12:43:24.115" v="1917" actId="20577"/>
          <ac:spMkLst>
            <pc:docMk/>
            <pc:sldMk cId="531104364" sldId="545"/>
            <ac:spMk id="15" creationId="{6C28276A-D059-8F38-6B13-FEED353F378D}"/>
          </ac:spMkLst>
        </pc:spChg>
        <pc:picChg chg="add mod">
          <ac:chgData name="ByungSeung Yoo" userId="1f883ba32b4980a9" providerId="LiveId" clId="{F589A1B2-62E0-0F47-9590-DE66083BFCA8}" dt="2025-01-02T12:46:44.431" v="1925" actId="14100"/>
          <ac:picMkLst>
            <pc:docMk/>
            <pc:sldMk cId="531104364" sldId="545"/>
            <ac:picMk id="2" creationId="{D5561C6A-442A-AD76-E0CB-6785EE7F6B50}"/>
          </ac:picMkLst>
        </pc:picChg>
      </pc:sldChg>
      <pc:sldChg chg="addSp delSp modSp add mod">
        <pc:chgData name="ByungSeung Yoo" userId="1f883ba32b4980a9" providerId="LiveId" clId="{F589A1B2-62E0-0F47-9590-DE66083BFCA8}" dt="2025-01-02T13:22:14.209" v="3634" actId="14100"/>
        <pc:sldMkLst>
          <pc:docMk/>
          <pc:sldMk cId="3561386317" sldId="546"/>
        </pc:sldMkLst>
        <pc:spChg chg="add mod">
          <ac:chgData name="ByungSeung Yoo" userId="1f883ba32b4980a9" providerId="LiveId" clId="{F589A1B2-62E0-0F47-9590-DE66083BFCA8}" dt="2025-01-02T12:42:19.318" v="1848" actId="20577"/>
          <ac:spMkLst>
            <pc:docMk/>
            <pc:sldMk cId="3561386317" sldId="546"/>
            <ac:spMk id="4" creationId="{6678C96D-94A4-A606-D5DC-599928EF8DDA}"/>
          </ac:spMkLst>
        </pc:spChg>
        <pc:picChg chg="add mod">
          <ac:chgData name="ByungSeung Yoo" userId="1f883ba32b4980a9" providerId="LiveId" clId="{F589A1B2-62E0-0F47-9590-DE66083BFCA8}" dt="2025-01-02T13:22:14.209" v="3634" actId="14100"/>
          <ac:picMkLst>
            <pc:docMk/>
            <pc:sldMk cId="3561386317" sldId="546"/>
            <ac:picMk id="7" creationId="{7E9A4C26-E9E4-9635-2AEC-37A9EDA85156}"/>
          </ac:picMkLst>
        </pc:picChg>
      </pc:sldChg>
      <pc:sldChg chg="add del">
        <pc:chgData name="ByungSeung Yoo" userId="1f883ba32b4980a9" providerId="LiveId" clId="{F589A1B2-62E0-0F47-9590-DE66083BFCA8}" dt="2025-01-02T12:08:30.786" v="547"/>
        <pc:sldMkLst>
          <pc:docMk/>
          <pc:sldMk cId="316895256" sldId="547"/>
        </pc:sldMkLst>
      </pc:sldChg>
      <pc:sldChg chg="addSp delSp modSp add mod">
        <pc:chgData name="ByungSeung Yoo" userId="1f883ba32b4980a9" providerId="LiveId" clId="{F589A1B2-62E0-0F47-9590-DE66083BFCA8}" dt="2025-01-02T13:38:03.787" v="4907" actId="14100"/>
        <pc:sldMkLst>
          <pc:docMk/>
          <pc:sldMk cId="1694351955" sldId="547"/>
        </pc:sldMkLst>
        <pc:spChg chg="add mod">
          <ac:chgData name="ByungSeung Yoo" userId="1f883ba32b4980a9" providerId="LiveId" clId="{F589A1B2-62E0-0F47-9590-DE66083BFCA8}" dt="2025-01-02T13:36:34.511" v="4901" actId="20577"/>
          <ac:spMkLst>
            <pc:docMk/>
            <pc:sldMk cId="1694351955" sldId="547"/>
            <ac:spMk id="5" creationId="{AF9A9DAD-4FFD-88FD-605C-AB6C728C346E}"/>
          </ac:spMkLst>
        </pc:spChg>
        <pc:spChg chg="mod">
          <ac:chgData name="ByungSeung Yoo" userId="1f883ba32b4980a9" providerId="LiveId" clId="{F589A1B2-62E0-0F47-9590-DE66083BFCA8}" dt="2025-01-02T13:35:28.860" v="4738" actId="1035"/>
          <ac:spMkLst>
            <pc:docMk/>
            <pc:sldMk cId="1694351955" sldId="547"/>
            <ac:spMk id="15" creationId="{36969E6D-E78D-B838-F815-E562FC765D88}"/>
          </ac:spMkLst>
        </pc:spChg>
        <pc:picChg chg="add mod">
          <ac:chgData name="ByungSeung Yoo" userId="1f883ba32b4980a9" providerId="LiveId" clId="{F589A1B2-62E0-0F47-9590-DE66083BFCA8}" dt="2025-01-02T13:38:03.787" v="4907" actId="14100"/>
          <ac:picMkLst>
            <pc:docMk/>
            <pc:sldMk cId="1694351955" sldId="547"/>
            <ac:picMk id="7" creationId="{8BFFDD01-900A-9629-5779-374E8754B9D6}"/>
          </ac:picMkLst>
        </pc:picChg>
      </pc:sldChg>
      <pc:sldChg chg="addSp modSp new mod">
        <pc:chgData name="ByungSeung Yoo" userId="1f883ba32b4980a9" providerId="LiveId" clId="{F589A1B2-62E0-0F47-9590-DE66083BFCA8}" dt="2025-01-02T13:40:07.010" v="5094" actId="1038"/>
        <pc:sldMkLst>
          <pc:docMk/>
          <pc:sldMk cId="3070295556" sldId="548"/>
        </pc:sldMkLst>
        <pc:spChg chg="add mod">
          <ac:chgData name="ByungSeung Yoo" userId="1f883ba32b4980a9" providerId="LiveId" clId="{F589A1B2-62E0-0F47-9590-DE66083BFCA8}" dt="2025-01-02T13:39:04.530" v="4910"/>
          <ac:spMkLst>
            <pc:docMk/>
            <pc:sldMk cId="3070295556" sldId="548"/>
            <ac:spMk id="3" creationId="{CF50F63A-356E-2175-78DF-0EA71E590E51}"/>
          </ac:spMkLst>
        </pc:spChg>
        <pc:spChg chg="add mod">
          <ac:chgData name="ByungSeung Yoo" userId="1f883ba32b4980a9" providerId="LiveId" clId="{F589A1B2-62E0-0F47-9590-DE66083BFCA8}" dt="2025-01-02T13:39:24.807" v="4956" actId="20577"/>
          <ac:spMkLst>
            <pc:docMk/>
            <pc:sldMk cId="3070295556" sldId="548"/>
            <ac:spMk id="4" creationId="{C8C37FE2-F740-FF9D-5E06-74D0A0086FF4}"/>
          </ac:spMkLst>
        </pc:spChg>
        <pc:spChg chg="add mod">
          <ac:chgData name="ByungSeung Yoo" userId="1f883ba32b4980a9" providerId="LiveId" clId="{F589A1B2-62E0-0F47-9590-DE66083BFCA8}" dt="2025-01-02T13:40:07.010" v="5094" actId="1038"/>
          <ac:spMkLst>
            <pc:docMk/>
            <pc:sldMk cId="3070295556" sldId="548"/>
            <ac:spMk id="5" creationId="{205D623C-6D25-27D9-67AA-41C402F000BB}"/>
          </ac:spMkLst>
        </pc:spChg>
        <pc:picChg chg="add mod">
          <ac:chgData name="ByungSeung Yoo" userId="1f883ba32b4980a9" providerId="LiveId" clId="{F589A1B2-62E0-0F47-9590-DE66083BFCA8}" dt="2025-01-02T13:39:26.591" v="4957" actId="14100"/>
          <ac:picMkLst>
            <pc:docMk/>
            <pc:sldMk cId="3070295556" sldId="548"/>
            <ac:picMk id="2" creationId="{F5D86670-107E-C783-6907-4A104ED7D725}"/>
          </ac:picMkLst>
        </pc:picChg>
      </pc:sldChg>
      <pc:sldChg chg="add">
        <pc:chgData name="ByungSeung Yoo" userId="1f883ba32b4980a9" providerId="LiveId" clId="{F589A1B2-62E0-0F47-9590-DE66083BFCA8}" dt="2025-01-03T11:56:57.635" v="5095"/>
        <pc:sldMkLst>
          <pc:docMk/>
          <pc:sldMk cId="2835281197" sldId="549"/>
        </pc:sldMkLst>
      </pc:sldChg>
      <pc:sldChg chg="addSp delSp modSp add mod">
        <pc:chgData name="ByungSeung Yoo" userId="1f883ba32b4980a9" providerId="LiveId" clId="{F589A1B2-62E0-0F47-9590-DE66083BFCA8}" dt="2025-01-03T14:04:06.416" v="9288" actId="20577"/>
        <pc:sldMkLst>
          <pc:docMk/>
          <pc:sldMk cId="3138482728" sldId="550"/>
        </pc:sldMkLst>
        <pc:spChg chg="mod">
          <ac:chgData name="ByungSeung Yoo" userId="1f883ba32b4980a9" providerId="LiveId" clId="{F589A1B2-62E0-0F47-9590-DE66083BFCA8}" dt="2025-01-03T14:01:29.828" v="9261" actId="20577"/>
          <ac:spMkLst>
            <pc:docMk/>
            <pc:sldMk cId="3138482728" sldId="550"/>
            <ac:spMk id="11" creationId="{00000000-0000-0000-0000-000000000000}"/>
          </ac:spMkLst>
        </pc:spChg>
        <pc:spChg chg="add del mod">
          <ac:chgData name="ByungSeung Yoo" userId="1f883ba32b4980a9" providerId="LiveId" clId="{F589A1B2-62E0-0F47-9590-DE66083BFCA8}" dt="2025-01-03T14:04:06.416" v="9288" actId="20577"/>
          <ac:spMkLst>
            <pc:docMk/>
            <pc:sldMk cId="3138482728" sldId="550"/>
            <ac:spMk id="12" creationId="{00000000-0000-0000-0000-000000000000}"/>
          </ac:spMkLst>
        </pc:spChg>
        <pc:spChg chg="mod">
          <ac:chgData name="ByungSeung Yoo" userId="1f883ba32b4980a9" providerId="LiveId" clId="{F589A1B2-62E0-0F47-9590-DE66083BFCA8}" dt="2025-01-03T14:01:33.981" v="9276" actId="20577"/>
          <ac:spMkLst>
            <pc:docMk/>
            <pc:sldMk cId="3138482728" sldId="550"/>
            <ac:spMk id="15" creationId="{EEC223CE-F160-6FA8-D126-315AB849E1A1}"/>
          </ac:spMkLst>
        </pc:spChg>
      </pc:sldChg>
      <pc:sldChg chg="addSp delSp modSp add mod">
        <pc:chgData name="ByungSeung Yoo" userId="1f883ba32b4980a9" providerId="LiveId" clId="{F589A1B2-62E0-0F47-9590-DE66083BFCA8}" dt="2025-01-08T14:42:33.473" v="11498" actId="20577"/>
        <pc:sldMkLst>
          <pc:docMk/>
          <pc:sldMk cId="1197719718" sldId="551"/>
        </pc:sldMkLst>
        <pc:spChg chg="mod">
          <ac:chgData name="ByungSeung Yoo" userId="1f883ba32b4980a9" providerId="LiveId" clId="{F589A1B2-62E0-0F47-9590-DE66083BFCA8}" dt="2025-01-08T14:42:33.473" v="11498" actId="20577"/>
          <ac:spMkLst>
            <pc:docMk/>
            <pc:sldMk cId="1197719718" sldId="551"/>
            <ac:spMk id="2" creationId="{F6C95C13-FC4E-9DBA-E718-AA44405CCCDA}"/>
          </ac:spMkLst>
        </pc:spChg>
        <pc:graphicFrameChg chg="add del mod modGraphic">
          <ac:chgData name="ByungSeung Yoo" userId="1f883ba32b4980a9" providerId="LiveId" clId="{F589A1B2-62E0-0F47-9590-DE66083BFCA8}" dt="2025-01-03T13:32:18.570" v="7741" actId="20577"/>
          <ac:graphicFrameMkLst>
            <pc:docMk/>
            <pc:sldMk cId="1197719718" sldId="551"/>
            <ac:graphicFrameMk id="3" creationId="{D0265082-C825-96A1-4525-6DA907079580}"/>
          </ac:graphicFrameMkLst>
        </pc:graphicFrameChg>
      </pc:sldChg>
      <pc:sldChg chg="add del">
        <pc:chgData name="ByungSeung Yoo" userId="1f883ba32b4980a9" providerId="LiveId" clId="{F589A1B2-62E0-0F47-9590-DE66083BFCA8}" dt="2025-01-03T12:06:34.727" v="5465"/>
        <pc:sldMkLst>
          <pc:docMk/>
          <pc:sldMk cId="4038282242" sldId="551"/>
        </pc:sldMkLst>
      </pc:sldChg>
      <pc:sldChg chg="modSp add mod">
        <pc:chgData name="ByungSeung Yoo" userId="1f883ba32b4980a9" providerId="LiveId" clId="{F589A1B2-62E0-0F47-9590-DE66083BFCA8}" dt="2025-01-08T14:42:39.919" v="11517" actId="20577"/>
        <pc:sldMkLst>
          <pc:docMk/>
          <pc:sldMk cId="304021706" sldId="552"/>
        </pc:sldMkLst>
        <pc:spChg chg="mod">
          <ac:chgData name="ByungSeung Yoo" userId="1f883ba32b4980a9" providerId="LiveId" clId="{F589A1B2-62E0-0F47-9590-DE66083BFCA8}" dt="2025-01-08T14:42:39.919" v="11517" actId="20577"/>
          <ac:spMkLst>
            <pc:docMk/>
            <pc:sldMk cId="304021706" sldId="552"/>
            <ac:spMk id="2" creationId="{6979548B-08CD-ADA8-5DF3-EAAAAA763653}"/>
          </ac:spMkLst>
        </pc:spChg>
        <pc:graphicFrameChg chg="mod modGraphic">
          <ac:chgData name="ByungSeung Yoo" userId="1f883ba32b4980a9" providerId="LiveId" clId="{F589A1B2-62E0-0F47-9590-DE66083BFCA8}" dt="2025-01-03T14:00:35.736" v="9248" actId="20577"/>
          <ac:graphicFrameMkLst>
            <pc:docMk/>
            <pc:sldMk cId="304021706" sldId="552"/>
            <ac:graphicFrameMk id="3" creationId="{F6E3C558-DFC6-3FEF-CB88-6BAB52AE78EC}"/>
          </ac:graphicFrameMkLst>
        </pc:graphicFrameChg>
      </pc:sldChg>
      <pc:sldChg chg="add del">
        <pc:chgData name="ByungSeung Yoo" userId="1f883ba32b4980a9" providerId="LiveId" clId="{F589A1B2-62E0-0F47-9590-DE66083BFCA8}" dt="2025-01-03T12:06:34.727" v="5465"/>
        <pc:sldMkLst>
          <pc:docMk/>
          <pc:sldMk cId="3044999067" sldId="552"/>
        </pc:sldMkLst>
      </pc:sldChg>
      <pc:sldChg chg="addSp modSp add mod">
        <pc:chgData name="ByungSeung Yoo" userId="1f883ba32b4980a9" providerId="LiveId" clId="{F589A1B2-62E0-0F47-9590-DE66083BFCA8}" dt="2025-01-03T14:20:40.624" v="10161" actId="20577"/>
        <pc:sldMkLst>
          <pc:docMk/>
          <pc:sldMk cId="3975132631" sldId="553"/>
        </pc:sldMkLst>
        <pc:spChg chg="add mod">
          <ac:chgData name="ByungSeung Yoo" userId="1f883ba32b4980a9" providerId="LiveId" clId="{F589A1B2-62E0-0F47-9590-DE66083BFCA8}" dt="2025-01-03T14:20:40.624" v="10161" actId="20577"/>
          <ac:spMkLst>
            <pc:docMk/>
            <pc:sldMk cId="3975132631" sldId="553"/>
            <ac:spMk id="2" creationId="{A65BD63F-3938-856C-7CEC-075FBCDA3FA2}"/>
          </ac:spMkLst>
        </pc:spChg>
        <pc:spChg chg="mod">
          <ac:chgData name="ByungSeung Yoo" userId="1f883ba32b4980a9" providerId="LiveId" clId="{F589A1B2-62E0-0F47-9590-DE66083BFCA8}" dt="2025-01-03T14:16:19.552" v="10063" actId="20577"/>
          <ac:spMkLst>
            <pc:docMk/>
            <pc:sldMk cId="3975132631" sldId="553"/>
            <ac:spMk id="12" creationId="{31B8B05B-509F-B436-60AB-4DD7CAFF3B6F}"/>
          </ac:spMkLst>
        </pc:spChg>
        <pc:spChg chg="mod">
          <ac:chgData name="ByungSeung Yoo" userId="1f883ba32b4980a9" providerId="LiveId" clId="{F589A1B2-62E0-0F47-9590-DE66083BFCA8}" dt="2025-01-03T14:06:06.268" v="9338" actId="20577"/>
          <ac:spMkLst>
            <pc:docMk/>
            <pc:sldMk cId="3975132631" sldId="553"/>
            <ac:spMk id="15" creationId="{5809213A-15B9-8F14-5290-6F08C7EF2E7A}"/>
          </ac:spMkLst>
        </pc:spChg>
      </pc:sldChg>
      <pc:sldChg chg="new del">
        <pc:chgData name="ByungSeung Yoo" userId="1f883ba32b4980a9" providerId="LiveId" clId="{F589A1B2-62E0-0F47-9590-DE66083BFCA8}" dt="2025-01-03T14:25:51.724" v="10164" actId="2696"/>
        <pc:sldMkLst>
          <pc:docMk/>
          <pc:sldMk cId="15261527" sldId="554"/>
        </pc:sldMkLst>
      </pc:sldChg>
      <pc:sldChg chg="addSp delSp modSp add mod">
        <pc:chgData name="ByungSeung Yoo" userId="1f883ba32b4980a9" providerId="LiveId" clId="{F589A1B2-62E0-0F47-9590-DE66083BFCA8}" dt="2025-01-03T14:46:02.901" v="11479" actId="20577"/>
        <pc:sldMkLst>
          <pc:docMk/>
          <pc:sldMk cId="77466187" sldId="555"/>
        </pc:sldMkLst>
        <pc:spChg chg="add mod">
          <ac:chgData name="ByungSeung Yoo" userId="1f883ba32b4980a9" providerId="LiveId" clId="{F589A1B2-62E0-0F47-9590-DE66083BFCA8}" dt="2025-01-03T14:42:12.359" v="11376" actId="20577"/>
          <ac:spMkLst>
            <pc:docMk/>
            <pc:sldMk cId="77466187" sldId="555"/>
            <ac:spMk id="3" creationId="{6AC21568-6BCF-C26E-F04B-D51B1385D971}"/>
          </ac:spMkLst>
        </pc:spChg>
        <pc:spChg chg="add mod">
          <ac:chgData name="ByungSeung Yoo" userId="1f883ba32b4980a9" providerId="LiveId" clId="{F589A1B2-62E0-0F47-9590-DE66083BFCA8}" dt="2025-01-03T14:35:33.578" v="10599" actId="1036"/>
          <ac:spMkLst>
            <pc:docMk/>
            <pc:sldMk cId="77466187" sldId="555"/>
            <ac:spMk id="4" creationId="{69559A82-1721-AEB1-391F-3F48413A0A61}"/>
          </ac:spMkLst>
        </pc:spChg>
        <pc:spChg chg="add mod">
          <ac:chgData name="ByungSeung Yoo" userId="1f883ba32b4980a9" providerId="LiveId" clId="{F589A1B2-62E0-0F47-9590-DE66083BFCA8}" dt="2025-01-03T14:46:02.901" v="11479" actId="20577"/>
          <ac:spMkLst>
            <pc:docMk/>
            <pc:sldMk cId="77466187" sldId="555"/>
            <ac:spMk id="7" creationId="{7D132181-ADC9-D073-DD1A-35023D3F3147}"/>
          </ac:spMkLst>
        </pc:spChg>
        <pc:spChg chg="mod">
          <ac:chgData name="ByungSeung Yoo" userId="1f883ba32b4980a9" providerId="LiveId" clId="{F589A1B2-62E0-0F47-9590-DE66083BFCA8}" dt="2025-01-03T14:25:57.670" v="10178" actId="20577"/>
          <ac:spMkLst>
            <pc:docMk/>
            <pc:sldMk cId="77466187" sldId="555"/>
            <ac:spMk id="11" creationId="{AE5F4869-6CBE-4D65-D6F5-940DA8B6F76B}"/>
          </ac:spMkLst>
        </pc:spChg>
        <pc:spChg chg="mod">
          <ac:chgData name="ByungSeung Yoo" userId="1f883ba32b4980a9" providerId="LiveId" clId="{F589A1B2-62E0-0F47-9590-DE66083BFCA8}" dt="2025-01-03T14:37:32.966" v="10986" actId="20577"/>
          <ac:spMkLst>
            <pc:docMk/>
            <pc:sldMk cId="77466187" sldId="555"/>
            <ac:spMk id="12" creationId="{5D06F514-75CB-62C9-1813-CA22BF108055}"/>
          </ac:spMkLst>
        </pc:spChg>
        <pc:spChg chg="mod">
          <ac:chgData name="ByungSeung Yoo" userId="1f883ba32b4980a9" providerId="LiveId" clId="{F589A1B2-62E0-0F47-9590-DE66083BFCA8}" dt="2025-01-03T14:26:23.663" v="10263" actId="20577"/>
          <ac:spMkLst>
            <pc:docMk/>
            <pc:sldMk cId="77466187" sldId="555"/>
            <ac:spMk id="15" creationId="{08624704-5026-C458-6ADF-0D7083B5EB4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A5AF5D-79AE-4EC4-A4C7-1364798DE2A4}" type="datetimeFigureOut">
              <a:rPr lang="ko-KR" altLang="en-US" smtClean="0"/>
              <a:t>2025. 12. 3.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EB9F56-0720-42C2-9A8A-E2FC60FEBA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502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10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FB7ED-F52F-A61E-1715-7A013092B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DB4A81-29F7-46EA-E436-2CA5CF07F7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4EDC44-4114-3BB2-9DD5-A539E3956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9E8FEF-3680-03F3-BA64-51129168A1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0019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C6C4B-07BD-80C3-6742-FA282183D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D2E48E-9417-1308-6C24-D22DCFDF6D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B25D4A-D0EC-05FD-AFD2-2CE5777E0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E21E73-FB25-B702-8A3C-A78837596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161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FB7ED-F52F-A61E-1715-7A013092B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DB4A81-29F7-46EA-E436-2CA5CF07F7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4EDC44-4114-3BB2-9DD5-A539E3956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9E8FEF-3680-03F3-BA64-51129168A1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0019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FB7ED-F52F-A61E-1715-7A013092B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DB4A81-29F7-46EA-E436-2CA5CF07F7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4EDC44-4114-3BB2-9DD5-A539E3956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9E8FEF-3680-03F3-BA64-51129168A1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0019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FB7ED-F52F-A61E-1715-7A013092B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DB4A81-29F7-46EA-E436-2CA5CF07F7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4EDC44-4114-3BB2-9DD5-A539E3956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9E8FEF-3680-03F3-BA64-51129168A1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0019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FB7ED-F52F-A61E-1715-7A013092B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DB4A81-29F7-46EA-E436-2CA5CF07F7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4EDC44-4114-3BB2-9DD5-A539E3956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9E8FEF-3680-03F3-BA64-51129168A1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0019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C6C4B-07BD-80C3-6742-FA282183D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D2E48E-9417-1308-6C24-D22DCFDF6D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B25D4A-D0EC-05FD-AFD2-2CE5777E0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E21E73-FB25-B702-8A3C-A78837596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1610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FB7ED-F52F-A61E-1715-7A013092B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DB4A81-29F7-46EA-E436-2CA5CF07F7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4EDC44-4114-3BB2-9DD5-A539E3956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9E8FEF-3680-03F3-BA64-51129168A1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0019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FB7ED-F52F-A61E-1715-7A013092B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DB4A81-29F7-46EA-E436-2CA5CF07F7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4EDC44-4114-3BB2-9DD5-A539E3956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9E8FEF-3680-03F3-BA64-51129168A1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0019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FB7ED-F52F-A61E-1715-7A013092B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DB4A81-29F7-46EA-E436-2CA5CF07F7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4EDC44-4114-3BB2-9DD5-A539E3956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9E8FEF-3680-03F3-BA64-51129168A1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0019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477D-847F-9FE2-6E2C-427EB645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A2896A-5859-4AF7-077B-D049F827E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57EFA-4BF3-3B9D-4904-1CBA3A597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891F2-1A4F-3B88-5A33-25586F70C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114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477D-847F-9FE2-6E2C-427EB645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A2896A-5859-4AF7-077B-D049F827E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57EFA-4BF3-3B9D-4904-1CBA3A597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891F2-1A4F-3B88-5A33-25586F70C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114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477D-847F-9FE2-6E2C-427EB645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A2896A-5859-4AF7-077B-D049F827E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57EFA-4BF3-3B9D-4904-1CBA3A597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891F2-1A4F-3B88-5A33-25586F70C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114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477D-847F-9FE2-6E2C-427EB645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A2896A-5859-4AF7-077B-D049F827E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57EFA-4BF3-3B9D-4904-1CBA3A597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891F2-1A4F-3B88-5A33-25586F70C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114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477D-847F-9FE2-6E2C-427EB645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A2896A-5859-4AF7-077B-D049F827E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57EFA-4BF3-3B9D-4904-1CBA3A597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891F2-1A4F-3B88-5A33-25586F70C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114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477D-847F-9FE2-6E2C-427EB645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A2896A-5859-4AF7-077B-D049F827E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57EFA-4BF3-3B9D-4904-1CBA3A597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891F2-1A4F-3B88-5A33-25586F70C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114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477D-847F-9FE2-6E2C-427EB645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A2896A-5859-4AF7-077B-D049F827E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57EFA-4BF3-3B9D-4904-1CBA3A597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891F2-1A4F-3B88-5A33-25586F70C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114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477D-847F-9FE2-6E2C-427EB645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A2896A-5859-4AF7-077B-D049F827E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57EFA-4BF3-3B9D-4904-1CBA3A597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891F2-1A4F-3B88-5A33-25586F70C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114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477D-847F-9FE2-6E2C-427EB645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A2896A-5859-4AF7-077B-D049F827E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57EFA-4BF3-3B9D-4904-1CBA3A597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891F2-1A4F-3B88-5A33-25586F70C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114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477D-847F-9FE2-6E2C-427EB645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A2896A-5859-4AF7-077B-D049F827E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57EFA-4BF3-3B9D-4904-1CBA3A597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891F2-1A4F-3B88-5A33-25586F70C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114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477D-847F-9FE2-6E2C-427EB645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A2896A-5859-4AF7-077B-D049F827E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57EFA-4BF3-3B9D-4904-1CBA3A597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891F2-1A4F-3B88-5A33-25586F70C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114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477D-847F-9FE2-6E2C-427EB645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A2896A-5859-4AF7-077B-D049F827E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57EFA-4BF3-3B9D-4904-1CBA3A597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891F2-1A4F-3B88-5A33-25586F70C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114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477D-847F-9FE2-6E2C-427EB645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A2896A-5859-4AF7-077B-D049F827E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57EFA-4BF3-3B9D-4904-1CBA3A597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891F2-1A4F-3B88-5A33-25586F70C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114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477D-847F-9FE2-6E2C-427EB645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A2896A-5859-4AF7-077B-D049F827E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57EFA-4BF3-3B9D-4904-1CBA3A597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891F2-1A4F-3B88-5A33-25586F70C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114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477D-847F-9FE2-6E2C-427EB645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A2896A-5859-4AF7-077B-D049F827E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57EFA-4BF3-3B9D-4904-1CBA3A597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891F2-1A4F-3B88-5A33-25586F70C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1143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477D-847F-9FE2-6E2C-427EB645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A2896A-5859-4AF7-077B-D049F827E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57EFA-4BF3-3B9D-4904-1CBA3A597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891F2-1A4F-3B88-5A33-25586F70C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114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477D-847F-9FE2-6E2C-427EB645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A2896A-5859-4AF7-077B-D049F827E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57EFA-4BF3-3B9D-4904-1CBA3A597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891F2-1A4F-3B88-5A33-25586F70C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114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477D-847F-9FE2-6E2C-427EB645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A2896A-5859-4AF7-077B-D049F827E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57EFA-4BF3-3B9D-4904-1CBA3A597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891F2-1A4F-3B88-5A33-25586F70C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114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477D-847F-9FE2-6E2C-427EB645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A2896A-5859-4AF7-077B-D049F827E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57EFA-4BF3-3B9D-4904-1CBA3A597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891F2-1A4F-3B88-5A33-25586F70C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114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477D-847F-9FE2-6E2C-427EB645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A2896A-5859-4AF7-077B-D049F827E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57EFA-4BF3-3B9D-4904-1CBA3A597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891F2-1A4F-3B88-5A33-25586F70C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114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477D-847F-9FE2-6E2C-427EB645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A2896A-5859-4AF7-077B-D049F827E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57EFA-4BF3-3B9D-4904-1CBA3A597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891F2-1A4F-3B88-5A33-25586F70C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114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477D-847F-9FE2-6E2C-427EB645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A2896A-5859-4AF7-077B-D049F827E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57EFA-4BF3-3B9D-4904-1CBA3A597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891F2-1A4F-3B88-5A33-25586F70C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1143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477D-847F-9FE2-6E2C-427EB645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A2896A-5859-4AF7-077B-D049F827E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57EFA-4BF3-3B9D-4904-1CBA3A597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891F2-1A4F-3B88-5A33-25586F70C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1143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477D-847F-9FE2-6E2C-427EB645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A2896A-5859-4AF7-077B-D049F827E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57EFA-4BF3-3B9D-4904-1CBA3A597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891F2-1A4F-3B88-5A33-25586F70C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1143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477D-847F-9FE2-6E2C-427EB645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A2896A-5859-4AF7-077B-D049F827E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57EFA-4BF3-3B9D-4904-1CBA3A597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891F2-1A4F-3B88-5A33-25586F70C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1143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477D-847F-9FE2-6E2C-427EB645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A2896A-5859-4AF7-077B-D049F827E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57EFA-4BF3-3B9D-4904-1CBA3A597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891F2-1A4F-3B88-5A33-25586F70C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1143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477D-847F-9FE2-6E2C-427EB645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A2896A-5859-4AF7-077B-D049F827E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57EFA-4BF3-3B9D-4904-1CBA3A597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891F2-1A4F-3B88-5A33-25586F70C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1143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477D-847F-9FE2-6E2C-427EB645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A2896A-5859-4AF7-077B-D049F827E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57EFA-4BF3-3B9D-4904-1CBA3A597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891F2-1A4F-3B88-5A33-25586F70C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1143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477D-847F-9FE2-6E2C-427EB645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A2896A-5859-4AF7-077B-D049F827E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57EFA-4BF3-3B9D-4904-1CBA3A597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891F2-1A4F-3B88-5A33-25586F70C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1143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477D-847F-9FE2-6E2C-427EB645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A2896A-5859-4AF7-077B-D049F827E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57EFA-4BF3-3B9D-4904-1CBA3A597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891F2-1A4F-3B88-5A33-25586F70C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1143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477D-847F-9FE2-6E2C-427EB645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A2896A-5859-4AF7-077B-D049F827E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57EFA-4BF3-3B9D-4904-1CBA3A597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891F2-1A4F-3B88-5A33-25586F70C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1143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477D-847F-9FE2-6E2C-427EB645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A2896A-5859-4AF7-077B-D049F827E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57EFA-4BF3-3B9D-4904-1CBA3A597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891F2-1A4F-3B88-5A33-25586F70C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1143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477D-847F-9FE2-6E2C-427EB645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A2896A-5859-4AF7-077B-D049F827E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57EFA-4BF3-3B9D-4904-1CBA3A597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891F2-1A4F-3B88-5A33-25586F70C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1143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477D-847F-9FE2-6E2C-427EB645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A2896A-5859-4AF7-077B-D049F827E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57EFA-4BF3-3B9D-4904-1CBA3A597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891F2-1A4F-3B88-5A33-25586F70C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1143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477D-847F-9FE2-6E2C-427EB645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A2896A-5859-4AF7-077B-D049F827E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57EFA-4BF3-3B9D-4904-1CBA3A597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891F2-1A4F-3B88-5A33-25586F70C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1143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477D-847F-9FE2-6E2C-427EB645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A2896A-5859-4AF7-077B-D049F827E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57EFA-4BF3-3B9D-4904-1CBA3A597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891F2-1A4F-3B88-5A33-25586F70C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1143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477D-847F-9FE2-6E2C-427EB645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A2896A-5859-4AF7-077B-D049F827E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557EFA-4BF3-3B9D-4904-1CBA3A597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1891F2-1A4F-3B88-5A33-25586F70C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1143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649EA-89FC-7B50-0CBF-027AF6CCA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84A6B7-9985-F984-BB8A-E0BF909BBF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25D36C-EE3C-A494-2084-6650B2AA9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DBAFDF-0957-9044-04FD-5AB87EC8F3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50991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05566-1A7F-67BF-B637-68BCB5A8D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01967B-87C1-CC5D-AC49-26877763E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001DE3-D8C5-E31B-F174-FBCD1A0B49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9400E9-8E47-18FE-67E0-BBF1A4D87C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689241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1C396-C7A7-A449-7CB1-37F4A9687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40BAEF-0294-FCE1-502D-27C90283E0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039227-0469-0835-23DE-8437BC3721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311806-D0DE-FFEB-406F-D6F1589C9D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27127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B26C5-0C1E-F7CC-0AD6-9A95DC1DD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DAFBD6-5269-0686-6E90-6459E3D97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BB2967-5764-A0C0-752F-E46BF7A03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7958DC-408A-7893-A9ED-230484AA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63360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80A85-CDA3-3FE1-D421-1B5FBCE09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92CD242-D9B3-CFDB-DBB5-240AEBBF9E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E8B22F-A56C-D8EA-6A84-DEE085ACA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73248A-3439-5A64-B9A3-58295A5DE0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507430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088C3-B7B4-D42B-C7C2-165065124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E78C9A-4987-5A8B-3032-C28C381C11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7DC1C3-7B61-2DA8-076A-0A1EDE413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8B39C2-69B4-9B51-6C3F-4BBD4B1E70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644856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F9168-FA83-85E4-9210-80A01A8FD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1D8142-9974-567E-59FF-F1C4965B34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79E48D-B3AE-A5D7-6AE8-0F271E15A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EEC91A-033F-7EBB-1C80-A6EF814241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548638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D22E3-BADC-B334-7409-1DD8FA350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1F8A6B-E76B-F9F3-4812-5EA20EF42E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A87922B-28FA-F846-5EE6-4507E6FE4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CEC37E-7547-1EE4-B2A5-EC9C8548E9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380073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E3ADC-721D-7827-9877-6B11E0399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0BF848-8389-4C69-28C8-F4503D419D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5B75AB-176A-2A98-D2DD-AABFBA896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A369E1-0A35-70BC-1B13-4E488DFBBE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05610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6B520-5EE1-B7C7-2EF6-A803C4A1C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9D067A-B09F-CED8-9399-8BA1625B0E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EFD4F9-9F8C-716D-ED7A-807768908D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EF76A6-F098-76AD-5DBA-D3007C3471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72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12677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EB9F56-0720-42C2-9A8A-E2FC60FEBAA0}" type="slidenum">
              <a:rPr lang="ko-KR" altLang="en-US" smtClean="0"/>
              <a:t>73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640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36D6-BF79-4C2E-B73D-2F6B3EE9200F}" type="datetimeFigureOut">
              <a:rPr lang="ko-KR" altLang="en-US" smtClean="0"/>
              <a:t>2025. 12. 3.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EC698-0DAF-4220-A6A6-D8857A24E9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2658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36D6-BF79-4C2E-B73D-2F6B3EE9200F}" type="datetimeFigureOut">
              <a:rPr lang="ko-KR" altLang="en-US" smtClean="0"/>
              <a:t>2025. 12. 3.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EC698-0DAF-4220-A6A6-D8857A24E9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3429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36D6-BF79-4C2E-B73D-2F6B3EE9200F}" type="datetimeFigureOut">
              <a:rPr lang="ko-KR" altLang="en-US" smtClean="0"/>
              <a:t>2025. 12. 3.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EC698-0DAF-4220-A6A6-D8857A24E9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230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36D6-BF79-4C2E-B73D-2F6B3EE9200F}" type="datetimeFigureOut">
              <a:rPr lang="ko-KR" altLang="en-US" smtClean="0"/>
              <a:t>2025. 12. 3.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EC698-0DAF-4220-A6A6-D8857A24E9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9067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36D6-BF79-4C2E-B73D-2F6B3EE9200F}" type="datetimeFigureOut">
              <a:rPr lang="ko-KR" altLang="en-US" smtClean="0"/>
              <a:t>2025. 12. 3.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EC698-0DAF-4220-A6A6-D8857A24E9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0671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36D6-BF79-4C2E-B73D-2F6B3EE9200F}" type="datetimeFigureOut">
              <a:rPr lang="ko-KR" altLang="en-US" smtClean="0"/>
              <a:t>2025. 12. 3.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EC698-0DAF-4220-A6A6-D8857A24E9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6554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36D6-BF79-4C2E-B73D-2F6B3EE9200F}" type="datetimeFigureOut">
              <a:rPr lang="ko-KR" altLang="en-US" smtClean="0"/>
              <a:t>2025. 12. 3.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EC698-0DAF-4220-A6A6-D8857A24E9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072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36D6-BF79-4C2E-B73D-2F6B3EE9200F}" type="datetimeFigureOut">
              <a:rPr lang="ko-KR" altLang="en-US" smtClean="0"/>
              <a:t>2025. 12. 3.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EC698-0DAF-4220-A6A6-D8857A24E9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1258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36D6-BF79-4C2E-B73D-2F6B3EE9200F}" type="datetimeFigureOut">
              <a:rPr lang="ko-KR" altLang="en-US" smtClean="0"/>
              <a:t>2025. 12. 3.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EC698-0DAF-4220-A6A6-D8857A24E9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2942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36D6-BF79-4C2E-B73D-2F6B3EE9200F}" type="datetimeFigureOut">
              <a:rPr lang="ko-KR" altLang="en-US" smtClean="0"/>
              <a:t>2025. 12. 3.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EC698-0DAF-4220-A6A6-D8857A24E9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6768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236D6-BF79-4C2E-B73D-2F6B3EE9200F}" type="datetimeFigureOut">
              <a:rPr lang="ko-KR" altLang="en-US" smtClean="0"/>
              <a:t>2025. 12. 3.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EC698-0DAF-4220-A6A6-D8857A24E9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7171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사용자 지정 레이아웃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-19050" y="6786564"/>
            <a:ext cx="9180910" cy="96837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350"/>
          </a:p>
        </p:txBody>
      </p:sp>
    </p:spTree>
    <p:extLst>
      <p:ext uri="{BB962C8B-B14F-4D97-AF65-F5344CB8AC3E}">
        <p14:creationId xmlns:p14="http://schemas.microsoft.com/office/powerpoint/2010/main" val="253874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2236D6-BF79-4C2E-B73D-2F6B3EE9200F}" type="datetimeFigureOut">
              <a:rPr lang="ko-KR" altLang="en-US" smtClean="0"/>
              <a:t>2025. 12. 3.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EC698-0DAF-4220-A6A6-D8857A24E9B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972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그룹 8"/>
          <p:cNvGrpSpPr>
            <a:grpSpLocks/>
          </p:cNvGrpSpPr>
          <p:nvPr/>
        </p:nvGrpSpPr>
        <p:grpSpPr bwMode="auto">
          <a:xfrm>
            <a:off x="2020491" y="1916906"/>
            <a:ext cx="5089922" cy="3090863"/>
            <a:chOff x="3413702" y="746702"/>
            <a:chExt cx="5364596" cy="5364596"/>
          </a:xfrm>
        </p:grpSpPr>
        <p:sp>
          <p:nvSpPr>
            <p:cNvPr id="4" name="직사각형 3"/>
            <p:cNvSpPr/>
            <p:nvPr/>
          </p:nvSpPr>
          <p:spPr>
            <a:xfrm>
              <a:off x="3413702" y="746702"/>
              <a:ext cx="5364596" cy="5364596"/>
            </a:xfrm>
            <a:prstGeom prst="rect">
              <a:avLst/>
            </a:prstGeom>
            <a:gradFill flip="none" rotWithShape="1">
              <a:gsLst>
                <a:gs pos="0">
                  <a:srgbClr val="E3DCC1"/>
                </a:gs>
                <a:gs pos="69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3541699" y="928553"/>
              <a:ext cx="5122405" cy="50008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4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React.js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7868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그룹 8"/>
          <p:cNvGrpSpPr>
            <a:grpSpLocks/>
          </p:cNvGrpSpPr>
          <p:nvPr/>
        </p:nvGrpSpPr>
        <p:grpSpPr bwMode="auto">
          <a:xfrm>
            <a:off x="2020491" y="1916906"/>
            <a:ext cx="5089922" cy="3090863"/>
            <a:chOff x="3413702" y="746702"/>
            <a:chExt cx="5364596" cy="5364596"/>
          </a:xfrm>
        </p:grpSpPr>
        <p:sp>
          <p:nvSpPr>
            <p:cNvPr id="4" name="직사각형 3"/>
            <p:cNvSpPr/>
            <p:nvPr/>
          </p:nvSpPr>
          <p:spPr>
            <a:xfrm>
              <a:off x="3413702" y="746702"/>
              <a:ext cx="5364596" cy="5364596"/>
            </a:xfrm>
            <a:prstGeom prst="rect">
              <a:avLst/>
            </a:prstGeom>
            <a:gradFill flip="none" rotWithShape="1">
              <a:gsLst>
                <a:gs pos="0">
                  <a:srgbClr val="E3DCC1"/>
                </a:gs>
                <a:gs pos="69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3541699" y="928553"/>
              <a:ext cx="5122405" cy="50008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4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React </a:t>
              </a:r>
              <a:r>
                <a:rPr lang="ko-KR" altLang="en-US" sz="4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기본</a:t>
              </a:r>
              <a:endParaRPr lang="en-US" altLang="ko-KR" sz="4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02180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기본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954592" y="1636691"/>
            <a:ext cx="7945330" cy="2266236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메타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(Meta)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에서 개발한 사용자 인터페이스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(UI)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를 구축하기 위한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javascript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라이브러리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웹의 특정 부분을 독립적으로 만들고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(Component),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이를 조립하여 전체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UI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를 완성하는 방식을 사용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가상돔을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지원하여 불필요한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랜더링을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최소화하여 성능을 극대화함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C223CE-F160-6FA8-D126-315AB849E1A1}"/>
              </a:ext>
            </a:extLst>
          </p:cNvPr>
          <p:cNvSpPr txBox="1"/>
          <p:nvPr/>
        </p:nvSpPr>
        <p:spPr>
          <a:xfrm>
            <a:off x="816775" y="992708"/>
            <a:ext cx="174721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React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란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7EB006-BB90-DE8D-FDDE-33DB00538F4E}"/>
              </a:ext>
            </a:extLst>
          </p:cNvPr>
          <p:cNvSpPr txBox="1"/>
          <p:nvPr/>
        </p:nvSpPr>
        <p:spPr>
          <a:xfrm>
            <a:off x="816775" y="4215410"/>
            <a:ext cx="260641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React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장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/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단점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17EC79C-171E-A0BE-29F6-6912BB46D7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041431"/>
              </p:ext>
            </p:extLst>
          </p:nvPr>
        </p:nvGraphicFramePr>
        <p:xfrm>
          <a:off x="816774" y="4829408"/>
          <a:ext cx="7959236" cy="1559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79618">
                  <a:extLst>
                    <a:ext uri="{9D8B030D-6E8A-4147-A177-3AD203B41FA5}">
                      <a16:colId xmlns:a16="http://schemas.microsoft.com/office/drawing/2014/main" val="451122469"/>
                    </a:ext>
                  </a:extLst>
                </a:gridCol>
                <a:gridCol w="3979618">
                  <a:extLst>
                    <a:ext uri="{9D8B030D-6E8A-4147-A177-3AD203B41FA5}">
                      <a16:colId xmlns:a16="http://schemas.microsoft.com/office/drawing/2014/main" val="3405548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장점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단점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2885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컴포넌트기반 아키텍처 </a:t>
                      </a:r>
                      <a:r>
                        <a:rPr lang="en-US" altLang="ko-KR" dirty="0"/>
                        <a:t>-&gt; </a:t>
                      </a:r>
                      <a:r>
                        <a:rPr lang="ko-KR" altLang="en-US" dirty="0" err="1"/>
                        <a:t>재사용성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baseline="0" dirty="0" err="1"/>
                        <a:t>가상돔을</a:t>
                      </a:r>
                      <a:r>
                        <a:rPr lang="ko-KR" altLang="en-US" baseline="0" dirty="0"/>
                        <a:t> 통한 뛰어난 성능</a:t>
                      </a:r>
                      <a:endParaRPr lang="en-US" altLang="ko-KR" baseline="0" dirty="0"/>
                    </a:p>
                    <a:p>
                      <a:pPr latinLnBrk="1"/>
                      <a:r>
                        <a:rPr lang="ko-KR" altLang="en-US" baseline="0" dirty="0"/>
                        <a:t>데이터 상태에 따라 화면 표현</a:t>
                      </a:r>
                      <a:endParaRPr lang="en-US" altLang="ko-KR" baseline="0" dirty="0"/>
                    </a:p>
                    <a:p>
                      <a:pPr latinLnBrk="1"/>
                      <a:r>
                        <a:rPr lang="ko-KR" altLang="en-US" baseline="0" dirty="0"/>
                        <a:t>거대한 생태계와 커뮤니티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러닝커브가 높음</a:t>
                      </a:r>
                      <a:endParaRPr lang="en-US" altLang="ko-KR" dirty="0"/>
                    </a:p>
                    <a:p>
                      <a:pPr latinLnBrk="1"/>
                      <a:r>
                        <a:rPr lang="en-US" altLang="ko-KR" dirty="0"/>
                        <a:t>view</a:t>
                      </a:r>
                      <a:r>
                        <a:rPr lang="ko-KR" altLang="en-US" dirty="0"/>
                        <a:t>에 집중하여 조합할 라이브러리가 많음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보일러 플레이트코드가 많음</a:t>
                      </a:r>
                      <a:endParaRPr lang="en-US" altLang="ko-K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803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8489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BF692-B8BA-5808-92D1-7F2E896FA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그룹 8">
            <a:extLst>
              <a:ext uri="{FF2B5EF4-FFF2-40B4-BE49-F238E27FC236}">
                <a16:creationId xmlns:a16="http://schemas.microsoft.com/office/drawing/2014/main" id="{1200B7CD-D064-0C9F-4CAC-646F03F791F8}"/>
              </a:ext>
            </a:extLst>
          </p:cNvPr>
          <p:cNvGrpSpPr>
            <a:grpSpLocks/>
          </p:cNvGrpSpPr>
          <p:nvPr/>
        </p:nvGrpSpPr>
        <p:grpSpPr bwMode="auto">
          <a:xfrm>
            <a:off x="2020491" y="1916906"/>
            <a:ext cx="5089922" cy="3090863"/>
            <a:chOff x="3413702" y="746702"/>
            <a:chExt cx="5364596" cy="5364596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AACAECF-25FC-93C1-5CB9-FB55D6AE48A8}"/>
                </a:ext>
              </a:extLst>
            </p:cNvPr>
            <p:cNvSpPr/>
            <p:nvPr/>
          </p:nvSpPr>
          <p:spPr>
            <a:xfrm>
              <a:off x="3413702" y="746702"/>
              <a:ext cx="5364596" cy="5364596"/>
            </a:xfrm>
            <a:prstGeom prst="rect">
              <a:avLst/>
            </a:prstGeom>
            <a:gradFill flip="none" rotWithShape="1">
              <a:gsLst>
                <a:gs pos="0">
                  <a:srgbClr val="E3DCC1"/>
                </a:gs>
                <a:gs pos="69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751F6A4-05D0-4E4A-55AE-9DE18215448C}"/>
                </a:ext>
              </a:extLst>
            </p:cNvPr>
            <p:cNvSpPr/>
            <p:nvPr/>
          </p:nvSpPr>
          <p:spPr>
            <a:xfrm>
              <a:off x="3541699" y="928553"/>
              <a:ext cx="5122405" cy="50008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4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React </a:t>
              </a:r>
            </a:p>
            <a:p>
              <a:pPr algn="ctr">
                <a:defRPr/>
              </a:pPr>
              <a:r>
                <a:rPr lang="ko-KR" altLang="en-US" sz="4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개발환경설정</a:t>
              </a:r>
              <a:endParaRPr lang="en-US" altLang="ko-KR" sz="4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1931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B694F-DAC2-975F-1EDB-E74ECAC05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8D060A9-A2F9-65EA-3D9A-BAC90A54CF6A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개발환경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D6A132-1A85-BE16-AAA0-7B89B02861C5}"/>
              </a:ext>
            </a:extLst>
          </p:cNvPr>
          <p:cNvSpPr txBox="1"/>
          <p:nvPr/>
        </p:nvSpPr>
        <p:spPr>
          <a:xfrm>
            <a:off x="816775" y="992708"/>
            <a:ext cx="236314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Node.js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설치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EA7784F0-7F59-0CD7-4107-CF6EB0E34214}"/>
              </a:ext>
            </a:extLst>
          </p:cNvPr>
          <p:cNvSpPr/>
          <p:nvPr/>
        </p:nvSpPr>
        <p:spPr>
          <a:xfrm>
            <a:off x="954592" y="1536333"/>
            <a:ext cx="7945330" cy="1028449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React.js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로 만들어진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UI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는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Node.js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환경에서 실행하게 됨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Node.js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홈페이지에서 최신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LTS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버전을 설치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(</a:t>
            </a:r>
            <a:r>
              <a:rPr lang="en" altLang="ko-KR" dirty="0">
                <a:solidFill>
                  <a:schemeClr val="tx1"/>
                </a:solidFill>
                <a:latin typeface="+mn-ea"/>
              </a:rPr>
              <a:t>https://</a:t>
            </a:r>
            <a:r>
              <a:rPr lang="en" altLang="ko-KR" dirty="0" err="1">
                <a:solidFill>
                  <a:schemeClr val="tx1"/>
                </a:solidFill>
                <a:latin typeface="+mn-ea"/>
              </a:rPr>
              <a:t>nodejs.org</a:t>
            </a:r>
            <a:r>
              <a:rPr lang="en" altLang="ko-KR" dirty="0">
                <a:solidFill>
                  <a:schemeClr val="tx1"/>
                </a:solidFill>
                <a:latin typeface="+mn-ea"/>
              </a:rPr>
              <a:t>/ko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F7D625-D13D-CFA8-D1FF-D770B3F596F6}"/>
              </a:ext>
            </a:extLst>
          </p:cNvPr>
          <p:cNvSpPr txBox="1"/>
          <p:nvPr/>
        </p:nvSpPr>
        <p:spPr>
          <a:xfrm>
            <a:off x="824212" y="2773184"/>
            <a:ext cx="308770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Node.js 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설치확인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4F3D4072-64A8-FA45-B801-56C4971C63DB}"/>
              </a:ext>
            </a:extLst>
          </p:cNvPr>
          <p:cNvSpPr/>
          <p:nvPr/>
        </p:nvSpPr>
        <p:spPr>
          <a:xfrm>
            <a:off x="962029" y="3350263"/>
            <a:ext cx="7945330" cy="697633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설치 후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터미널에서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‘</a:t>
            </a:r>
            <a:r>
              <a:rPr lang="en-US" altLang="ko-KR" dirty="0">
                <a:solidFill>
                  <a:srgbClr val="92D050"/>
                </a:solidFill>
                <a:latin typeface="+mn-ea"/>
              </a:rPr>
              <a:t>node –v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’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실행하면 설치된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node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버전이 출력됨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.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F7D625-D13D-CFA8-D1FF-D770B3F596F6}"/>
              </a:ext>
            </a:extLst>
          </p:cNvPr>
          <p:cNvSpPr txBox="1"/>
          <p:nvPr/>
        </p:nvSpPr>
        <p:spPr>
          <a:xfrm>
            <a:off x="816592" y="4274324"/>
            <a:ext cx="510851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NPM(Node Package Manager)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4F3D4072-64A8-FA45-B801-56C4971C63DB}"/>
              </a:ext>
            </a:extLst>
          </p:cNvPr>
          <p:cNvSpPr/>
          <p:nvPr/>
        </p:nvSpPr>
        <p:spPr>
          <a:xfrm>
            <a:off x="954409" y="4851403"/>
            <a:ext cx="7945330" cy="1549397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자바스크립트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모듈을 관리하는 애플리케이션으로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오픈소스라이브러리를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설치하고 관리하고 배포할 수 있게 해줌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package.json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파일로 관리함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434600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F57E3-10BD-FE1F-46B7-64D44944B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7A894EA-BF2D-0BAA-C711-7E1B0213384F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개발환경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57ED32-FA45-3477-7048-6D085B55FB37}"/>
              </a:ext>
            </a:extLst>
          </p:cNvPr>
          <p:cNvSpPr txBox="1"/>
          <p:nvPr/>
        </p:nvSpPr>
        <p:spPr>
          <a:xfrm>
            <a:off x="827932" y="970409"/>
            <a:ext cx="350288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IDE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와 추가도구 설치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AE479127-1DAF-B8A2-C1FA-3ACC2953EA2E}"/>
              </a:ext>
            </a:extLst>
          </p:cNvPr>
          <p:cNvSpPr/>
          <p:nvPr/>
        </p:nvSpPr>
        <p:spPr>
          <a:xfrm>
            <a:off x="965749" y="1558639"/>
            <a:ext cx="7945330" cy="3664872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altLang="ko-KR" b="1" dirty="0" err="1">
                <a:solidFill>
                  <a:schemeClr val="tx1"/>
                </a:solidFill>
                <a:latin typeface="+mn-ea"/>
              </a:rPr>
              <a:t>VSCode</a:t>
            </a:r>
            <a:r>
              <a:rPr lang="ko-KR" altLang="en-US" b="1" dirty="0">
                <a:solidFill>
                  <a:schemeClr val="tx1"/>
                </a:solidFill>
                <a:latin typeface="+mn-ea"/>
              </a:rPr>
              <a:t> 설치</a:t>
            </a:r>
            <a:endParaRPr lang="en-US" altLang="ko-KR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-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+mn-ea"/>
                <a:hlinkClick r:id="rId3"/>
              </a:rPr>
              <a:t>https://code.visualstudio.com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b="1" dirty="0">
                <a:solidFill>
                  <a:schemeClr val="tx1"/>
                </a:solidFill>
                <a:latin typeface="+mn-ea"/>
              </a:rPr>
              <a:t>Extension</a:t>
            </a:r>
            <a:r>
              <a:rPr lang="ko-KR" altLang="en-US" b="1" dirty="0">
                <a:solidFill>
                  <a:schemeClr val="tx1"/>
                </a:solidFill>
                <a:latin typeface="+mn-ea"/>
              </a:rPr>
              <a:t> 설치</a:t>
            </a:r>
            <a:endParaRPr lang="en-US" altLang="ko-KR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b="1" dirty="0">
                <a:solidFill>
                  <a:schemeClr val="tx1"/>
                </a:solidFill>
              </a:rPr>
              <a:t>ES7+ React/Redux/React-Native snippets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: snippets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제공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b="1" dirty="0">
                <a:solidFill>
                  <a:schemeClr val="tx1"/>
                </a:solidFill>
                <a:latin typeface="+mn-ea"/>
              </a:rPr>
              <a:t>Prettier</a:t>
            </a:r>
            <a:r>
              <a:rPr lang="ko-KR" altLang="en-US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b="1" dirty="0">
                <a:solidFill>
                  <a:schemeClr val="tx1"/>
                </a:solidFill>
                <a:latin typeface="+mn-ea"/>
              </a:rPr>
              <a:t>–</a:t>
            </a:r>
            <a:r>
              <a:rPr lang="ko-KR" altLang="en-US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b="1" dirty="0">
                <a:solidFill>
                  <a:schemeClr val="tx1"/>
                </a:solidFill>
                <a:latin typeface="+mn-ea"/>
              </a:rPr>
              <a:t>code formatter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: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코드를 일관된 형식으로 정리해주는 기능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b="1" dirty="0" err="1">
                <a:solidFill>
                  <a:schemeClr val="tx1"/>
                </a:solidFill>
                <a:latin typeface="+mn-ea"/>
              </a:rPr>
              <a:t>ESLint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: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코드 스타일 규칙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js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문법적 오류나 잠재적 문제점을 찾아줌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b="1" dirty="0">
                <a:solidFill>
                  <a:schemeClr val="tx1"/>
                </a:solidFill>
                <a:latin typeface="+mn-ea"/>
              </a:rPr>
              <a:t>Auto Rename Tag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: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태그를 수정하면 자동으로 닫기 태그도 수정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43586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B694F-DAC2-975F-1EDB-E74ECAC05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8D060A9-A2F9-65EA-3D9A-BAC90A54CF6A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개발환경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D6A132-1A85-BE16-AAA0-7B89B02861C5}"/>
              </a:ext>
            </a:extLst>
          </p:cNvPr>
          <p:cNvSpPr txBox="1"/>
          <p:nvPr/>
        </p:nvSpPr>
        <p:spPr>
          <a:xfrm>
            <a:off x="816775" y="992708"/>
            <a:ext cx="827156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ko-KR" alt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레거시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웹 프로젝트 생성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– CRA (</a:t>
            </a:r>
            <a:r>
              <a:rPr lang="en-US" altLang="ko-K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webpack,babel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기반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)</a:t>
            </a: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EA7784F0-7F59-0CD7-4107-CF6EB0E34214}"/>
              </a:ext>
            </a:extLst>
          </p:cNvPr>
          <p:cNvSpPr/>
          <p:nvPr/>
        </p:nvSpPr>
        <p:spPr>
          <a:xfrm>
            <a:off x="954592" y="1536333"/>
            <a:ext cx="7945330" cy="1028449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npm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install create-react-app #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패키지설치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npx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create-react-app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프로젝트명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#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프로젝트 생성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F7D625-D13D-CFA8-D1FF-D770B3F596F6}"/>
              </a:ext>
            </a:extLst>
          </p:cNvPr>
          <p:cNvSpPr txBox="1"/>
          <p:nvPr/>
        </p:nvSpPr>
        <p:spPr>
          <a:xfrm>
            <a:off x="824212" y="2773184"/>
            <a:ext cx="538346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웹 프로젝트 생성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– </a:t>
            </a:r>
            <a:r>
              <a:rPr lang="en-US" altLang="ko-K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Vite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(</a:t>
            </a:r>
            <a:r>
              <a:rPr lang="en-US" altLang="ko-K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ESBuild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)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4F3D4072-64A8-FA45-B801-56C4971C63DB}"/>
              </a:ext>
            </a:extLst>
          </p:cNvPr>
          <p:cNvSpPr/>
          <p:nvPr/>
        </p:nvSpPr>
        <p:spPr>
          <a:xfrm>
            <a:off x="962029" y="3350263"/>
            <a:ext cx="7945330" cy="890267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npm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create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vite@latest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프로젝트명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#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프로젝트생성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/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자동으로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vite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설치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9410" y="4464369"/>
            <a:ext cx="2332656" cy="2062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8590" y="4464369"/>
            <a:ext cx="2565627" cy="2062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063912" y="440840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옵션선택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16611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B694F-DAC2-975F-1EDB-E74ECAC05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8D060A9-A2F9-65EA-3D9A-BAC90A54CF6A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개발환경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D6A132-1A85-BE16-AAA0-7B89B02861C5}"/>
              </a:ext>
            </a:extLst>
          </p:cNvPr>
          <p:cNvSpPr txBox="1"/>
          <p:nvPr/>
        </p:nvSpPr>
        <p:spPr>
          <a:xfrm>
            <a:off x="816775" y="992708"/>
            <a:ext cx="355578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프로젝트 구조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- CRA</a:t>
            </a: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EA7784F0-7F59-0CD7-4107-CF6EB0E34214}"/>
              </a:ext>
            </a:extLst>
          </p:cNvPr>
          <p:cNvSpPr/>
          <p:nvPr/>
        </p:nvSpPr>
        <p:spPr>
          <a:xfrm>
            <a:off x="954592" y="1536333"/>
            <a:ext cx="7945330" cy="1218297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index.html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페이지의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div#root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태그에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index.js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에서 설정한 내용대로 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App.js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를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랜더링해서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화면출력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추가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Component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는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src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/components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폴더 내에 기능별 구분하여 저장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814"/>
          <a:stretch/>
        </p:blipFill>
        <p:spPr bwMode="auto">
          <a:xfrm>
            <a:off x="1137528" y="2867651"/>
            <a:ext cx="1785217" cy="3807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3934713-CBC2-C317-3A64-A9B942ACF22A}"/>
              </a:ext>
            </a:extLst>
          </p:cNvPr>
          <p:cNvSpPr txBox="1"/>
          <p:nvPr/>
        </p:nvSpPr>
        <p:spPr>
          <a:xfrm>
            <a:off x="2922745" y="2867651"/>
            <a:ext cx="6027227" cy="300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b="1" dirty="0"/>
              <a:t>public </a:t>
            </a:r>
            <a:r>
              <a:rPr kumimoji="1" lang="en-US" altLang="ko-KR" dirty="0"/>
              <a:t>:</a:t>
            </a:r>
            <a:r>
              <a:rPr kumimoji="1" lang="en-US" altLang="ko-KR" b="1" dirty="0"/>
              <a:t> </a:t>
            </a:r>
            <a:r>
              <a:rPr kumimoji="1" lang="en-US" altLang="ko-KR" dirty="0"/>
              <a:t>html</a:t>
            </a:r>
            <a:r>
              <a:rPr kumimoji="1" lang="ko-KR" altLang="en-US" dirty="0"/>
              <a:t>에서 필요한 정적 리소스  파일</a:t>
            </a:r>
            <a:r>
              <a:rPr kumimoji="1" lang="en-US" altLang="ko-KR" dirty="0"/>
              <a:t>(</a:t>
            </a:r>
            <a:r>
              <a:rPr kumimoji="1" lang="en-US" altLang="ko-KR" dirty="0" err="1"/>
              <a:t>css,js</a:t>
            </a:r>
            <a:r>
              <a:rPr kumimoji="1" lang="en-US" altLang="ko-KR" dirty="0"/>
              <a:t>)</a:t>
            </a:r>
            <a:r>
              <a:rPr kumimoji="1" lang="ko-KR" altLang="en-US" dirty="0"/>
              <a:t> 저장</a:t>
            </a:r>
            <a:endParaRPr kumimoji="1" lang="en-US" altLang="ko-KR" dirty="0"/>
          </a:p>
          <a:p>
            <a:pPr>
              <a:lnSpc>
                <a:spcPct val="150000"/>
              </a:lnSpc>
            </a:pPr>
            <a:r>
              <a:rPr kumimoji="1" lang="en-US" altLang="ko-KR" b="1" dirty="0" err="1"/>
              <a:t>src</a:t>
            </a:r>
            <a:r>
              <a:rPr kumimoji="1" lang="en-US" altLang="ko-KR" dirty="0"/>
              <a:t> : </a:t>
            </a:r>
            <a:r>
              <a:rPr kumimoji="1" lang="ko-KR" altLang="en-US" dirty="0"/>
              <a:t>화면을 구성하는 </a:t>
            </a:r>
            <a:r>
              <a:rPr kumimoji="1" lang="en-US" altLang="ko-KR" dirty="0"/>
              <a:t>React Component</a:t>
            </a:r>
            <a:r>
              <a:rPr kumimoji="1" lang="ko-KR" altLang="en-US" dirty="0"/>
              <a:t> 저장</a:t>
            </a:r>
            <a:r>
              <a:rPr kumimoji="1" lang="en-US" altLang="ko-KR" dirty="0"/>
              <a:t>(</a:t>
            </a:r>
            <a:r>
              <a:rPr kumimoji="1" lang="en-US" altLang="ko-KR" dirty="0" err="1"/>
              <a:t>js</a:t>
            </a:r>
            <a:r>
              <a:rPr kumimoji="1" lang="en-US" altLang="ko-KR" dirty="0"/>
              <a:t>, JSX)</a:t>
            </a:r>
          </a:p>
          <a:p>
            <a:pPr>
              <a:lnSpc>
                <a:spcPct val="150000"/>
              </a:lnSpc>
            </a:pPr>
            <a:r>
              <a:rPr kumimoji="1" lang="en-US" altLang="ko-KR" b="1" dirty="0"/>
              <a:t>index.js </a:t>
            </a:r>
            <a:r>
              <a:rPr kumimoji="1" lang="en-US" altLang="ko-KR" dirty="0"/>
              <a:t>: </a:t>
            </a:r>
            <a:r>
              <a:rPr kumimoji="1" lang="en-US" altLang="ko-KR" dirty="0" err="1"/>
              <a:t>ReactDOM</a:t>
            </a:r>
            <a:r>
              <a:rPr kumimoji="1" lang="ko-KR" altLang="en-US" dirty="0"/>
              <a:t>으로 </a:t>
            </a:r>
            <a:r>
              <a:rPr kumimoji="1" lang="en-US" altLang="ko-KR" dirty="0"/>
              <a:t>index.html</a:t>
            </a:r>
            <a:r>
              <a:rPr kumimoji="1" lang="ko-KR" altLang="en-US" dirty="0" err="1"/>
              <a:t>랜더링할</a:t>
            </a:r>
            <a:r>
              <a:rPr kumimoji="1" lang="ko-KR" altLang="en-US" dirty="0"/>
              <a:t> 컴포넌트 설정</a:t>
            </a:r>
            <a:endParaRPr kumimoji="1" lang="en-US" altLang="ko-KR" dirty="0"/>
          </a:p>
          <a:p>
            <a:pPr>
              <a:lnSpc>
                <a:spcPct val="150000"/>
              </a:lnSpc>
            </a:pPr>
            <a:r>
              <a:rPr kumimoji="1" lang="en-US" altLang="ko-KR" b="1" dirty="0"/>
              <a:t>index.html</a:t>
            </a:r>
            <a:r>
              <a:rPr kumimoji="1" lang="en-US" altLang="ko-KR" dirty="0"/>
              <a:t> : React Component</a:t>
            </a:r>
            <a:r>
              <a:rPr kumimoji="1" lang="ko-KR" altLang="en-US" dirty="0"/>
              <a:t>를 출력하는 기본 페이지</a:t>
            </a:r>
            <a:endParaRPr kumimoji="1" lang="en-US" altLang="ko-KR" dirty="0"/>
          </a:p>
          <a:p>
            <a:pPr>
              <a:lnSpc>
                <a:spcPct val="150000"/>
              </a:lnSpc>
            </a:pPr>
            <a:r>
              <a:rPr kumimoji="1" lang="en-US" altLang="ko-KR" b="1" dirty="0" err="1"/>
              <a:t>package.json</a:t>
            </a:r>
            <a:r>
              <a:rPr kumimoji="1" lang="en-US" altLang="ko-KR" b="1" dirty="0"/>
              <a:t> </a:t>
            </a:r>
            <a:r>
              <a:rPr kumimoji="1" lang="en-US" altLang="ko-KR" dirty="0"/>
              <a:t>: node</a:t>
            </a:r>
            <a:r>
              <a:rPr kumimoji="1" lang="ko-KR" altLang="en-US" dirty="0"/>
              <a:t> </a:t>
            </a:r>
            <a:r>
              <a:rPr kumimoji="1" lang="en-US" altLang="ko-KR" dirty="0"/>
              <a:t>build, </a:t>
            </a:r>
            <a:r>
              <a:rPr kumimoji="1" lang="ko-KR" altLang="en-US" dirty="0"/>
              <a:t>의존성 등을 설정하는  파일</a:t>
            </a:r>
            <a:endParaRPr kumimoji="1" lang="en-US" altLang="ko-KR" dirty="0"/>
          </a:p>
          <a:p>
            <a:pPr>
              <a:lnSpc>
                <a:spcPct val="150000"/>
              </a:lnSpc>
            </a:pPr>
            <a:r>
              <a:rPr kumimoji="1" lang="en-US" altLang="ko-KR" b="1" dirty="0"/>
              <a:t>reportWebVitals.js </a:t>
            </a:r>
            <a:r>
              <a:rPr kumimoji="1" lang="en-US" altLang="ko-KR" dirty="0"/>
              <a:t>: </a:t>
            </a:r>
            <a:r>
              <a:rPr kumimoji="1" lang="ko-KR" altLang="en-US" dirty="0"/>
              <a:t>웹 성능측정 용 </a:t>
            </a:r>
            <a:r>
              <a:rPr kumimoji="1" lang="en-US" altLang="ko-KR" dirty="0"/>
              <a:t>* optional</a:t>
            </a:r>
          </a:p>
          <a:p>
            <a:pPr>
              <a:lnSpc>
                <a:spcPct val="150000"/>
              </a:lnSpc>
            </a:pPr>
            <a:r>
              <a:rPr kumimoji="1" lang="en-US" altLang="ko-KR" b="1" dirty="0"/>
              <a:t>setupTests.js </a:t>
            </a:r>
            <a:r>
              <a:rPr kumimoji="1" lang="en-US" altLang="ko-KR" dirty="0"/>
              <a:t>: jest </a:t>
            </a:r>
            <a:r>
              <a:rPr kumimoji="1" lang="ko-KR" altLang="en-US" dirty="0"/>
              <a:t>테스트</a:t>
            </a:r>
            <a:r>
              <a:rPr kumimoji="1" lang="en-US" altLang="ko-KR" dirty="0"/>
              <a:t> </a:t>
            </a:r>
            <a:r>
              <a:rPr kumimoji="1" lang="ko-KR" altLang="en-US" dirty="0"/>
              <a:t>환경</a:t>
            </a:r>
            <a:r>
              <a:rPr kumimoji="1" lang="en-US" altLang="ko-KR" dirty="0"/>
              <a:t> </a:t>
            </a:r>
            <a:r>
              <a:rPr kumimoji="1" lang="ko-KR" altLang="en-US" dirty="0"/>
              <a:t>초기화 </a:t>
            </a:r>
            <a:r>
              <a:rPr kumimoji="1" lang="en-US" altLang="ko-KR" dirty="0"/>
              <a:t>* optional</a:t>
            </a:r>
          </a:p>
        </p:txBody>
      </p:sp>
    </p:spTree>
    <p:extLst>
      <p:ext uri="{BB962C8B-B14F-4D97-AF65-F5344CB8AC3E}">
        <p14:creationId xmlns:p14="http://schemas.microsoft.com/office/powerpoint/2010/main" val="252155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B694F-DAC2-975F-1EDB-E74ECAC05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8D060A9-A2F9-65EA-3D9A-BAC90A54CF6A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개발환경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D6A132-1A85-BE16-AAA0-7B89B02861C5}"/>
              </a:ext>
            </a:extLst>
          </p:cNvPr>
          <p:cNvSpPr txBox="1"/>
          <p:nvPr/>
        </p:nvSpPr>
        <p:spPr>
          <a:xfrm>
            <a:off x="816775" y="992708"/>
            <a:ext cx="351916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프로젝트 구조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- </a:t>
            </a:r>
            <a:r>
              <a:rPr lang="en-US" altLang="ko-K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Vite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EA7784F0-7F59-0CD7-4107-CF6EB0E34214}"/>
              </a:ext>
            </a:extLst>
          </p:cNvPr>
          <p:cNvSpPr/>
          <p:nvPr/>
        </p:nvSpPr>
        <p:spPr>
          <a:xfrm>
            <a:off x="954592" y="1536333"/>
            <a:ext cx="7945330" cy="1333550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index.html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페이지의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div#root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태그에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main.jsx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에서 설정한 내용대로 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App.jsx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를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랜더링해서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화면출력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추가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Component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는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src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/components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폴더 내에 기능별 구분하여 저장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342"/>
          <a:stretch/>
        </p:blipFill>
        <p:spPr bwMode="auto">
          <a:xfrm>
            <a:off x="1140143" y="3007043"/>
            <a:ext cx="1557337" cy="3702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934713-CBC2-C317-3A64-A9B942ACF22A}"/>
              </a:ext>
            </a:extLst>
          </p:cNvPr>
          <p:cNvSpPr txBox="1"/>
          <p:nvPr/>
        </p:nvSpPr>
        <p:spPr>
          <a:xfrm>
            <a:off x="2911315" y="2947661"/>
            <a:ext cx="6090835" cy="3000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b="1" dirty="0"/>
              <a:t>public </a:t>
            </a:r>
            <a:r>
              <a:rPr kumimoji="1" lang="en-US" altLang="ko-KR" dirty="0"/>
              <a:t>:</a:t>
            </a:r>
            <a:r>
              <a:rPr kumimoji="1" lang="en-US" altLang="ko-KR" b="1" dirty="0"/>
              <a:t> </a:t>
            </a:r>
            <a:r>
              <a:rPr kumimoji="1" lang="en-US" altLang="ko-KR" dirty="0"/>
              <a:t>html</a:t>
            </a:r>
            <a:r>
              <a:rPr kumimoji="1" lang="ko-KR" altLang="en-US" dirty="0"/>
              <a:t>에서 필요한 정적 리소스  파일</a:t>
            </a:r>
            <a:r>
              <a:rPr kumimoji="1" lang="en-US" altLang="ko-KR" dirty="0"/>
              <a:t>(</a:t>
            </a:r>
            <a:r>
              <a:rPr kumimoji="1" lang="en-US" altLang="ko-KR" dirty="0" err="1"/>
              <a:t>css,js</a:t>
            </a:r>
            <a:r>
              <a:rPr kumimoji="1" lang="en-US" altLang="ko-KR" dirty="0"/>
              <a:t>)</a:t>
            </a:r>
            <a:r>
              <a:rPr kumimoji="1" lang="ko-KR" altLang="en-US" dirty="0"/>
              <a:t> 저장</a:t>
            </a:r>
            <a:endParaRPr kumimoji="1" lang="en-US" altLang="ko-KR" dirty="0"/>
          </a:p>
          <a:p>
            <a:pPr>
              <a:lnSpc>
                <a:spcPct val="150000"/>
              </a:lnSpc>
            </a:pPr>
            <a:r>
              <a:rPr kumimoji="1" lang="en-US" altLang="ko-KR" b="1" dirty="0" err="1"/>
              <a:t>src</a:t>
            </a:r>
            <a:r>
              <a:rPr kumimoji="1" lang="en-US" altLang="ko-KR" dirty="0"/>
              <a:t> : </a:t>
            </a:r>
            <a:r>
              <a:rPr kumimoji="1" lang="ko-KR" altLang="en-US" dirty="0"/>
              <a:t>화면을 구성하는 </a:t>
            </a:r>
            <a:r>
              <a:rPr kumimoji="1" lang="en-US" altLang="ko-KR" dirty="0"/>
              <a:t>React Component</a:t>
            </a:r>
            <a:r>
              <a:rPr kumimoji="1" lang="ko-KR" altLang="en-US" dirty="0"/>
              <a:t> 저장</a:t>
            </a:r>
            <a:r>
              <a:rPr kumimoji="1" lang="en-US" altLang="ko-KR" dirty="0"/>
              <a:t>(</a:t>
            </a:r>
            <a:r>
              <a:rPr kumimoji="1" lang="en-US" altLang="ko-KR" dirty="0" err="1"/>
              <a:t>js</a:t>
            </a:r>
            <a:r>
              <a:rPr kumimoji="1" lang="en-US" altLang="ko-KR" dirty="0"/>
              <a:t>, JSX)</a:t>
            </a:r>
          </a:p>
          <a:p>
            <a:pPr>
              <a:lnSpc>
                <a:spcPct val="150000"/>
              </a:lnSpc>
            </a:pPr>
            <a:r>
              <a:rPr kumimoji="1" lang="en-US" altLang="ko-KR" b="1" dirty="0"/>
              <a:t>assets</a:t>
            </a:r>
            <a:r>
              <a:rPr kumimoji="1" lang="en-US" altLang="ko-KR" dirty="0"/>
              <a:t> : Component</a:t>
            </a:r>
            <a:r>
              <a:rPr kumimoji="1" lang="ko-KR" altLang="en-US" dirty="0"/>
              <a:t>에 필요한 </a:t>
            </a:r>
            <a:r>
              <a:rPr kumimoji="1" lang="ko-KR" altLang="en-US" dirty="0" err="1"/>
              <a:t>정적리소스</a:t>
            </a:r>
            <a:r>
              <a:rPr kumimoji="1" lang="ko-KR" altLang="en-US" dirty="0"/>
              <a:t> 저장</a:t>
            </a:r>
            <a:endParaRPr kumimoji="1" lang="en-US" altLang="ko-KR" dirty="0"/>
          </a:p>
          <a:p>
            <a:pPr>
              <a:lnSpc>
                <a:spcPct val="150000"/>
              </a:lnSpc>
            </a:pPr>
            <a:r>
              <a:rPr kumimoji="1" lang="en-US" altLang="ko-KR" b="1" dirty="0" err="1"/>
              <a:t>main.jsx</a:t>
            </a:r>
            <a:r>
              <a:rPr kumimoji="1" lang="en-US" altLang="ko-KR" b="1" dirty="0"/>
              <a:t> </a:t>
            </a:r>
            <a:r>
              <a:rPr kumimoji="1" lang="en-US" altLang="ko-KR" dirty="0"/>
              <a:t>: </a:t>
            </a:r>
            <a:r>
              <a:rPr kumimoji="1" lang="en-US" altLang="ko-KR" dirty="0" err="1"/>
              <a:t>ReactDOM</a:t>
            </a:r>
            <a:r>
              <a:rPr kumimoji="1" lang="ko-KR" altLang="en-US" dirty="0"/>
              <a:t>으로 </a:t>
            </a:r>
            <a:r>
              <a:rPr kumimoji="1" lang="en-US" altLang="ko-KR" dirty="0"/>
              <a:t>index.html</a:t>
            </a:r>
            <a:r>
              <a:rPr kumimoji="1" lang="ko-KR" altLang="en-US" dirty="0" err="1"/>
              <a:t>랜더링할</a:t>
            </a:r>
            <a:r>
              <a:rPr kumimoji="1" lang="ko-KR" altLang="en-US" dirty="0"/>
              <a:t> 컴포넌트 설정</a:t>
            </a:r>
            <a:endParaRPr kumimoji="1" lang="en-US" altLang="ko-KR" dirty="0"/>
          </a:p>
          <a:p>
            <a:pPr>
              <a:lnSpc>
                <a:spcPct val="150000"/>
              </a:lnSpc>
            </a:pPr>
            <a:r>
              <a:rPr kumimoji="1" lang="en-US" altLang="ko-KR" b="1" dirty="0"/>
              <a:t>index.html</a:t>
            </a:r>
            <a:r>
              <a:rPr kumimoji="1" lang="en-US" altLang="ko-KR" dirty="0"/>
              <a:t> : React Component</a:t>
            </a:r>
            <a:r>
              <a:rPr kumimoji="1" lang="ko-KR" altLang="en-US" dirty="0"/>
              <a:t>를 출력하는 기본 페이지</a:t>
            </a:r>
            <a:endParaRPr kumimoji="1" lang="en-US" altLang="ko-KR" dirty="0"/>
          </a:p>
          <a:p>
            <a:pPr>
              <a:lnSpc>
                <a:spcPct val="150000"/>
              </a:lnSpc>
            </a:pPr>
            <a:r>
              <a:rPr kumimoji="1" lang="en-US" altLang="ko-KR" b="1" dirty="0" err="1"/>
              <a:t>package.json</a:t>
            </a:r>
            <a:r>
              <a:rPr kumimoji="1" lang="en-US" altLang="ko-KR" b="1" dirty="0"/>
              <a:t> </a:t>
            </a:r>
            <a:r>
              <a:rPr kumimoji="1" lang="en-US" altLang="ko-KR" dirty="0"/>
              <a:t>: node</a:t>
            </a:r>
            <a:r>
              <a:rPr kumimoji="1" lang="ko-KR" altLang="en-US" dirty="0"/>
              <a:t> </a:t>
            </a:r>
            <a:r>
              <a:rPr kumimoji="1" lang="en-US" altLang="ko-KR" dirty="0"/>
              <a:t>build,</a:t>
            </a:r>
            <a:r>
              <a:rPr kumimoji="1" lang="ko-KR" altLang="en-US" dirty="0"/>
              <a:t>의존성 등을 설정하는  파일</a:t>
            </a:r>
            <a:endParaRPr kumimoji="1" lang="en-US" altLang="ko-KR" dirty="0"/>
          </a:p>
          <a:p>
            <a:pPr>
              <a:lnSpc>
                <a:spcPct val="150000"/>
              </a:lnSpc>
            </a:pPr>
            <a:r>
              <a:rPr kumimoji="1" lang="en-US" altLang="ko-KR" b="1" dirty="0"/>
              <a:t>vite.config.js </a:t>
            </a:r>
            <a:r>
              <a:rPr kumimoji="1" lang="en-US" altLang="ko-KR" dirty="0"/>
              <a:t>: </a:t>
            </a:r>
            <a:r>
              <a:rPr kumimoji="1" lang="en-US" altLang="ko-KR" dirty="0" err="1"/>
              <a:t>vite</a:t>
            </a:r>
            <a:r>
              <a:rPr kumimoji="1" lang="ko-KR" altLang="en-US" dirty="0"/>
              <a:t>동작을 설정하고 </a:t>
            </a:r>
            <a:r>
              <a:rPr kumimoji="1" lang="ko-KR" altLang="en-US" dirty="0" err="1"/>
              <a:t>커스터마이징하는</a:t>
            </a:r>
            <a:r>
              <a:rPr kumimoji="1" lang="ko-KR" altLang="en-US" dirty="0"/>
              <a:t> 파일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13209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B694F-DAC2-975F-1EDB-E74ECAC05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8D060A9-A2F9-65EA-3D9A-BAC90A54CF6A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개발환경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D6A132-1A85-BE16-AAA0-7B89B02861C5}"/>
              </a:ext>
            </a:extLst>
          </p:cNvPr>
          <p:cNvSpPr txBox="1"/>
          <p:nvPr/>
        </p:nvSpPr>
        <p:spPr>
          <a:xfrm>
            <a:off x="816775" y="992708"/>
            <a:ext cx="435247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프로젝트 실행 및 실행화면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434" y="3028950"/>
            <a:ext cx="7671219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EA7784F0-7F59-0CD7-4107-CF6EB0E34214}"/>
              </a:ext>
            </a:extLst>
          </p:cNvPr>
          <p:cNvSpPr/>
          <p:nvPr/>
        </p:nvSpPr>
        <p:spPr>
          <a:xfrm>
            <a:off x="954592" y="1536333"/>
            <a:ext cx="7945330" cy="1275447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npm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run start # CRA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로 생성한 프로젝트 실행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*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자동 브라우저 오픈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npm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run dev #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Vite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로 생성한 프로젝트 실행 실행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*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o + enter -&gt;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브라우저 오픈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92791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F57E3-10BD-FE1F-46B7-64D44944B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7A894EA-BF2D-0BAA-C711-7E1B0213384F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동작구조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2" name="모서리가 둥근 직사각형 1"/>
          <p:cNvSpPr/>
          <p:nvPr/>
        </p:nvSpPr>
        <p:spPr>
          <a:xfrm>
            <a:off x="5151239" y="4960620"/>
            <a:ext cx="1299329" cy="60579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index.html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3086100" y="3126105"/>
            <a:ext cx="1299329" cy="60579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index.js /</a:t>
            </a:r>
          </a:p>
          <a:p>
            <a:pPr algn="ctr"/>
            <a:r>
              <a:rPr lang="en-US" altLang="ko-KR" b="1" dirty="0" err="1">
                <a:solidFill>
                  <a:schemeClr val="tx1"/>
                </a:solidFill>
              </a:rPr>
              <a:t>main.jsx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3909060" y="1266339"/>
            <a:ext cx="1299329" cy="60579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App.js /</a:t>
            </a:r>
          </a:p>
          <a:p>
            <a:pPr algn="ctr"/>
            <a:r>
              <a:rPr lang="en-US" altLang="ko-KR" b="1" dirty="0" err="1">
                <a:solidFill>
                  <a:schemeClr val="tx1"/>
                </a:solidFill>
              </a:rPr>
              <a:t>App.jsx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cxnSp>
        <p:nvCxnSpPr>
          <p:cNvPr id="13" name="꺾인 연결선 12"/>
          <p:cNvCxnSpPr>
            <a:stCxn id="2" idx="1"/>
            <a:endCxn id="6" idx="2"/>
          </p:cNvCxnSpPr>
          <p:nvPr/>
        </p:nvCxnSpPr>
        <p:spPr>
          <a:xfrm rot="10800000">
            <a:off x="3735765" y="3731895"/>
            <a:ext cx="1415474" cy="1531620"/>
          </a:xfrm>
          <a:prstGeom prst="bentConnector2">
            <a:avLst/>
          </a:prstGeom>
          <a:ln w="571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321716" y="5015537"/>
            <a:ext cx="273094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index.html</a:t>
            </a:r>
          </a:p>
          <a:p>
            <a:r>
              <a:rPr lang="en-US" altLang="ko-KR" sz="2000" dirty="0"/>
              <a:t>id</a:t>
            </a:r>
            <a:r>
              <a:rPr lang="ko-KR" altLang="en-US" sz="2000" dirty="0"/>
              <a:t>속성이 </a:t>
            </a:r>
            <a:r>
              <a:rPr lang="en-US" altLang="ko-KR" sz="2000" dirty="0"/>
              <a:t>root</a:t>
            </a:r>
            <a:r>
              <a:rPr lang="ko-KR" altLang="en-US" sz="2000" dirty="0"/>
              <a:t>태그 호출</a:t>
            </a:r>
            <a:endParaRPr lang="en-US" altLang="ko-KR" sz="2000" dirty="0"/>
          </a:p>
          <a:p>
            <a:r>
              <a:rPr lang="en-US" altLang="ko-KR" sz="2000" dirty="0"/>
              <a:t>&lt;div id=“root”&gt;&lt;/div&gt;</a:t>
            </a:r>
            <a:endParaRPr lang="ko-KR" altLang="en-US" sz="2000" dirty="0"/>
          </a:p>
        </p:txBody>
      </p:sp>
      <p:cxnSp>
        <p:nvCxnSpPr>
          <p:cNvPr id="19" name="꺾인 연결선 18"/>
          <p:cNvCxnSpPr>
            <a:stCxn id="7" idx="1"/>
            <a:endCxn id="6" idx="0"/>
          </p:cNvCxnSpPr>
          <p:nvPr/>
        </p:nvCxnSpPr>
        <p:spPr>
          <a:xfrm rot="10800000" flipV="1">
            <a:off x="3735766" y="1569233"/>
            <a:ext cx="173295" cy="1556871"/>
          </a:xfrm>
          <a:prstGeom prst="bentConnector2">
            <a:avLst/>
          </a:prstGeom>
          <a:ln w="571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꺾인 연결선 20"/>
          <p:cNvCxnSpPr>
            <a:stCxn id="6" idx="3"/>
            <a:endCxn id="2" idx="0"/>
          </p:cNvCxnSpPr>
          <p:nvPr/>
        </p:nvCxnSpPr>
        <p:spPr>
          <a:xfrm>
            <a:off x="4385429" y="3429000"/>
            <a:ext cx="1415475" cy="1531620"/>
          </a:xfrm>
          <a:prstGeom prst="bentConnector2">
            <a:avLst/>
          </a:prstGeom>
          <a:ln w="571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816382" y="3824109"/>
            <a:ext cx="28648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index.js/</a:t>
            </a:r>
            <a:r>
              <a:rPr lang="en-US" altLang="ko-KR" sz="2000" dirty="0" err="1"/>
              <a:t>main.jsx</a:t>
            </a:r>
            <a:r>
              <a:rPr lang="ko-KR" altLang="en-US" sz="2000" dirty="0"/>
              <a:t>에서 </a:t>
            </a:r>
            <a:endParaRPr lang="en-US" altLang="ko-KR" sz="2000" dirty="0"/>
          </a:p>
          <a:p>
            <a:r>
              <a:rPr lang="ko-KR" altLang="en-US" sz="2000" dirty="0"/>
              <a:t>지정한 컴포넌트 </a:t>
            </a:r>
            <a:r>
              <a:rPr lang="ko-KR" altLang="en-US" sz="2000" dirty="0" err="1"/>
              <a:t>랜더링</a:t>
            </a:r>
            <a:endParaRPr lang="ko-KR" altLang="en-US" sz="2000" dirty="0"/>
          </a:p>
        </p:txBody>
      </p:sp>
      <p:sp>
        <p:nvSpPr>
          <p:cNvPr id="25" name="TextBox 24"/>
          <p:cNvSpPr txBox="1"/>
          <p:nvPr/>
        </p:nvSpPr>
        <p:spPr>
          <a:xfrm>
            <a:off x="1424019" y="1883559"/>
            <a:ext cx="235192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000" dirty="0" err="1"/>
              <a:t>랜더링할</a:t>
            </a:r>
            <a:r>
              <a:rPr lang="ko-KR" altLang="en-US" sz="2000" dirty="0"/>
              <a:t> 컴포넌트 </a:t>
            </a:r>
            <a:endParaRPr lang="en-US" altLang="ko-KR" sz="2000" dirty="0"/>
          </a:p>
          <a:p>
            <a:pPr algn="r"/>
            <a:r>
              <a:rPr lang="ko-KR" altLang="en-US" sz="2000" dirty="0"/>
              <a:t>설정하기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5459" y="3010019"/>
            <a:ext cx="2029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ReactDOM.render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3818722" y="2199079"/>
            <a:ext cx="875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import </a:t>
            </a:r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2267156" y="4074724"/>
            <a:ext cx="2426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ReactDOM.createRoot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" y="2504547"/>
            <a:ext cx="2612819" cy="1319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6380" y="1323489"/>
            <a:ext cx="3354889" cy="1686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1660" y="4999525"/>
            <a:ext cx="2526723" cy="1709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9775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B694F-DAC2-975F-1EDB-E74ECAC05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8D060A9-A2F9-65EA-3D9A-BAC90A54CF6A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JS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모듈 다루기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 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D6A132-1A85-BE16-AAA0-7B89B02861C5}"/>
              </a:ext>
            </a:extLst>
          </p:cNvPr>
          <p:cNvSpPr txBox="1"/>
          <p:nvPr/>
        </p:nvSpPr>
        <p:spPr>
          <a:xfrm>
            <a:off x="816775" y="992708"/>
            <a:ext cx="279890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import, export</a:t>
            </a: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EA7784F0-7F59-0CD7-4107-CF6EB0E34214}"/>
              </a:ext>
            </a:extLst>
          </p:cNvPr>
          <p:cNvSpPr/>
          <p:nvPr/>
        </p:nvSpPr>
        <p:spPr>
          <a:xfrm>
            <a:off x="954592" y="1536333"/>
            <a:ext cx="7945330" cy="1236851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자바스크립트에서 코드를 모듈단위로 나눠서 재사용하기 위해 사용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js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파일에 선언한 변수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객체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함수 등을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export, import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를 이용해서 재사용할 수 있음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F7D625-D13D-CFA8-D1FF-D770B3F596F6}"/>
              </a:ext>
            </a:extLst>
          </p:cNvPr>
          <p:cNvSpPr txBox="1"/>
          <p:nvPr/>
        </p:nvSpPr>
        <p:spPr>
          <a:xfrm>
            <a:off x="816592" y="2959874"/>
            <a:ext cx="306032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내보내기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(export)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4F3D4072-64A8-FA45-B801-56C4971C63DB}"/>
              </a:ext>
            </a:extLst>
          </p:cNvPr>
          <p:cNvSpPr/>
          <p:nvPr/>
        </p:nvSpPr>
        <p:spPr>
          <a:xfrm>
            <a:off x="954409" y="3536953"/>
            <a:ext cx="7945330" cy="1766567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변수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배열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객체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함수을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외부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js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에서 사용할 수 있게 하는 것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이름있는 내보내기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(Named Export),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기본 내보내기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(Default Export)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가 있음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default export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는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js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파일당 한 개만 가능함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*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한개파일에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여러 개의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NameExport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와 한 개의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DefaultExport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가 가능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54430" y="5303520"/>
            <a:ext cx="249254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Named Export</a:t>
            </a:r>
          </a:p>
          <a:p>
            <a:r>
              <a:rPr lang="en-US" altLang="ko-KR" dirty="0"/>
              <a:t>export </a:t>
            </a:r>
            <a:r>
              <a:rPr lang="en-US" altLang="ko-KR" dirty="0" err="1"/>
              <a:t>const</a:t>
            </a:r>
            <a:r>
              <a:rPr lang="en-US" altLang="ko-KR" dirty="0"/>
              <a:t> test=“test”;</a:t>
            </a:r>
          </a:p>
          <a:p>
            <a:r>
              <a:rPr lang="en-US" altLang="ko-KR" dirty="0"/>
              <a:t>export </a:t>
            </a:r>
            <a:r>
              <a:rPr lang="en-US" altLang="ko-KR" dirty="0" err="1"/>
              <a:t>const</a:t>
            </a:r>
            <a:r>
              <a:rPr lang="en-US" altLang="ko-KR" dirty="0"/>
              <a:t> </a:t>
            </a:r>
            <a:r>
              <a:rPr lang="en-US" altLang="ko-KR" dirty="0" err="1"/>
              <a:t>arr</a:t>
            </a:r>
            <a:r>
              <a:rPr lang="en-US" altLang="ko-KR" dirty="0"/>
              <a:t>=[];</a:t>
            </a:r>
          </a:p>
          <a:p>
            <a:r>
              <a:rPr lang="en-US" altLang="ko-KR" dirty="0"/>
              <a:t>export </a:t>
            </a:r>
            <a:r>
              <a:rPr lang="en-US" altLang="ko-KR" dirty="0" err="1"/>
              <a:t>const</a:t>
            </a:r>
            <a:r>
              <a:rPr lang="en-US" altLang="ko-KR" dirty="0"/>
              <a:t> </a:t>
            </a:r>
            <a:r>
              <a:rPr lang="en-US" altLang="ko-KR" dirty="0" err="1"/>
              <a:t>obj</a:t>
            </a:r>
            <a:r>
              <a:rPr lang="en-US" altLang="ko-KR" dirty="0"/>
              <a:t>={};</a:t>
            </a:r>
          </a:p>
          <a:p>
            <a:r>
              <a:rPr lang="en-US" altLang="ko-KR" dirty="0"/>
              <a:t>export </a:t>
            </a:r>
            <a:r>
              <a:rPr lang="en-US" altLang="ko-KR" dirty="0" err="1"/>
              <a:t>const</a:t>
            </a:r>
            <a:r>
              <a:rPr lang="en-US" altLang="ko-KR" dirty="0"/>
              <a:t> </a:t>
            </a:r>
            <a:r>
              <a:rPr lang="en-US" altLang="ko-KR" dirty="0" err="1"/>
              <a:t>func</a:t>
            </a:r>
            <a:r>
              <a:rPr lang="en-US" altLang="ko-KR" dirty="0"/>
              <a:t>=()=&gt;{}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286250" y="5303520"/>
            <a:ext cx="34557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Default Export</a:t>
            </a:r>
          </a:p>
          <a:p>
            <a:r>
              <a:rPr lang="en-US" altLang="ko-KR" dirty="0"/>
              <a:t>export default class test{}</a:t>
            </a:r>
          </a:p>
          <a:p>
            <a:r>
              <a:rPr lang="en-US" altLang="ko-KR" dirty="0"/>
              <a:t>export default function </a:t>
            </a:r>
            <a:r>
              <a:rPr lang="en-US" altLang="ko-KR" dirty="0" err="1"/>
              <a:t>testfunc</a:t>
            </a:r>
            <a:r>
              <a:rPr lang="en-US" altLang="ko-KR" dirty="0"/>
              <a:t>(){}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3038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B694F-DAC2-975F-1EDB-E74ECAC05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8D060A9-A2F9-65EA-3D9A-BAC90A54CF6A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JS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모듈 다루기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 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D6A132-1A85-BE16-AAA0-7B89B02861C5}"/>
              </a:ext>
            </a:extLst>
          </p:cNvPr>
          <p:cNvSpPr txBox="1"/>
          <p:nvPr/>
        </p:nvSpPr>
        <p:spPr>
          <a:xfrm>
            <a:off x="816775" y="992708"/>
            <a:ext cx="432188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import 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절대경로 설정하기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7498" y="1585911"/>
            <a:ext cx="6556988" cy="52322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vite.config.js</a:t>
            </a:r>
            <a:r>
              <a:rPr lang="ko-KR" altLang="en-US" b="1" dirty="0"/>
              <a:t>에서 설정하기</a:t>
            </a:r>
            <a:endParaRPr lang="en-US" altLang="ko-KR" b="1" dirty="0"/>
          </a:p>
          <a:p>
            <a:endParaRPr lang="en-US" altLang="ko-KR" sz="1000" b="1" dirty="0"/>
          </a:p>
          <a:p>
            <a:r>
              <a:rPr lang="en-US" altLang="ko-KR" b="1" dirty="0" err="1"/>
              <a:t>defineConfig</a:t>
            </a:r>
            <a:r>
              <a:rPr lang="en-US" altLang="ko-KR" b="1" dirty="0"/>
              <a:t>({})</a:t>
            </a:r>
            <a:r>
              <a:rPr lang="ko-KR" altLang="en-US" b="1" dirty="0"/>
              <a:t>의 매개변수에 </a:t>
            </a:r>
            <a:r>
              <a:rPr lang="en-US" altLang="ko-KR" b="1" dirty="0"/>
              <a:t>resolve</a:t>
            </a:r>
            <a:r>
              <a:rPr lang="ko-KR" altLang="en-US" b="1" dirty="0"/>
              <a:t>속성에 </a:t>
            </a:r>
            <a:r>
              <a:rPr lang="en-US" altLang="ko-KR" b="1" dirty="0"/>
              <a:t>alias</a:t>
            </a:r>
            <a:r>
              <a:rPr lang="ko-KR" altLang="en-US" b="1" dirty="0"/>
              <a:t>속성을 설정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dirty="0"/>
              <a:t>export default </a:t>
            </a:r>
            <a:r>
              <a:rPr lang="en-US" altLang="ko-KR" dirty="0" err="1"/>
              <a:t>defineConfig</a:t>
            </a:r>
            <a:r>
              <a:rPr lang="en-US" altLang="ko-KR" dirty="0"/>
              <a:t>({</a:t>
            </a:r>
          </a:p>
          <a:p>
            <a:r>
              <a:rPr lang="en-US" altLang="ko-KR" dirty="0"/>
              <a:t>  plugins: [react(), </a:t>
            </a:r>
            <a:r>
              <a:rPr lang="en-US" altLang="ko-KR" dirty="0" err="1"/>
              <a:t>tailwindcss</a:t>
            </a:r>
            <a:r>
              <a:rPr lang="en-US" altLang="ko-KR" dirty="0"/>
              <a:t>()],</a:t>
            </a:r>
          </a:p>
          <a:p>
            <a:r>
              <a:rPr lang="en-US" altLang="ko-KR" b="1" dirty="0"/>
              <a:t>  //</a:t>
            </a:r>
            <a:r>
              <a:rPr lang="ko-KR" altLang="en-US" b="1" dirty="0"/>
              <a:t>절대경로 적용하기</a:t>
            </a:r>
          </a:p>
          <a:p>
            <a:r>
              <a:rPr lang="ko-KR" altLang="en-US" b="1" dirty="0"/>
              <a:t>  </a:t>
            </a:r>
            <a:r>
              <a:rPr lang="en-US" altLang="ko-KR" b="1" dirty="0"/>
              <a:t>resolve: {</a:t>
            </a:r>
          </a:p>
          <a:p>
            <a:r>
              <a:rPr lang="en-US" altLang="ko-KR" b="1" dirty="0"/>
              <a:t>    alias: {</a:t>
            </a:r>
          </a:p>
          <a:p>
            <a:r>
              <a:rPr lang="en-US" altLang="ko-KR" b="1" dirty="0"/>
              <a:t>      "@": </a:t>
            </a:r>
            <a:r>
              <a:rPr lang="en-US" altLang="ko-KR" b="1" dirty="0" err="1"/>
              <a:t>path.resolve</a:t>
            </a:r>
            <a:r>
              <a:rPr lang="en-US" altLang="ko-KR" b="1" dirty="0"/>
              <a:t>(__</a:t>
            </a:r>
            <a:r>
              <a:rPr lang="en-US" altLang="ko-KR" b="1" dirty="0" err="1"/>
              <a:t>dirname</a:t>
            </a:r>
            <a:r>
              <a:rPr lang="en-US" altLang="ko-KR" b="1" dirty="0"/>
              <a:t>, "./</a:t>
            </a:r>
            <a:r>
              <a:rPr lang="en-US" altLang="ko-KR" b="1" dirty="0" err="1"/>
              <a:t>src</a:t>
            </a:r>
            <a:r>
              <a:rPr lang="en-US" altLang="ko-KR" b="1" dirty="0"/>
              <a:t>"),</a:t>
            </a:r>
          </a:p>
          <a:p>
            <a:r>
              <a:rPr lang="en-US" altLang="ko-KR" b="1" dirty="0"/>
              <a:t>      "@component": </a:t>
            </a:r>
            <a:r>
              <a:rPr lang="en-US" altLang="ko-KR" b="1" dirty="0" err="1"/>
              <a:t>path.resolve</a:t>
            </a:r>
            <a:r>
              <a:rPr lang="en-US" altLang="ko-KR" b="1" dirty="0"/>
              <a:t>(__</a:t>
            </a:r>
            <a:r>
              <a:rPr lang="en-US" altLang="ko-KR" b="1" dirty="0" err="1"/>
              <a:t>dirname</a:t>
            </a:r>
            <a:r>
              <a:rPr lang="en-US" altLang="ko-KR" b="1" dirty="0"/>
              <a:t>, "./</a:t>
            </a:r>
            <a:r>
              <a:rPr lang="en-US" altLang="ko-KR" b="1" dirty="0" err="1"/>
              <a:t>src</a:t>
            </a:r>
            <a:r>
              <a:rPr lang="en-US" altLang="ko-KR" b="1" dirty="0"/>
              <a:t>/components"),</a:t>
            </a:r>
          </a:p>
          <a:p>
            <a:r>
              <a:rPr lang="en-US" altLang="ko-KR" b="1" dirty="0"/>
              <a:t>    },</a:t>
            </a:r>
          </a:p>
          <a:p>
            <a:r>
              <a:rPr lang="en-US" altLang="ko-KR" b="1" dirty="0"/>
              <a:t>  },</a:t>
            </a:r>
          </a:p>
          <a:p>
            <a:r>
              <a:rPr lang="en-US" altLang="ko-KR" dirty="0"/>
              <a:t>});</a:t>
            </a:r>
          </a:p>
          <a:p>
            <a:endParaRPr lang="en-US" altLang="ko-KR" dirty="0"/>
          </a:p>
          <a:p>
            <a:r>
              <a:rPr lang="en-US" altLang="ko-KR" b="1" dirty="0"/>
              <a:t>import</a:t>
            </a:r>
            <a:r>
              <a:rPr lang="ko-KR" altLang="en-US" b="1" dirty="0"/>
              <a:t>적용하기</a:t>
            </a:r>
            <a:endParaRPr lang="en-US" altLang="ko-KR" b="1" dirty="0"/>
          </a:p>
          <a:p>
            <a:endParaRPr lang="en-US" altLang="ko-KR" sz="1000" b="1" dirty="0"/>
          </a:p>
          <a:p>
            <a:r>
              <a:rPr lang="en-US" altLang="ko-KR" dirty="0"/>
              <a:t>import </a:t>
            </a:r>
            <a:r>
              <a:rPr lang="en-US" altLang="ko-KR" dirty="0" err="1"/>
              <a:t>TestComponent</a:t>
            </a:r>
            <a:r>
              <a:rPr lang="en-US" altLang="ko-KR" dirty="0"/>
              <a:t> from “@component/</a:t>
            </a:r>
            <a:r>
              <a:rPr lang="en-US" altLang="ko-KR" dirty="0" err="1"/>
              <a:t>TestComponent.jsx</a:t>
            </a:r>
            <a:r>
              <a:rPr lang="en-US" altLang="ko-KR" dirty="0"/>
              <a:t>”;</a:t>
            </a:r>
          </a:p>
          <a:p>
            <a:r>
              <a:rPr lang="en-US" altLang="ko-KR" dirty="0"/>
              <a:t>import logo from “@/assets/</a:t>
            </a:r>
            <a:r>
              <a:rPr lang="en-US" altLang="ko-KR" dirty="0" err="1"/>
              <a:t>react.svg</a:t>
            </a:r>
            <a:r>
              <a:rPr lang="en-US" altLang="ko-KR" dirty="0"/>
              <a:t>”;</a:t>
            </a:r>
          </a:p>
        </p:txBody>
      </p:sp>
    </p:spTree>
    <p:extLst>
      <p:ext uri="{BB962C8B-B14F-4D97-AF65-F5344CB8AC3E}">
        <p14:creationId xmlns:p14="http://schemas.microsoft.com/office/powerpoint/2010/main" val="237707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B694F-DAC2-975F-1EDB-E74ECAC05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8D060A9-A2F9-65EA-3D9A-BAC90A54CF6A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JS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모듈 다루기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 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D6A132-1A85-BE16-AAA0-7B89B02861C5}"/>
              </a:ext>
            </a:extLst>
          </p:cNvPr>
          <p:cNvSpPr txBox="1"/>
          <p:nvPr/>
        </p:nvSpPr>
        <p:spPr>
          <a:xfrm>
            <a:off x="816775" y="992708"/>
            <a:ext cx="309398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가져오기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(import)</a:t>
            </a: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EA7784F0-7F59-0CD7-4107-CF6EB0E34214}"/>
              </a:ext>
            </a:extLst>
          </p:cNvPr>
          <p:cNvSpPr/>
          <p:nvPr/>
        </p:nvSpPr>
        <p:spPr>
          <a:xfrm>
            <a:off x="954592" y="1536333"/>
            <a:ext cx="7945330" cy="1549767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외부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js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에서 변수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배열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객체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함수를 가져오는 것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이름있는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내보내기한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값을 가져오거나 기본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내보내기한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값을 가져와서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사용할 수 있음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17498" y="3300412"/>
            <a:ext cx="61177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Named import</a:t>
            </a:r>
          </a:p>
          <a:p>
            <a:r>
              <a:rPr lang="en-US" altLang="ko-KR" b="1" dirty="0"/>
              <a:t>import {</a:t>
            </a:r>
            <a:r>
              <a:rPr lang="ko-KR" altLang="en-US" b="1" dirty="0" err="1"/>
              <a:t>변수명</a:t>
            </a:r>
            <a:r>
              <a:rPr lang="en-US" altLang="ko-KR" b="1" dirty="0"/>
              <a:t>, </a:t>
            </a:r>
            <a:r>
              <a:rPr lang="ko-KR" altLang="en-US" b="1" dirty="0" err="1"/>
              <a:t>객체명</a:t>
            </a:r>
            <a:r>
              <a:rPr lang="en-US" altLang="ko-KR" b="1" dirty="0"/>
              <a:t>, </a:t>
            </a:r>
            <a:r>
              <a:rPr lang="ko-KR" altLang="en-US" b="1" dirty="0" err="1"/>
              <a:t>함수명</a:t>
            </a:r>
            <a:r>
              <a:rPr lang="en-US" altLang="ko-KR" b="1" dirty="0"/>
              <a:t>} from</a:t>
            </a:r>
            <a:r>
              <a:rPr lang="ko-KR" altLang="en-US" b="1" dirty="0"/>
              <a:t> </a:t>
            </a:r>
            <a:r>
              <a:rPr lang="en-US" altLang="ko-KR" b="1" dirty="0"/>
              <a:t>‘</a:t>
            </a:r>
            <a:r>
              <a:rPr lang="en-US" altLang="ko-KR" b="1" dirty="0" err="1"/>
              <a:t>js</a:t>
            </a:r>
            <a:r>
              <a:rPr lang="ko-KR" altLang="en-US" b="1" dirty="0"/>
              <a:t>파일경로</a:t>
            </a:r>
            <a:r>
              <a:rPr lang="en-US" altLang="ko-KR" b="1" dirty="0"/>
              <a:t>/</a:t>
            </a:r>
            <a:r>
              <a:rPr lang="ko-KR" altLang="en-US" b="1" dirty="0"/>
              <a:t>파일명</a:t>
            </a:r>
            <a:r>
              <a:rPr lang="en-US" altLang="ko-KR" b="1" dirty="0"/>
              <a:t>.</a:t>
            </a:r>
            <a:r>
              <a:rPr lang="en-US" altLang="ko-KR" b="1" dirty="0" err="1"/>
              <a:t>js</a:t>
            </a:r>
            <a:r>
              <a:rPr lang="en-US" altLang="ko-KR" b="1" dirty="0"/>
              <a:t>’</a:t>
            </a:r>
            <a:endParaRPr lang="en-US" altLang="ko-KR" dirty="0"/>
          </a:p>
        </p:txBody>
      </p:sp>
      <p:sp>
        <p:nvSpPr>
          <p:cNvPr id="8" name="TextBox 7"/>
          <p:cNvSpPr txBox="1"/>
          <p:nvPr/>
        </p:nvSpPr>
        <p:spPr>
          <a:xfrm>
            <a:off x="1123985" y="4057650"/>
            <a:ext cx="42358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Default Export</a:t>
            </a:r>
          </a:p>
          <a:p>
            <a:r>
              <a:rPr lang="en-US" altLang="ko-KR" b="1" dirty="0"/>
              <a:t>import </a:t>
            </a:r>
            <a:r>
              <a:rPr lang="ko-KR" altLang="en-US" b="1" dirty="0"/>
              <a:t>명칭 </a:t>
            </a:r>
            <a:r>
              <a:rPr lang="en-US" altLang="ko-KR" b="1" dirty="0"/>
              <a:t>from ‘‘</a:t>
            </a:r>
            <a:r>
              <a:rPr lang="en-US" altLang="ko-KR" b="1" dirty="0" err="1"/>
              <a:t>js</a:t>
            </a:r>
            <a:r>
              <a:rPr lang="ko-KR" altLang="en-US" b="1" dirty="0"/>
              <a:t>파일경로</a:t>
            </a:r>
            <a:r>
              <a:rPr lang="en-US" altLang="ko-KR" b="1" dirty="0"/>
              <a:t>/</a:t>
            </a:r>
            <a:r>
              <a:rPr lang="ko-KR" altLang="en-US" b="1" dirty="0"/>
              <a:t>파일명</a:t>
            </a:r>
            <a:r>
              <a:rPr lang="en-US" altLang="ko-KR" b="1" dirty="0"/>
              <a:t>.</a:t>
            </a:r>
            <a:r>
              <a:rPr lang="en-US" altLang="ko-KR" b="1" dirty="0" err="1"/>
              <a:t>js</a:t>
            </a:r>
            <a:r>
              <a:rPr lang="en-US" altLang="ko-KR" b="1" dirty="0"/>
              <a:t>’’</a:t>
            </a:r>
          </a:p>
        </p:txBody>
      </p:sp>
    </p:spTree>
    <p:extLst>
      <p:ext uri="{BB962C8B-B14F-4D97-AF65-F5344CB8AC3E}">
        <p14:creationId xmlns:p14="http://schemas.microsoft.com/office/powerpoint/2010/main" val="1124017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FDE66-11F9-C188-4090-E6B3EE142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그룹 8">
            <a:extLst>
              <a:ext uri="{FF2B5EF4-FFF2-40B4-BE49-F238E27FC236}">
                <a16:creationId xmlns:a16="http://schemas.microsoft.com/office/drawing/2014/main" id="{7CCD256C-D074-2C03-99CB-FF4B7DF65C73}"/>
              </a:ext>
            </a:extLst>
          </p:cNvPr>
          <p:cNvGrpSpPr>
            <a:grpSpLocks/>
          </p:cNvGrpSpPr>
          <p:nvPr/>
        </p:nvGrpSpPr>
        <p:grpSpPr bwMode="auto">
          <a:xfrm>
            <a:off x="2020491" y="1916906"/>
            <a:ext cx="5089922" cy="3090863"/>
            <a:chOff x="3413702" y="746702"/>
            <a:chExt cx="5364596" cy="5364596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0B31609-D4C9-DD6C-24C7-CA19541A239A}"/>
                </a:ext>
              </a:extLst>
            </p:cNvPr>
            <p:cNvSpPr/>
            <p:nvPr/>
          </p:nvSpPr>
          <p:spPr>
            <a:xfrm>
              <a:off x="3413702" y="746702"/>
              <a:ext cx="5364596" cy="5364596"/>
            </a:xfrm>
            <a:prstGeom prst="rect">
              <a:avLst/>
            </a:prstGeom>
            <a:gradFill flip="none" rotWithShape="1">
              <a:gsLst>
                <a:gs pos="0">
                  <a:srgbClr val="E3DCC1"/>
                </a:gs>
                <a:gs pos="69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E493A0B-6B80-E8C4-BDA0-AD513FCDDE1C}"/>
                </a:ext>
              </a:extLst>
            </p:cNvPr>
            <p:cNvSpPr/>
            <p:nvPr/>
          </p:nvSpPr>
          <p:spPr>
            <a:xfrm>
              <a:off x="3541699" y="928553"/>
              <a:ext cx="5122405" cy="50008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4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React</a:t>
              </a:r>
            </a:p>
            <a:p>
              <a:pPr algn="ctr">
                <a:defRPr/>
              </a:pPr>
              <a:r>
                <a:rPr lang="ko-KR" altLang="en-US" sz="4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컴포넌트</a:t>
              </a:r>
              <a:endParaRPr lang="en-US" altLang="ko-KR" sz="4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928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1C14-DC7F-E9AE-1F23-EBE44ED7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1E03D2-A2D4-A8C4-95E1-F3FB742FC3E0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</a:t>
            </a:r>
            <a:r>
              <a:rPr lang="en-US" altLang="ko-KR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React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컴포넌트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27932" y="970409"/>
            <a:ext cx="277954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React 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컴포넌트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0CC0815-AB5B-F680-2036-541D44CD8E84}"/>
              </a:ext>
            </a:extLst>
          </p:cNvPr>
          <p:cNvSpPr/>
          <p:nvPr/>
        </p:nvSpPr>
        <p:spPr>
          <a:xfrm>
            <a:off x="965749" y="1558639"/>
            <a:ext cx="7945330" cy="2419001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ko-KR" altLang="en-US" b="1" dirty="0">
                <a:solidFill>
                  <a:schemeClr val="tx1"/>
                </a:solidFill>
                <a:latin typeface="+mn-ea"/>
              </a:rPr>
              <a:t>사용자 인터페이스</a:t>
            </a:r>
            <a:r>
              <a:rPr lang="en-US" altLang="ko-KR" b="1" dirty="0">
                <a:solidFill>
                  <a:schemeClr val="tx1"/>
                </a:solidFill>
                <a:latin typeface="+mn-ea"/>
              </a:rPr>
              <a:t>(UI)</a:t>
            </a:r>
            <a:r>
              <a:rPr lang="ko-KR" altLang="en-US" b="1" dirty="0">
                <a:solidFill>
                  <a:schemeClr val="tx1"/>
                </a:solidFill>
                <a:latin typeface="+mn-ea"/>
              </a:rPr>
              <a:t>를 구성하는 재사용 가능한 독립적인 코드블록</a:t>
            </a:r>
            <a:endParaRPr lang="en-US" altLang="ko-KR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b="1" dirty="0">
                <a:solidFill>
                  <a:schemeClr val="tx1"/>
                </a:solidFill>
                <a:latin typeface="+mn-ea"/>
              </a:rPr>
              <a:t>컴포넌트는 </a:t>
            </a:r>
            <a:r>
              <a:rPr lang="en-US" altLang="ko-KR" b="1" dirty="0">
                <a:solidFill>
                  <a:schemeClr val="tx1"/>
                </a:solidFill>
                <a:latin typeface="+mn-ea"/>
              </a:rPr>
              <a:t>JSX</a:t>
            </a:r>
            <a:r>
              <a:rPr lang="ko-KR" altLang="en-US" b="1" dirty="0">
                <a:solidFill>
                  <a:schemeClr val="tx1"/>
                </a:solidFill>
                <a:latin typeface="+mn-ea"/>
              </a:rPr>
              <a:t>나</a:t>
            </a:r>
            <a:r>
              <a:rPr lang="en-US" altLang="ko-KR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b="1" dirty="0" err="1">
                <a:solidFill>
                  <a:schemeClr val="tx1"/>
                </a:solidFill>
                <a:latin typeface="+mn-ea"/>
              </a:rPr>
              <a:t>js</a:t>
            </a:r>
            <a:r>
              <a:rPr lang="ko-KR" altLang="en-US" b="1" dirty="0" err="1">
                <a:solidFill>
                  <a:schemeClr val="tx1"/>
                </a:solidFill>
                <a:latin typeface="+mn-ea"/>
              </a:rPr>
              <a:t>확장자로</a:t>
            </a:r>
            <a:r>
              <a:rPr lang="ko-KR" altLang="en-US" b="1" dirty="0">
                <a:solidFill>
                  <a:schemeClr val="tx1"/>
                </a:solidFill>
                <a:latin typeface="+mn-ea"/>
              </a:rPr>
              <a:t> 작성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b="1" dirty="0">
                <a:solidFill>
                  <a:schemeClr val="tx1"/>
                </a:solidFill>
                <a:latin typeface="+mn-ea"/>
              </a:rPr>
              <a:t>선언된 클래스</a:t>
            </a:r>
            <a:r>
              <a:rPr lang="en-US" altLang="ko-KR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b="1" dirty="0">
                <a:solidFill>
                  <a:schemeClr val="tx1"/>
                </a:solidFill>
                <a:latin typeface="+mn-ea"/>
              </a:rPr>
              <a:t>함수를 </a:t>
            </a:r>
            <a:r>
              <a:rPr lang="en-US" altLang="ko-KR" b="1" dirty="0">
                <a:solidFill>
                  <a:schemeClr val="tx1"/>
                </a:solidFill>
                <a:latin typeface="+mn-ea"/>
              </a:rPr>
              <a:t>export default </a:t>
            </a:r>
            <a:r>
              <a:rPr lang="ko-KR" altLang="en-US" b="1" dirty="0">
                <a:solidFill>
                  <a:schemeClr val="tx1"/>
                </a:solidFill>
                <a:latin typeface="+mn-ea"/>
              </a:rPr>
              <a:t>처리</a:t>
            </a:r>
            <a:endParaRPr lang="en-US" altLang="ko-KR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b="1" dirty="0">
                <a:solidFill>
                  <a:schemeClr val="tx1"/>
                </a:solidFill>
                <a:latin typeface="+mn-ea"/>
              </a:rPr>
              <a:t>화면을 컴포넌트 단위로 관리하여 컴포넌트를 조립하듯 전체 화면을 구성</a:t>
            </a:r>
            <a:endParaRPr lang="en-US" altLang="ko-KR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컴포넌트는 </a:t>
            </a:r>
            <a:r>
              <a:rPr lang="ko-KR" altLang="en-US" b="1" dirty="0" err="1">
                <a:solidFill>
                  <a:schemeClr val="tx1"/>
                </a:solidFill>
                <a:latin typeface="+mn-ea"/>
              </a:rPr>
              <a:t>클래스형</a:t>
            </a:r>
            <a:r>
              <a:rPr lang="ko-KR" altLang="en-US" b="1" dirty="0">
                <a:solidFill>
                  <a:schemeClr val="tx1"/>
                </a:solidFill>
                <a:latin typeface="+mn-ea"/>
              </a:rPr>
              <a:t> 컴포넌트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레가시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) / </a:t>
            </a:r>
            <a:r>
              <a:rPr lang="ko-KR" altLang="en-US" b="1" dirty="0">
                <a:solidFill>
                  <a:schemeClr val="tx1"/>
                </a:solidFill>
                <a:latin typeface="+mn-ea"/>
              </a:rPr>
              <a:t>함수형 컴포넌트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권장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)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있음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16270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1C14-DC7F-E9AE-1F23-EBE44ED7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1E03D2-A2D4-A8C4-95E1-F3FB742FC3E0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</a:t>
            </a:r>
            <a:r>
              <a:rPr lang="en-US" altLang="ko-KR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React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컴포넌트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27932" y="970409"/>
            <a:ext cx="321113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ko-KR" alt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클래스형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컴포넌트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0CC0815-AB5B-F680-2036-541D44CD8E84}"/>
              </a:ext>
            </a:extLst>
          </p:cNvPr>
          <p:cNvSpPr/>
          <p:nvPr/>
        </p:nvSpPr>
        <p:spPr>
          <a:xfrm>
            <a:off x="965749" y="1558640"/>
            <a:ext cx="7945330" cy="2361850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컴포넌트를 클래스형태로 만들어서 사용하는 방식으로 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최초에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React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가 나왔을 때 사용한 방식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React.Component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를 상속받는 클래스를 선언해서 활용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render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함수를 반드시 선언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-&gt; render()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에서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반환하는 내용이 화면에 출력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클래스는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export default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로 처리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34440" y="4000500"/>
            <a:ext cx="4515723" cy="2723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err="1"/>
              <a:t>클래스형</a:t>
            </a:r>
            <a:r>
              <a:rPr lang="ko-KR" altLang="en-US" dirty="0"/>
              <a:t> 선언 방식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import React from ‘react’;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class </a:t>
            </a:r>
            <a:r>
              <a:rPr lang="ko-KR" altLang="en-US" dirty="0" err="1"/>
              <a:t>클래스명</a:t>
            </a:r>
            <a:r>
              <a:rPr lang="ko-KR" altLang="en-US" dirty="0"/>
              <a:t> </a:t>
            </a:r>
            <a:r>
              <a:rPr lang="en-US" altLang="ko-KR" dirty="0"/>
              <a:t>extends </a:t>
            </a:r>
            <a:r>
              <a:rPr lang="en-US" altLang="ko-KR" dirty="0" err="1"/>
              <a:t>React.Component</a:t>
            </a:r>
            <a:r>
              <a:rPr lang="en-US" altLang="ko-KR" dirty="0"/>
              <a:t>{</a:t>
            </a:r>
          </a:p>
          <a:p>
            <a:r>
              <a:rPr lang="en-US" altLang="ko-KR" dirty="0"/>
              <a:t>     render(){</a:t>
            </a:r>
          </a:p>
          <a:p>
            <a:r>
              <a:rPr lang="en-US" altLang="ko-KR" dirty="0"/>
              <a:t>           return </a:t>
            </a:r>
            <a:r>
              <a:rPr lang="en-US" altLang="ko-KR" dirty="0" err="1"/>
              <a:t>React.createElement</a:t>
            </a:r>
            <a:r>
              <a:rPr lang="en-US" altLang="ko-KR" dirty="0"/>
              <a:t>() / JSX</a:t>
            </a:r>
            <a:r>
              <a:rPr lang="ko-KR" altLang="en-US" dirty="0"/>
              <a:t>문법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     }</a:t>
            </a:r>
          </a:p>
          <a:p>
            <a:r>
              <a:rPr lang="en-US" altLang="ko-KR" dirty="0"/>
              <a:t>}</a:t>
            </a:r>
          </a:p>
          <a:p>
            <a:r>
              <a:rPr lang="en-US" altLang="ko-KR" dirty="0"/>
              <a:t>export default </a:t>
            </a:r>
            <a:r>
              <a:rPr lang="ko-KR" altLang="en-US" dirty="0" err="1"/>
              <a:t>클래스명</a:t>
            </a:r>
            <a:r>
              <a:rPr lang="en-US" altLang="ko-KR" dirty="0"/>
              <a:t>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8212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1C14-DC7F-E9AE-1F23-EBE44ED7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1E03D2-A2D4-A8C4-95E1-F3FB742FC3E0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</a:t>
            </a:r>
            <a:r>
              <a:rPr lang="en-US" altLang="ko-KR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React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컴포넌트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27932" y="970409"/>
            <a:ext cx="290335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함수형 컴포넌트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0CC0815-AB5B-F680-2036-541D44CD8E84}"/>
              </a:ext>
            </a:extLst>
          </p:cNvPr>
          <p:cNvSpPr/>
          <p:nvPr/>
        </p:nvSpPr>
        <p:spPr>
          <a:xfrm>
            <a:off x="965749" y="1558640"/>
            <a:ext cx="7945330" cy="2601880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컴포넌트를 함수형태로 만들어서 사용하는 방식으로 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최신문법으로 공식적인 컴포넌트를 만드는 방법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함수에서 화면에 출력할 내용을 반환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함수는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export default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로 선언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함수 선언 방식은 선언적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익명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화살표 함수 모두 가능 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*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이름이 선언되는 선언적 함수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변수저장방식 권장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EsLint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에서 에러출력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34440" y="4286250"/>
            <a:ext cx="4135812" cy="21698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함수형 선언 방식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import React from ‘react’;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export default </a:t>
            </a:r>
            <a:r>
              <a:rPr lang="en-US" altLang="ko-KR" dirty="0" err="1"/>
              <a:t>funtion</a:t>
            </a:r>
            <a:r>
              <a:rPr lang="en-US" altLang="ko-KR" dirty="0"/>
              <a:t> </a:t>
            </a:r>
            <a:r>
              <a:rPr lang="ko-KR" altLang="en-US" dirty="0" err="1"/>
              <a:t>메소드명</a:t>
            </a:r>
            <a:r>
              <a:rPr lang="en-US" altLang="ko-KR" dirty="0"/>
              <a:t>(){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  return </a:t>
            </a:r>
            <a:r>
              <a:rPr lang="en-US" altLang="ko-KR" dirty="0" err="1"/>
              <a:t>React.createElement</a:t>
            </a:r>
            <a:r>
              <a:rPr lang="en-US" altLang="ko-KR" dirty="0"/>
              <a:t>() / JSX</a:t>
            </a:r>
            <a:r>
              <a:rPr lang="ko-KR" altLang="en-US" dirty="0"/>
              <a:t>문법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610397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1C14-DC7F-E9AE-1F23-EBE44ED7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1E03D2-A2D4-A8C4-95E1-F3FB742FC3E0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컴포넌트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27932" y="970409"/>
            <a:ext cx="424346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선언한 컴포넌트 사용하기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0CC0815-AB5B-F680-2036-541D44CD8E84}"/>
              </a:ext>
            </a:extLst>
          </p:cNvPr>
          <p:cNvSpPr/>
          <p:nvPr/>
        </p:nvSpPr>
        <p:spPr>
          <a:xfrm>
            <a:off x="965749" y="1558640"/>
            <a:ext cx="7945330" cy="1146635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기본 컴포넌트인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App.jsx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App.js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에서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import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로 가져온 후 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컴포넌트를 태그 방식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(JSX)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으로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return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처리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6" b="1"/>
          <a:stretch/>
        </p:blipFill>
        <p:spPr bwMode="auto">
          <a:xfrm>
            <a:off x="1206677" y="3182967"/>
            <a:ext cx="7097713" cy="2807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234440" y="2708910"/>
            <a:ext cx="646331" cy="4626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/>
              <a:t>샘플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606715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FDE66-11F9-C188-4090-E6B3EE142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그룹 8">
            <a:extLst>
              <a:ext uri="{FF2B5EF4-FFF2-40B4-BE49-F238E27FC236}">
                <a16:creationId xmlns:a16="http://schemas.microsoft.com/office/drawing/2014/main" id="{7CCD256C-D074-2C03-99CB-FF4B7DF65C73}"/>
              </a:ext>
            </a:extLst>
          </p:cNvPr>
          <p:cNvGrpSpPr>
            <a:grpSpLocks/>
          </p:cNvGrpSpPr>
          <p:nvPr/>
        </p:nvGrpSpPr>
        <p:grpSpPr bwMode="auto">
          <a:xfrm>
            <a:off x="2020491" y="1916906"/>
            <a:ext cx="5089922" cy="3090863"/>
            <a:chOff x="3413702" y="746702"/>
            <a:chExt cx="5364596" cy="5364596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0B31609-D4C9-DD6C-24C7-CA19541A239A}"/>
                </a:ext>
              </a:extLst>
            </p:cNvPr>
            <p:cNvSpPr/>
            <p:nvPr/>
          </p:nvSpPr>
          <p:spPr>
            <a:xfrm>
              <a:off x="3413702" y="746702"/>
              <a:ext cx="5364596" cy="5364596"/>
            </a:xfrm>
            <a:prstGeom prst="rect">
              <a:avLst/>
            </a:prstGeom>
            <a:gradFill flip="none" rotWithShape="1">
              <a:gsLst>
                <a:gs pos="0">
                  <a:srgbClr val="E3DCC1"/>
                </a:gs>
                <a:gs pos="69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E493A0B-6B80-E8C4-BDA0-AD513FCDDE1C}"/>
                </a:ext>
              </a:extLst>
            </p:cNvPr>
            <p:cNvSpPr/>
            <p:nvPr/>
          </p:nvSpPr>
          <p:spPr>
            <a:xfrm>
              <a:off x="3541699" y="928553"/>
              <a:ext cx="5122405" cy="50008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4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React</a:t>
              </a:r>
            </a:p>
            <a:p>
              <a:pPr algn="ctr">
                <a:defRPr/>
              </a:pPr>
              <a:r>
                <a:rPr lang="ko-KR" altLang="en-US" sz="4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생명주기</a:t>
              </a:r>
              <a:endParaRPr lang="en-US" altLang="ko-KR" sz="4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71625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1C14-DC7F-E9AE-1F23-EBE44ED7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1E03D2-A2D4-A8C4-95E1-F3FB742FC3E0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생명주기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27932" y="970409"/>
            <a:ext cx="411965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React 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컴포넌트 생명주기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0CC0815-AB5B-F680-2036-541D44CD8E84}"/>
              </a:ext>
            </a:extLst>
          </p:cNvPr>
          <p:cNvSpPr/>
          <p:nvPr/>
        </p:nvSpPr>
        <p:spPr>
          <a:xfrm>
            <a:off x="965749" y="1558639"/>
            <a:ext cx="7945330" cy="2213261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컴포넌트가 생성되고 업데이트되고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사라질때까지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거치는 일련의 과정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가지로 나눌 수 있음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Mount :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컴포넌트가 처음에 화면에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나타낼때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Update :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컴포넌트의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props, state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값이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수정됐을때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UnMount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: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컴포넌트가 화면에서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사라질때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7202838" y="4531995"/>
            <a:ext cx="1299329" cy="60579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solidFill>
                  <a:schemeClr val="tx1"/>
                </a:solidFill>
              </a:rPr>
              <a:t>UnMount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4101858" y="4531995"/>
            <a:ext cx="1299329" cy="60579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Update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965749" y="4531995"/>
            <a:ext cx="1299329" cy="60579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Mount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0" name="원형 화살표 19"/>
          <p:cNvSpPr/>
          <p:nvPr/>
        </p:nvSpPr>
        <p:spPr>
          <a:xfrm>
            <a:off x="4297680" y="4091940"/>
            <a:ext cx="857250" cy="754380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원형 화살표 20"/>
          <p:cNvSpPr/>
          <p:nvPr/>
        </p:nvSpPr>
        <p:spPr>
          <a:xfrm rot="10800000">
            <a:off x="4322897" y="4812030"/>
            <a:ext cx="857250" cy="754380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오른쪽 화살표 21"/>
          <p:cNvSpPr/>
          <p:nvPr/>
        </p:nvSpPr>
        <p:spPr>
          <a:xfrm>
            <a:off x="2531659" y="4732020"/>
            <a:ext cx="1285961" cy="1943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오른쪽 화살표 22"/>
          <p:cNvSpPr/>
          <p:nvPr/>
        </p:nvSpPr>
        <p:spPr>
          <a:xfrm>
            <a:off x="5697769" y="4749165"/>
            <a:ext cx="1285961" cy="1943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47960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1C14-DC7F-E9AE-1F23-EBE44ED7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1E03D2-A2D4-A8C4-95E1-F3FB742FC3E0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생명주기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27932" y="970409"/>
            <a:ext cx="600036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ko-KR" alt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클래스형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컴포넌트 생명주기 실행 함수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7140059" y="1537335"/>
            <a:ext cx="1299329" cy="60579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solidFill>
                  <a:schemeClr val="tx1"/>
                </a:solidFill>
              </a:rPr>
              <a:t>UnMount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4039079" y="1537335"/>
            <a:ext cx="1299329" cy="60579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Update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902970" y="1537335"/>
            <a:ext cx="1299329" cy="60579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Mount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7320" y="2194559"/>
            <a:ext cx="290117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err="1"/>
              <a:t>Contructor</a:t>
            </a:r>
            <a:r>
              <a:rPr lang="en-US" altLang="ko-KR" dirty="0"/>
              <a:t>()</a:t>
            </a:r>
          </a:p>
          <a:p>
            <a:pPr algn="ctr"/>
            <a:r>
              <a:rPr lang="en-US" altLang="ko-KR" dirty="0"/>
              <a:t>↓</a:t>
            </a:r>
          </a:p>
          <a:p>
            <a:pPr algn="ctr"/>
            <a:r>
              <a:rPr lang="en-US" altLang="ko-KR" dirty="0" err="1"/>
              <a:t>getDerivedStateFrom</a:t>
            </a:r>
            <a:r>
              <a:rPr lang="en-US" altLang="ko-KR" dirty="0"/>
              <a:t> Props()</a:t>
            </a:r>
          </a:p>
          <a:p>
            <a:pPr algn="ctr"/>
            <a:r>
              <a:rPr lang="en-US" altLang="ko-KR" dirty="0"/>
              <a:t>↓</a:t>
            </a:r>
          </a:p>
          <a:p>
            <a:pPr algn="ctr"/>
            <a:r>
              <a:rPr lang="en-US" altLang="ko-KR" dirty="0"/>
              <a:t>render()</a:t>
            </a:r>
          </a:p>
          <a:p>
            <a:pPr algn="ctr"/>
            <a:r>
              <a:rPr lang="en-US" altLang="ko-KR" dirty="0"/>
              <a:t>↓</a:t>
            </a:r>
          </a:p>
          <a:p>
            <a:pPr algn="ctr"/>
            <a:r>
              <a:rPr lang="en-US" altLang="ko-KR" dirty="0" err="1"/>
              <a:t>componentDidMount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cxnSp>
        <p:nvCxnSpPr>
          <p:cNvPr id="12" name="직선 화살표 연결선 11"/>
          <p:cNvCxnSpPr/>
          <p:nvPr/>
        </p:nvCxnSpPr>
        <p:spPr>
          <a:xfrm>
            <a:off x="2457450" y="1828800"/>
            <a:ext cx="1371600" cy="0"/>
          </a:xfrm>
          <a:prstGeom prst="straightConnector1">
            <a:avLst/>
          </a:prstGeom>
          <a:ln w="571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236364" y="2200274"/>
            <a:ext cx="2901179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err="1"/>
              <a:t>getDerivedStateFrom</a:t>
            </a:r>
            <a:r>
              <a:rPr lang="en-US" altLang="ko-KR" dirty="0"/>
              <a:t> Props()</a:t>
            </a:r>
          </a:p>
          <a:p>
            <a:pPr algn="ctr"/>
            <a:r>
              <a:rPr lang="en-US" altLang="ko-KR" dirty="0"/>
              <a:t>↓</a:t>
            </a:r>
          </a:p>
          <a:p>
            <a:pPr algn="ctr"/>
            <a:r>
              <a:rPr lang="en-US" altLang="ko-KR" dirty="0" err="1"/>
              <a:t>shouldComponentUpdate</a:t>
            </a:r>
            <a:r>
              <a:rPr lang="en-US" altLang="ko-KR" dirty="0"/>
              <a:t>()</a:t>
            </a:r>
          </a:p>
          <a:p>
            <a:pPr algn="ctr"/>
            <a:r>
              <a:rPr lang="en-US" altLang="ko-KR" dirty="0"/>
              <a:t>↓</a:t>
            </a:r>
          </a:p>
          <a:p>
            <a:pPr algn="ctr"/>
            <a:r>
              <a:rPr lang="en-US" altLang="ko-KR" dirty="0"/>
              <a:t>render()</a:t>
            </a:r>
          </a:p>
          <a:p>
            <a:pPr algn="ctr"/>
            <a:r>
              <a:rPr lang="en-US" altLang="ko-KR" dirty="0"/>
              <a:t>↓</a:t>
            </a:r>
          </a:p>
          <a:p>
            <a:pPr algn="ctr"/>
            <a:r>
              <a:rPr lang="en-US" altLang="ko-KR" dirty="0" err="1"/>
              <a:t>getSnapshotBeforeUpdate</a:t>
            </a:r>
            <a:r>
              <a:rPr lang="en-US" altLang="ko-KR" dirty="0"/>
              <a:t>()</a:t>
            </a:r>
          </a:p>
          <a:p>
            <a:pPr algn="ctr"/>
            <a:r>
              <a:rPr lang="en-US" altLang="ko-KR" dirty="0"/>
              <a:t>↓</a:t>
            </a:r>
          </a:p>
          <a:p>
            <a:pPr algn="ctr"/>
            <a:r>
              <a:rPr lang="en-US" altLang="ko-KR" dirty="0" err="1"/>
              <a:t>componentDidUpdate</a:t>
            </a:r>
            <a:endParaRPr lang="ko-KR" altLang="en-US" dirty="0"/>
          </a:p>
        </p:txBody>
      </p:sp>
      <p:cxnSp>
        <p:nvCxnSpPr>
          <p:cNvPr id="14" name="직선 화살표 연결선 13"/>
          <p:cNvCxnSpPr/>
          <p:nvPr/>
        </p:nvCxnSpPr>
        <p:spPr>
          <a:xfrm>
            <a:off x="5589270" y="1840230"/>
            <a:ext cx="1371600" cy="0"/>
          </a:xfrm>
          <a:prstGeom prst="straightConnector1">
            <a:avLst/>
          </a:prstGeom>
          <a:ln w="571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52906" y="2194559"/>
            <a:ext cx="2663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err="1"/>
              <a:t>componentWillUnmount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27931" y="4900424"/>
            <a:ext cx="559319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ko-KR" alt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클래스형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컴포넌트 생명주기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Hooks</a:t>
            </a:r>
          </a:p>
        </p:txBody>
      </p:sp>
      <p:sp>
        <p:nvSpPr>
          <p:cNvPr id="18" name="모서리가 둥근 직사각형 17"/>
          <p:cNvSpPr/>
          <p:nvPr/>
        </p:nvSpPr>
        <p:spPr>
          <a:xfrm>
            <a:off x="7212449" y="5530215"/>
            <a:ext cx="1299329" cy="60579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solidFill>
                  <a:schemeClr val="tx1"/>
                </a:solidFill>
              </a:rPr>
              <a:t>UnMount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4111469" y="5530215"/>
            <a:ext cx="1299329" cy="60579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Update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975360" y="5530215"/>
            <a:ext cx="1299329" cy="60579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Mount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cxnSp>
        <p:nvCxnSpPr>
          <p:cNvPr id="21" name="직선 화살표 연결선 20"/>
          <p:cNvCxnSpPr/>
          <p:nvPr/>
        </p:nvCxnSpPr>
        <p:spPr>
          <a:xfrm>
            <a:off x="2529840" y="5821680"/>
            <a:ext cx="1371600" cy="0"/>
          </a:xfrm>
          <a:prstGeom prst="straightConnector1">
            <a:avLst/>
          </a:prstGeom>
          <a:ln w="571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>
            <a:off x="5661660" y="5833110"/>
            <a:ext cx="1371600" cy="0"/>
          </a:xfrm>
          <a:prstGeom prst="straightConnector1">
            <a:avLst/>
          </a:prstGeom>
          <a:ln w="571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59351" y="6148080"/>
            <a:ext cx="1895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err="1"/>
              <a:t>useEffect</a:t>
            </a:r>
            <a:r>
              <a:rPr lang="en-US" altLang="ko-KR" dirty="0"/>
              <a:t>(()=&gt;{},[])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06884" y="6156464"/>
            <a:ext cx="175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err="1"/>
              <a:t>useEffect</a:t>
            </a:r>
            <a:r>
              <a:rPr lang="en-US" altLang="ko-KR" dirty="0"/>
              <a:t>(()=&gt;{})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7288" y="6147346"/>
            <a:ext cx="20575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useEffect</a:t>
            </a:r>
            <a:r>
              <a:rPr lang="en-US" altLang="ko-KR" dirty="0"/>
              <a:t>(()=&gt;{</a:t>
            </a:r>
          </a:p>
          <a:p>
            <a:r>
              <a:rPr lang="en-US" altLang="ko-KR" dirty="0"/>
              <a:t>       return ()=&gt;{}},[])</a:t>
            </a:r>
          </a:p>
        </p:txBody>
      </p:sp>
    </p:spTree>
    <p:extLst>
      <p:ext uri="{BB962C8B-B14F-4D97-AF65-F5344CB8AC3E}">
        <p14:creationId xmlns:p14="http://schemas.microsoft.com/office/powerpoint/2010/main" val="24794579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FDE66-11F9-C188-4090-E6B3EE142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그룹 8">
            <a:extLst>
              <a:ext uri="{FF2B5EF4-FFF2-40B4-BE49-F238E27FC236}">
                <a16:creationId xmlns:a16="http://schemas.microsoft.com/office/drawing/2014/main" id="{7CCD256C-D074-2C03-99CB-FF4B7DF65C73}"/>
              </a:ext>
            </a:extLst>
          </p:cNvPr>
          <p:cNvGrpSpPr>
            <a:grpSpLocks/>
          </p:cNvGrpSpPr>
          <p:nvPr/>
        </p:nvGrpSpPr>
        <p:grpSpPr bwMode="auto">
          <a:xfrm>
            <a:off x="2020491" y="1916906"/>
            <a:ext cx="5089922" cy="3090863"/>
            <a:chOff x="3413702" y="746702"/>
            <a:chExt cx="5364596" cy="5364596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0B31609-D4C9-DD6C-24C7-CA19541A239A}"/>
                </a:ext>
              </a:extLst>
            </p:cNvPr>
            <p:cNvSpPr/>
            <p:nvPr/>
          </p:nvSpPr>
          <p:spPr>
            <a:xfrm>
              <a:off x="3413702" y="746702"/>
              <a:ext cx="5364596" cy="5364596"/>
            </a:xfrm>
            <a:prstGeom prst="rect">
              <a:avLst/>
            </a:prstGeom>
            <a:gradFill flip="none" rotWithShape="1">
              <a:gsLst>
                <a:gs pos="0">
                  <a:srgbClr val="E3DCC1"/>
                </a:gs>
                <a:gs pos="69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E493A0B-6B80-E8C4-BDA0-AD513FCDDE1C}"/>
                </a:ext>
              </a:extLst>
            </p:cNvPr>
            <p:cNvSpPr/>
            <p:nvPr/>
          </p:nvSpPr>
          <p:spPr>
            <a:xfrm>
              <a:off x="3541699" y="928553"/>
              <a:ext cx="5122405" cy="50008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4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React</a:t>
              </a:r>
            </a:p>
            <a:p>
              <a:pPr algn="ctr">
                <a:defRPr/>
              </a:pPr>
              <a:r>
                <a:rPr lang="en-US" altLang="ko-KR" sz="4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JSX </a:t>
              </a:r>
              <a:r>
                <a:rPr lang="ko-KR" altLang="en-US" sz="4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문법</a:t>
              </a:r>
              <a:endParaRPr lang="en-US" altLang="ko-KR" sz="4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28529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1C14-DC7F-E9AE-1F23-EBE44ED7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1E03D2-A2D4-A8C4-95E1-F3FB742FC3E0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JSX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문법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27932" y="970409"/>
            <a:ext cx="4201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JSX (</a:t>
            </a:r>
            <a:r>
              <a:rPr lang="en-US" altLang="ko-K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Javascript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XML)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0CC0815-AB5B-F680-2036-541D44CD8E84}"/>
              </a:ext>
            </a:extLst>
          </p:cNvPr>
          <p:cNvSpPr/>
          <p:nvPr/>
        </p:nvSpPr>
        <p:spPr>
          <a:xfrm>
            <a:off x="965749" y="1558640"/>
            <a:ext cx="7945330" cy="3904900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자바스크립트를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확장한 문법으로 자바스크립트 안에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html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처럼 코드를 작성할 수 있게 해주는 기술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화면에 출력될 내용을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html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태그처럼 이용해서 시각적으로 직관적이고 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가독성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높은 코드를 작성할 수 있음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반드시 단일 최상위 요소로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감싸야함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. </a:t>
            </a: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* &lt;div&gt;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태그나 </a:t>
            </a: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&lt;&gt;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태그를 이용</a:t>
            </a:r>
            <a:endParaRPr lang="en-US" altLang="ko-KR" sz="16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태그 및 속성을 사용하는 방법에서 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html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과 차이가 있음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600" dirty="0" err="1">
                <a:solidFill>
                  <a:schemeClr val="tx1"/>
                </a:solidFill>
                <a:latin typeface="+mn-ea"/>
              </a:rPr>
              <a:t>속성명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 차이 </a:t>
            </a: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: class -&gt; </a:t>
            </a:r>
            <a:r>
              <a:rPr lang="en-US" altLang="ko-KR" sz="1600" dirty="0" err="1">
                <a:solidFill>
                  <a:schemeClr val="tx1"/>
                </a:solidFill>
                <a:latin typeface="+mn-ea"/>
              </a:rPr>
              <a:t>className</a:t>
            </a: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, for -&gt; </a:t>
            </a:r>
            <a:r>
              <a:rPr lang="en-US" altLang="ko-KR" sz="1600" dirty="0" err="1">
                <a:solidFill>
                  <a:schemeClr val="tx1"/>
                </a:solidFill>
                <a:latin typeface="+mn-ea"/>
              </a:rPr>
              <a:t>htmlFor</a:t>
            </a: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등 </a:t>
            </a:r>
            <a:endParaRPr lang="en-US" altLang="ko-KR" sz="16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600" dirty="0" err="1">
                <a:solidFill>
                  <a:schemeClr val="tx1"/>
                </a:solidFill>
                <a:latin typeface="+mn-ea"/>
              </a:rPr>
              <a:t>속성명은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600" dirty="0" err="1">
                <a:solidFill>
                  <a:schemeClr val="tx1"/>
                </a:solidFill>
                <a:latin typeface="+mn-ea"/>
              </a:rPr>
              <a:t>CamelCase</a:t>
            </a: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적용 </a:t>
            </a:r>
            <a:r>
              <a:rPr lang="en-US" altLang="ko-KR" sz="1600" dirty="0" err="1">
                <a:solidFill>
                  <a:schemeClr val="tx1"/>
                </a:solidFill>
                <a:latin typeface="+mn-ea"/>
              </a:rPr>
              <a:t>onclick</a:t>
            </a: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 -&gt; </a:t>
            </a:r>
            <a:r>
              <a:rPr lang="en-US" altLang="ko-KR" sz="1600" dirty="0" err="1">
                <a:solidFill>
                  <a:schemeClr val="tx1"/>
                </a:solidFill>
                <a:latin typeface="+mn-ea"/>
              </a:rPr>
              <a:t>onClick</a:t>
            </a: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sz="1600" dirty="0" err="1">
                <a:solidFill>
                  <a:schemeClr val="tx1"/>
                </a:solidFill>
                <a:latin typeface="+mn-ea"/>
              </a:rPr>
              <a:t>tabindex</a:t>
            </a: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 -&gt; </a:t>
            </a:r>
            <a:r>
              <a:rPr lang="en-US" altLang="ko-KR" sz="1600" dirty="0" err="1">
                <a:solidFill>
                  <a:schemeClr val="tx1"/>
                </a:solidFill>
                <a:latin typeface="+mn-ea"/>
              </a:rPr>
              <a:t>tabIndex</a:t>
            </a:r>
            <a:endParaRPr lang="en-US" altLang="ko-KR" sz="16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단일태그의 경우 반드시 닫기 태그 명시 </a:t>
            </a: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: &lt;</a:t>
            </a:r>
            <a:r>
              <a:rPr lang="en-US" altLang="ko-KR" sz="1600" dirty="0" err="1">
                <a:solidFill>
                  <a:schemeClr val="tx1"/>
                </a:solidFill>
                <a:latin typeface="+mn-ea"/>
              </a:rPr>
              <a:t>img</a:t>
            </a: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&gt; -&gt; &lt;</a:t>
            </a:r>
            <a:r>
              <a:rPr lang="en-US" altLang="ko-KR" sz="1600" dirty="0" err="1">
                <a:solidFill>
                  <a:schemeClr val="tx1"/>
                </a:solidFill>
                <a:latin typeface="+mn-ea"/>
              </a:rPr>
              <a:t>img</a:t>
            </a: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 /&gt;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20140" y="5554980"/>
            <a:ext cx="74905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* </a:t>
            </a:r>
            <a:r>
              <a:rPr lang="en-US" altLang="ko-KR" dirty="0" err="1"/>
              <a:t>vite</a:t>
            </a:r>
            <a:r>
              <a:rPr lang="ko-KR" altLang="en-US" dirty="0"/>
              <a:t>로 생성한 프로젝트에서 </a:t>
            </a:r>
            <a:r>
              <a:rPr lang="en-US" altLang="ko-KR" dirty="0"/>
              <a:t>JSX</a:t>
            </a:r>
            <a:r>
              <a:rPr lang="ko-KR" altLang="en-US" dirty="0"/>
              <a:t>문법을 사용하면 반드시 </a:t>
            </a:r>
            <a:r>
              <a:rPr lang="ko-KR" altLang="en-US" dirty="0" err="1"/>
              <a:t>확장자는</a:t>
            </a:r>
            <a:r>
              <a:rPr lang="ko-KR" altLang="en-US" dirty="0"/>
              <a:t> </a:t>
            </a:r>
            <a:r>
              <a:rPr lang="en-US" altLang="ko-KR" dirty="0"/>
              <a:t>JSX</a:t>
            </a:r>
            <a:r>
              <a:rPr lang="ko-KR" altLang="en-US" dirty="0"/>
              <a:t>로 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   선언해야 함</a:t>
            </a:r>
            <a:r>
              <a:rPr lang="en-US" altLang="ko-KR" dirty="0"/>
              <a:t>. </a:t>
            </a:r>
            <a:r>
              <a:rPr lang="en-US" altLang="ko-KR" dirty="0" err="1"/>
              <a:t>vite</a:t>
            </a:r>
            <a:r>
              <a:rPr lang="ko-KR" altLang="en-US" dirty="0"/>
              <a:t>에서는 </a:t>
            </a:r>
            <a:r>
              <a:rPr lang="en-US" altLang="ko-KR" dirty="0" err="1"/>
              <a:t>js</a:t>
            </a:r>
            <a:r>
              <a:rPr lang="ko-KR" altLang="en-US" dirty="0"/>
              <a:t>는 </a:t>
            </a:r>
            <a:r>
              <a:rPr lang="en-US" altLang="ko-KR" dirty="0" err="1"/>
              <a:t>js</a:t>
            </a:r>
            <a:r>
              <a:rPr lang="ko-KR" altLang="en-US" dirty="0"/>
              <a:t>로만 해석하여 </a:t>
            </a:r>
            <a:r>
              <a:rPr lang="en-US" altLang="ko-KR" dirty="0"/>
              <a:t>JSX</a:t>
            </a:r>
            <a:r>
              <a:rPr lang="ko-KR" altLang="en-US" dirty="0"/>
              <a:t>구문을 해석 않음</a:t>
            </a:r>
            <a:r>
              <a:rPr lang="en-US" altLang="ko-KR" dirty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46952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1C14-DC7F-E9AE-1F23-EBE44ED7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1E03D2-A2D4-A8C4-95E1-F3FB742FC3E0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JSX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문법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27932" y="970409"/>
            <a:ext cx="4201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주석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0CC0815-AB5B-F680-2036-541D44CD8E84}"/>
              </a:ext>
            </a:extLst>
          </p:cNvPr>
          <p:cNvSpPr/>
          <p:nvPr/>
        </p:nvSpPr>
        <p:spPr>
          <a:xfrm>
            <a:off x="965749" y="1558640"/>
            <a:ext cx="7945330" cy="1024540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JSX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문법에서 </a:t>
            </a:r>
            <a:r>
              <a:rPr lang="ko-KR" altLang="en-US" sz="1600" dirty="0" err="1">
                <a:solidFill>
                  <a:schemeClr val="tx1"/>
                </a:solidFill>
                <a:latin typeface="+mn-ea"/>
              </a:rPr>
              <a:t>주석를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 하려면 </a:t>
            </a: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{/* </a:t>
            </a:r>
            <a:r>
              <a:rPr lang="ko-KR" altLang="en-US" sz="1600" dirty="0" err="1">
                <a:solidFill>
                  <a:schemeClr val="tx1"/>
                </a:solidFill>
                <a:latin typeface="+mn-ea"/>
              </a:rPr>
              <a:t>주석처리할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 구문 </a:t>
            </a: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*/} 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로 사용함</a:t>
            </a: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* JSX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가 아닌 곳에서는 </a:t>
            </a: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자바스크립트 주석을 이용하면 됨</a:t>
            </a: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86359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1C14-DC7F-E9AE-1F23-EBE44ED7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1E03D2-A2D4-A8C4-95E1-F3FB742FC3E0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JSX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문법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27932" y="970409"/>
            <a:ext cx="4201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자바스크립트 문법 활용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0CC0815-AB5B-F680-2036-541D44CD8E84}"/>
              </a:ext>
            </a:extLst>
          </p:cNvPr>
          <p:cNvSpPr/>
          <p:nvPr/>
        </p:nvSpPr>
        <p:spPr>
          <a:xfrm>
            <a:off x="965749" y="1558640"/>
            <a:ext cx="7945330" cy="1378870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JSX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문법에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{}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를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이용해서 자바스크립트구문을 사용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{}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내부에는 변수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함수호출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조건문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등을 사용 가능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호출되는 함수는 반환형이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있어야함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" y="3006090"/>
            <a:ext cx="5229573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{}</a:t>
            </a:r>
            <a:r>
              <a:rPr lang="ko-KR" altLang="en-US" dirty="0"/>
              <a:t>이용해서 </a:t>
            </a:r>
            <a:r>
              <a:rPr lang="en-US" altLang="ko-KR" dirty="0" err="1"/>
              <a:t>javascript</a:t>
            </a:r>
            <a:r>
              <a:rPr lang="ko-KR" altLang="en-US" dirty="0"/>
              <a:t>문법 사용하기 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export default function(){</a:t>
            </a:r>
          </a:p>
          <a:p>
            <a:r>
              <a:rPr lang="en-US" altLang="ko-KR" dirty="0"/>
              <a:t>      </a:t>
            </a:r>
            <a:r>
              <a:rPr lang="ko-KR" altLang="en-US" dirty="0"/>
              <a:t> </a:t>
            </a:r>
            <a:r>
              <a:rPr lang="en-US" altLang="ko-KR" dirty="0" err="1"/>
              <a:t>const</a:t>
            </a:r>
            <a:r>
              <a:rPr lang="en-US" altLang="ko-KR" dirty="0"/>
              <a:t> test=“</a:t>
            </a:r>
            <a:r>
              <a:rPr lang="ko-KR" altLang="en-US" dirty="0"/>
              <a:t>테스트</a:t>
            </a:r>
            <a:r>
              <a:rPr lang="en-US" altLang="ko-KR" dirty="0"/>
              <a:t>”;</a:t>
            </a:r>
          </a:p>
          <a:p>
            <a:r>
              <a:rPr lang="en-US" altLang="ko-KR" dirty="0"/>
              <a:t>      return (</a:t>
            </a:r>
          </a:p>
          <a:p>
            <a:r>
              <a:rPr lang="en-US" altLang="ko-KR" dirty="0"/>
              <a:t>            &lt;div&gt;</a:t>
            </a:r>
          </a:p>
          <a:p>
            <a:r>
              <a:rPr lang="en-US" altLang="ko-KR" dirty="0"/>
              <a:t>	&lt;p&gt;{test}&lt;/p&gt;</a:t>
            </a:r>
          </a:p>
          <a:p>
            <a:r>
              <a:rPr lang="en-US" altLang="ko-KR" dirty="0"/>
              <a:t>	&lt;p&gt;{</a:t>
            </a:r>
            <a:r>
              <a:rPr lang="en-US" altLang="ko-KR" dirty="0" err="1"/>
              <a:t>testFunc</a:t>
            </a:r>
            <a:r>
              <a:rPr lang="en-US" altLang="ko-KR" dirty="0"/>
              <a:t>()}&lt;/p&gt;</a:t>
            </a:r>
          </a:p>
          <a:p>
            <a:r>
              <a:rPr lang="en-US" altLang="ko-KR" dirty="0"/>
              <a:t>	&lt;p&gt;{</a:t>
            </a:r>
            <a:r>
              <a:rPr lang="en-US" altLang="ko-KR" dirty="0" err="1"/>
              <a:t>test.length</a:t>
            </a:r>
            <a:r>
              <a:rPr lang="en-US" altLang="ko-KR" dirty="0"/>
              <a:t>&gt;5&amp;&amp;”</a:t>
            </a:r>
            <a:r>
              <a:rPr lang="ko-KR" altLang="en-US" dirty="0"/>
              <a:t>출력문구</a:t>
            </a:r>
            <a:r>
              <a:rPr lang="en-US" altLang="ko-KR" dirty="0"/>
              <a:t>”}&lt;/p&gt;</a:t>
            </a:r>
          </a:p>
          <a:p>
            <a:r>
              <a:rPr lang="en-US" altLang="ko-KR" dirty="0"/>
              <a:t>	&lt;p&gt;{</a:t>
            </a:r>
            <a:r>
              <a:rPr lang="en-US" altLang="ko-KR" dirty="0" err="1"/>
              <a:t>test.length</a:t>
            </a:r>
            <a:r>
              <a:rPr lang="en-US" altLang="ko-KR" dirty="0"/>
              <a:t>&gt;5?”</a:t>
            </a:r>
            <a:r>
              <a:rPr lang="ko-KR" altLang="en-US" dirty="0"/>
              <a:t>맞으면</a:t>
            </a:r>
            <a:r>
              <a:rPr lang="en-US" altLang="ko-KR" dirty="0"/>
              <a:t>”:”</a:t>
            </a:r>
            <a:r>
              <a:rPr lang="ko-KR" altLang="en-US" dirty="0"/>
              <a:t>아니면</a:t>
            </a:r>
            <a:r>
              <a:rPr lang="en-US" altLang="ko-KR" dirty="0"/>
              <a:t>”}&lt;/p&gt;</a:t>
            </a:r>
          </a:p>
          <a:p>
            <a:r>
              <a:rPr lang="en-US" altLang="ko-KR" dirty="0"/>
              <a:t>            &lt;/div&gt;</a:t>
            </a:r>
          </a:p>
          <a:p>
            <a:r>
              <a:rPr lang="en-US" altLang="ko-KR" dirty="0"/>
              <a:t>       )</a:t>
            </a:r>
          </a:p>
          <a:p>
            <a:r>
              <a:rPr lang="en-US" altLang="ko-KR" dirty="0"/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3893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1C14-DC7F-E9AE-1F23-EBE44ED7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1E03D2-A2D4-A8C4-95E1-F3FB742FC3E0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JSX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문법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27932" y="970409"/>
            <a:ext cx="62586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ko-KR" alt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타입별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저장된 데이터 출력하기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0CC0815-AB5B-F680-2036-541D44CD8E84}"/>
              </a:ext>
            </a:extLst>
          </p:cNvPr>
          <p:cNvSpPr/>
          <p:nvPr/>
        </p:nvSpPr>
        <p:spPr>
          <a:xfrm>
            <a:off x="965749" y="1558640"/>
            <a:ext cx="7945330" cy="1356010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함수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클래스내부에 선언된 변수에 저장된 값을 출력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일반 값 또는 배열에 저장된 값을 출력할 수 있음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객체는 출력이 불가능하여 배열로 변환하거나 값에 직접 접근해서 출력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20140" y="3074670"/>
            <a:ext cx="2882520" cy="32778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변수에 저장된 값 출력하기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export default function(){</a:t>
            </a:r>
          </a:p>
          <a:p>
            <a:r>
              <a:rPr lang="en-US" altLang="ko-KR" dirty="0"/>
              <a:t>      </a:t>
            </a:r>
            <a:r>
              <a:rPr lang="ko-KR" altLang="en-US" dirty="0"/>
              <a:t> </a:t>
            </a:r>
            <a:r>
              <a:rPr lang="en-US" altLang="ko-KR" dirty="0" err="1"/>
              <a:t>const</a:t>
            </a:r>
            <a:r>
              <a:rPr lang="en-US" altLang="ko-KR" dirty="0"/>
              <a:t> test=“</a:t>
            </a:r>
            <a:r>
              <a:rPr lang="ko-KR" altLang="en-US" dirty="0"/>
              <a:t>테스트</a:t>
            </a:r>
            <a:r>
              <a:rPr lang="en-US" altLang="ko-KR" dirty="0"/>
              <a:t>”;</a:t>
            </a:r>
          </a:p>
          <a:p>
            <a:r>
              <a:rPr lang="en-US" altLang="ko-KR" dirty="0"/>
              <a:t>       </a:t>
            </a:r>
            <a:r>
              <a:rPr lang="en-US" altLang="ko-KR" dirty="0" err="1"/>
              <a:t>const</a:t>
            </a:r>
            <a:r>
              <a:rPr lang="en-US" altLang="ko-KR" dirty="0"/>
              <a:t> </a:t>
            </a:r>
            <a:r>
              <a:rPr lang="en-US" altLang="ko-KR" dirty="0" err="1"/>
              <a:t>arr</a:t>
            </a:r>
            <a:r>
              <a:rPr lang="en-US" altLang="ko-KR" dirty="0"/>
              <a:t>=[1,2,3,4];</a:t>
            </a:r>
          </a:p>
          <a:p>
            <a:r>
              <a:rPr lang="en-US" altLang="ko-KR" dirty="0"/>
              <a:t>      return (</a:t>
            </a:r>
          </a:p>
          <a:p>
            <a:r>
              <a:rPr lang="en-US" altLang="ko-KR" dirty="0"/>
              <a:t>            &lt;div&gt;</a:t>
            </a:r>
          </a:p>
          <a:p>
            <a:r>
              <a:rPr lang="en-US" altLang="ko-KR" dirty="0"/>
              <a:t>	&lt;p&gt;{test}&lt;/p&gt;</a:t>
            </a:r>
          </a:p>
          <a:p>
            <a:r>
              <a:rPr lang="en-US" altLang="ko-KR" dirty="0"/>
              <a:t>	&lt;p&gt;{</a:t>
            </a:r>
            <a:r>
              <a:rPr lang="en-US" altLang="ko-KR" dirty="0" err="1"/>
              <a:t>arr</a:t>
            </a:r>
            <a:r>
              <a:rPr lang="en-US" altLang="ko-KR" dirty="0"/>
              <a:t>}&lt;/p&gt;</a:t>
            </a:r>
          </a:p>
          <a:p>
            <a:r>
              <a:rPr lang="en-US" altLang="ko-KR" dirty="0"/>
              <a:t>            &lt;/div&gt;</a:t>
            </a:r>
          </a:p>
          <a:p>
            <a:r>
              <a:rPr lang="en-US" altLang="ko-KR" dirty="0"/>
              <a:t>       )</a:t>
            </a:r>
          </a:p>
          <a:p>
            <a:r>
              <a:rPr lang="en-US" altLang="ko-KR" dirty="0"/>
              <a:t>}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594860" y="3074670"/>
            <a:ext cx="3601883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객체</a:t>
            </a:r>
            <a:r>
              <a:rPr lang="en-US" altLang="ko-KR" dirty="0"/>
              <a:t> </a:t>
            </a:r>
            <a:r>
              <a:rPr lang="ko-KR" altLang="en-US" dirty="0"/>
              <a:t>데이터</a:t>
            </a:r>
            <a:r>
              <a:rPr lang="en-US" altLang="ko-KR" dirty="0"/>
              <a:t> </a:t>
            </a:r>
            <a:r>
              <a:rPr lang="ko-KR" altLang="en-US" dirty="0"/>
              <a:t>출력하기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export default function(){</a:t>
            </a:r>
          </a:p>
          <a:p>
            <a:r>
              <a:rPr lang="en-US" altLang="ko-KR" dirty="0"/>
              <a:t>      </a:t>
            </a:r>
            <a:r>
              <a:rPr lang="ko-KR" altLang="en-US" dirty="0"/>
              <a:t> </a:t>
            </a:r>
            <a:r>
              <a:rPr lang="en-US" altLang="ko-KR" dirty="0" err="1"/>
              <a:t>const</a:t>
            </a:r>
            <a:r>
              <a:rPr lang="en-US" altLang="ko-KR" dirty="0"/>
              <a:t> test={name:”test”,age:19};</a:t>
            </a:r>
          </a:p>
          <a:p>
            <a:r>
              <a:rPr lang="en-US" altLang="ko-KR" dirty="0"/>
              <a:t>       return (</a:t>
            </a:r>
          </a:p>
          <a:p>
            <a:r>
              <a:rPr lang="en-US" altLang="ko-KR" dirty="0"/>
              <a:t>            &lt;div&gt;</a:t>
            </a:r>
          </a:p>
          <a:p>
            <a:r>
              <a:rPr lang="en-US" altLang="ko-KR" dirty="0"/>
              <a:t>	&lt;p&gt;{test.name}&lt;/p&gt;</a:t>
            </a:r>
          </a:p>
          <a:p>
            <a:r>
              <a:rPr lang="en-US" altLang="ko-KR" dirty="0"/>
              <a:t>	&lt;p&gt;{</a:t>
            </a:r>
            <a:r>
              <a:rPr lang="en-US" altLang="ko-KR" dirty="0" err="1"/>
              <a:t>test.age</a:t>
            </a:r>
            <a:r>
              <a:rPr lang="en-US" altLang="ko-KR" dirty="0"/>
              <a:t>}&lt;/p&gt;</a:t>
            </a:r>
          </a:p>
          <a:p>
            <a:r>
              <a:rPr lang="en-US" altLang="ko-KR" dirty="0"/>
              <a:t>	&lt;p&gt;{</a:t>
            </a:r>
            <a:r>
              <a:rPr lang="en-US" altLang="ko-KR" dirty="0" err="1"/>
              <a:t>func</a:t>
            </a:r>
            <a:r>
              <a:rPr lang="en-US" altLang="ko-KR" dirty="0"/>
              <a:t>()}&lt;/p&gt;</a:t>
            </a:r>
          </a:p>
          <a:p>
            <a:r>
              <a:rPr lang="en-US" altLang="ko-KR" dirty="0"/>
              <a:t>            &lt;/div&gt;)</a:t>
            </a:r>
          </a:p>
          <a:p>
            <a:r>
              <a:rPr lang="en-US" altLang="ko-KR" dirty="0"/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7371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1C14-DC7F-E9AE-1F23-EBE44ED7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1E03D2-A2D4-A8C4-95E1-F3FB742FC3E0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JSX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문법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27932" y="970409"/>
            <a:ext cx="6955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배열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, 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객체 리스트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/ 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테이블로 출력하기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0CC0815-AB5B-F680-2036-541D44CD8E84}"/>
              </a:ext>
            </a:extLst>
          </p:cNvPr>
          <p:cNvSpPr/>
          <p:nvPr/>
        </p:nvSpPr>
        <p:spPr>
          <a:xfrm>
            <a:off x="965749" y="1558640"/>
            <a:ext cx="7945330" cy="1847500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리스트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객체 리스트를 특정 태그로 출력하려면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Array, Object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가 제공하는 내장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메소드를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이용해서 출력할 수 있음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*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Array.map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(),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Object.key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(),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Object.values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() 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기본적으로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JSX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내부에서는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for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문을 사용할 수 없음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" y="3566160"/>
            <a:ext cx="3555012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리스트로 출력하기 </a:t>
            </a:r>
            <a:r>
              <a:rPr lang="en-US" altLang="ko-KR" dirty="0"/>
              <a:t>-&gt; </a:t>
            </a:r>
            <a:r>
              <a:rPr lang="ko-KR" altLang="en-US" dirty="0"/>
              <a:t>배열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export default function(){</a:t>
            </a:r>
          </a:p>
          <a:p>
            <a:r>
              <a:rPr lang="en-US" altLang="ko-KR" dirty="0"/>
              <a:t>      </a:t>
            </a:r>
            <a:r>
              <a:rPr lang="ko-KR" altLang="en-US" dirty="0"/>
              <a:t> </a:t>
            </a:r>
            <a:r>
              <a:rPr lang="en-US" altLang="ko-KR" dirty="0" err="1"/>
              <a:t>const</a:t>
            </a:r>
            <a:r>
              <a:rPr lang="en-US" altLang="ko-KR" dirty="0"/>
              <a:t> test=[“</a:t>
            </a:r>
            <a:r>
              <a:rPr lang="ko-KR" altLang="en-US" dirty="0"/>
              <a:t>토끼</a:t>
            </a:r>
            <a:r>
              <a:rPr lang="en-US" altLang="ko-KR" dirty="0"/>
              <a:t>”,”</a:t>
            </a:r>
            <a:r>
              <a:rPr lang="ko-KR" altLang="en-US" dirty="0"/>
              <a:t>거북이</a:t>
            </a:r>
            <a:r>
              <a:rPr lang="en-US" altLang="ko-KR" dirty="0"/>
              <a:t>”,</a:t>
            </a:r>
          </a:p>
          <a:p>
            <a:r>
              <a:rPr lang="en-US" altLang="ko-KR" dirty="0"/>
              <a:t>                            ”</a:t>
            </a:r>
            <a:r>
              <a:rPr lang="ko-KR" altLang="en-US" dirty="0"/>
              <a:t>곰</a:t>
            </a:r>
            <a:r>
              <a:rPr lang="en-US" altLang="ko-KR" dirty="0"/>
              <a:t>”,”</a:t>
            </a:r>
            <a:r>
              <a:rPr lang="ko-KR" altLang="en-US" dirty="0"/>
              <a:t>늑대</a:t>
            </a:r>
            <a:r>
              <a:rPr lang="en-US" altLang="ko-KR" dirty="0"/>
              <a:t>”];</a:t>
            </a:r>
          </a:p>
          <a:p>
            <a:r>
              <a:rPr lang="en-US" altLang="ko-KR" dirty="0"/>
              <a:t>      return (</a:t>
            </a:r>
          </a:p>
          <a:p>
            <a:r>
              <a:rPr lang="en-US" altLang="ko-KR" dirty="0"/>
              <a:t>            &lt;div&gt;</a:t>
            </a:r>
          </a:p>
          <a:p>
            <a:r>
              <a:rPr lang="en-US" altLang="ko-KR" dirty="0"/>
              <a:t>	{</a:t>
            </a:r>
            <a:r>
              <a:rPr lang="en-US" altLang="ko-KR" dirty="0" err="1"/>
              <a:t>rest.map</a:t>
            </a:r>
            <a:r>
              <a:rPr lang="en-US" altLang="ko-KR" dirty="0"/>
              <a:t>(e=&gt;&lt;p&gt;{e}&lt;/p&gt;}</a:t>
            </a:r>
          </a:p>
          <a:p>
            <a:r>
              <a:rPr lang="en-US" altLang="ko-KR" dirty="0"/>
              <a:t>            &lt;/div&gt;</a:t>
            </a:r>
          </a:p>
          <a:p>
            <a:r>
              <a:rPr lang="en-US" altLang="ko-KR" dirty="0"/>
              <a:t>       )</a:t>
            </a:r>
          </a:p>
          <a:p>
            <a:r>
              <a:rPr lang="en-US" altLang="ko-KR" dirty="0"/>
              <a:t>}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49140" y="3566160"/>
            <a:ext cx="456496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리스트로 출력하기 </a:t>
            </a:r>
            <a:r>
              <a:rPr lang="en-US" altLang="ko-KR" dirty="0"/>
              <a:t>-&gt; </a:t>
            </a:r>
            <a:r>
              <a:rPr lang="ko-KR" altLang="en-US" dirty="0"/>
              <a:t>배열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export default function(){</a:t>
            </a:r>
          </a:p>
          <a:p>
            <a:r>
              <a:rPr lang="en-US" altLang="ko-KR" dirty="0"/>
              <a:t>      </a:t>
            </a:r>
            <a:r>
              <a:rPr lang="ko-KR" altLang="en-US" dirty="0"/>
              <a:t> </a:t>
            </a:r>
            <a:r>
              <a:rPr lang="en-US" altLang="ko-KR" dirty="0" err="1"/>
              <a:t>const</a:t>
            </a:r>
            <a:r>
              <a:rPr lang="en-US" altLang="ko-KR" dirty="0"/>
              <a:t> student = { name: "</a:t>
            </a:r>
            <a:r>
              <a:rPr lang="ko-KR" altLang="en-US" dirty="0"/>
              <a:t>홍길동</a:t>
            </a:r>
            <a:r>
              <a:rPr lang="en-US" altLang="ko-KR" dirty="0"/>
              <a:t>", </a:t>
            </a:r>
          </a:p>
          <a:p>
            <a:r>
              <a:rPr lang="en-US" altLang="ko-KR" dirty="0"/>
              <a:t>           grade: 1, </a:t>
            </a:r>
            <a:r>
              <a:rPr lang="en-US" altLang="ko-KR" dirty="0" err="1"/>
              <a:t>classNum</a:t>
            </a:r>
            <a:r>
              <a:rPr lang="en-US" altLang="ko-KR" dirty="0"/>
              <a:t>: 2, gender: "</a:t>
            </a:r>
            <a:r>
              <a:rPr lang="ko-KR" altLang="en-US" dirty="0"/>
              <a:t>남</a:t>
            </a:r>
            <a:r>
              <a:rPr lang="en-US" altLang="ko-KR" dirty="0"/>
              <a:t>"</a:t>
            </a:r>
            <a:r>
              <a:rPr lang="ko-KR" altLang="en-US" dirty="0"/>
              <a:t> </a:t>
            </a:r>
            <a:r>
              <a:rPr lang="en-US" altLang="ko-KR" dirty="0"/>
              <a:t>};</a:t>
            </a:r>
          </a:p>
          <a:p>
            <a:r>
              <a:rPr lang="en-US" altLang="ko-KR" dirty="0"/>
              <a:t>      return (&lt;</a:t>
            </a:r>
            <a:r>
              <a:rPr lang="en-US" altLang="ko-KR" dirty="0" err="1"/>
              <a:t>ul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                   {</a:t>
            </a:r>
            <a:r>
              <a:rPr lang="en-US" altLang="ko-KR" dirty="0" err="1"/>
              <a:t>Object.values</a:t>
            </a:r>
            <a:r>
              <a:rPr lang="en-US" altLang="ko-KR" dirty="0"/>
              <a:t>(student).map((s) =&gt; (</a:t>
            </a:r>
          </a:p>
          <a:p>
            <a:r>
              <a:rPr lang="en-US" altLang="ko-KR" dirty="0"/>
              <a:t>                      &lt;li&gt;{s}&lt;/li&gt;))}</a:t>
            </a:r>
          </a:p>
          <a:p>
            <a:r>
              <a:rPr lang="en-US" altLang="ko-KR" dirty="0"/>
              <a:t>               &lt;/</a:t>
            </a:r>
            <a:r>
              <a:rPr lang="en-US" altLang="ko-KR" dirty="0" err="1"/>
              <a:t>ul</a:t>
            </a:r>
            <a:r>
              <a:rPr lang="en-US" altLang="ko-KR" dirty="0"/>
              <a:t>&gt;)</a:t>
            </a:r>
          </a:p>
          <a:p>
            <a:r>
              <a:rPr lang="en-US" altLang="ko-KR" dirty="0"/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37500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1C14-DC7F-E9AE-1F23-EBE44ED7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1E03D2-A2D4-A8C4-95E1-F3FB742FC3E0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JSX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문법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27932" y="970409"/>
            <a:ext cx="6955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ko-KR" alt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커스텀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함수로 출력하기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0CC0815-AB5B-F680-2036-541D44CD8E84}"/>
              </a:ext>
            </a:extLst>
          </p:cNvPr>
          <p:cNvSpPr/>
          <p:nvPr/>
        </p:nvSpPr>
        <p:spPr>
          <a:xfrm>
            <a:off x="965749" y="1558640"/>
            <a:ext cx="7945330" cy="1378870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반환형이 있는 함수를 이용해서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JSX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출력하기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값이나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JSX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방식으로 데이터를 화면에 출력할 수 있음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다수태그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(li, table)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은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JSX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배열로 반환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0140" y="3131820"/>
            <a:ext cx="355501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값을 반환하는 함수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export default function(){</a:t>
            </a:r>
          </a:p>
          <a:p>
            <a:r>
              <a:rPr lang="en-US" altLang="ko-KR" dirty="0"/>
              <a:t>      </a:t>
            </a:r>
            <a:r>
              <a:rPr lang="ko-KR" altLang="en-US" dirty="0"/>
              <a:t> </a:t>
            </a:r>
            <a:r>
              <a:rPr lang="en-US" altLang="ko-KR" dirty="0" err="1"/>
              <a:t>const</a:t>
            </a:r>
            <a:r>
              <a:rPr lang="en-US" altLang="ko-KR" dirty="0"/>
              <a:t> test=()=&gt;{return “test”;};</a:t>
            </a:r>
          </a:p>
          <a:p>
            <a:r>
              <a:rPr lang="en-US" altLang="ko-KR" dirty="0"/>
              <a:t>      return (</a:t>
            </a:r>
          </a:p>
          <a:p>
            <a:r>
              <a:rPr lang="en-US" altLang="ko-KR" dirty="0"/>
              <a:t>            &lt;div&gt;</a:t>
            </a:r>
          </a:p>
          <a:p>
            <a:r>
              <a:rPr lang="en-US" altLang="ko-KR" dirty="0"/>
              <a:t>	{</a:t>
            </a:r>
            <a:r>
              <a:rPr lang="en-US" altLang="ko-KR" dirty="0" err="1"/>
              <a:t>resttest</a:t>
            </a:r>
            <a:r>
              <a:rPr lang="en-US" altLang="ko-KR" dirty="0"/>
              <a:t>()}</a:t>
            </a:r>
          </a:p>
          <a:p>
            <a:r>
              <a:rPr lang="en-US" altLang="ko-KR" dirty="0"/>
              <a:t>            &lt;/div&gt;</a:t>
            </a:r>
          </a:p>
          <a:p>
            <a:r>
              <a:rPr lang="en-US" altLang="ko-KR" dirty="0"/>
              <a:t>       )</a:t>
            </a:r>
          </a:p>
          <a:p>
            <a:r>
              <a:rPr lang="en-US" altLang="ko-KR" dirty="0"/>
              <a:t>}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49140" y="3131820"/>
            <a:ext cx="306744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JSX</a:t>
            </a:r>
            <a:r>
              <a:rPr lang="ko-KR" altLang="en-US" dirty="0"/>
              <a:t>반환하는 함수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export default function(){</a:t>
            </a:r>
          </a:p>
          <a:p>
            <a:r>
              <a:rPr lang="en-US" altLang="ko-KR" dirty="0"/>
              <a:t>      </a:t>
            </a:r>
            <a:r>
              <a:rPr lang="ko-KR" altLang="en-US" dirty="0"/>
              <a:t> </a:t>
            </a:r>
            <a:r>
              <a:rPr lang="en-US" altLang="ko-KR" dirty="0" err="1"/>
              <a:t>const</a:t>
            </a:r>
            <a:r>
              <a:rPr lang="en-US" altLang="ko-KR" dirty="0"/>
              <a:t> test= (title)=&gt;{</a:t>
            </a:r>
          </a:p>
          <a:p>
            <a:r>
              <a:rPr lang="en-US" altLang="ko-KR" dirty="0"/>
              <a:t>	return &lt;p&gt;{title}&lt;/p&gt;</a:t>
            </a:r>
          </a:p>
          <a:p>
            <a:r>
              <a:rPr lang="en-US" altLang="ko-KR" dirty="0"/>
              <a:t>      }</a:t>
            </a:r>
          </a:p>
          <a:p>
            <a:r>
              <a:rPr lang="en-US" altLang="ko-KR" dirty="0"/>
              <a:t>      return (&lt;div&gt;</a:t>
            </a:r>
          </a:p>
          <a:p>
            <a:r>
              <a:rPr lang="en-US" altLang="ko-KR" dirty="0"/>
              <a:t>	{test()}</a:t>
            </a:r>
          </a:p>
          <a:p>
            <a:r>
              <a:rPr lang="en-US" altLang="ko-KR" dirty="0"/>
              <a:t>       &lt;/div&gt;)</a:t>
            </a:r>
          </a:p>
          <a:p>
            <a:r>
              <a:rPr lang="en-US" altLang="ko-KR" dirty="0"/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70380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1C14-DC7F-E9AE-1F23-EBE44ED7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1E03D2-A2D4-A8C4-95E1-F3FB742FC3E0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JSX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문법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27932" y="970409"/>
            <a:ext cx="46127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ko-KR" alt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조건문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사용하기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0CC0815-AB5B-F680-2036-541D44CD8E84}"/>
              </a:ext>
            </a:extLst>
          </p:cNvPr>
          <p:cNvSpPr/>
          <p:nvPr/>
        </p:nvSpPr>
        <p:spPr>
          <a:xfrm>
            <a:off x="965749" y="1558640"/>
            <a:ext cx="7945330" cy="1653190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if, switch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문을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JSX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구문에서 사용할 수 없고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삼항연산자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간편연산자로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조건문으로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설정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단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if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문이나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switch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문을 이용해서 처리하려면 반환형을 갖는 함수를 이용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0140" y="3371850"/>
            <a:ext cx="7324056" cy="32778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JSX</a:t>
            </a:r>
            <a:r>
              <a:rPr lang="ko-KR" altLang="en-US" dirty="0"/>
              <a:t>에서 </a:t>
            </a:r>
            <a:r>
              <a:rPr lang="ko-KR" altLang="en-US" dirty="0" err="1"/>
              <a:t>조건문</a:t>
            </a:r>
            <a:r>
              <a:rPr lang="ko-KR" altLang="en-US" dirty="0"/>
              <a:t> 활용하기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export default function(){</a:t>
            </a:r>
          </a:p>
          <a:p>
            <a:r>
              <a:rPr lang="en-US" altLang="ko-KR" dirty="0"/>
              <a:t>      </a:t>
            </a:r>
            <a:r>
              <a:rPr lang="ko-KR" altLang="en-US" dirty="0"/>
              <a:t> </a:t>
            </a:r>
            <a:r>
              <a:rPr lang="en-US" altLang="ko-KR" dirty="0" err="1"/>
              <a:t>const</a:t>
            </a:r>
            <a:r>
              <a:rPr lang="en-US" altLang="ko-KR" dirty="0"/>
              <a:t> test=“</a:t>
            </a:r>
            <a:r>
              <a:rPr lang="ko-KR" altLang="en-US" dirty="0"/>
              <a:t>테스트</a:t>
            </a:r>
            <a:r>
              <a:rPr lang="en-US" altLang="ko-KR" dirty="0"/>
              <a:t>”;</a:t>
            </a:r>
          </a:p>
          <a:p>
            <a:r>
              <a:rPr lang="en-US" altLang="ko-KR" dirty="0"/>
              <a:t>       </a:t>
            </a:r>
            <a:r>
              <a:rPr lang="en-US" altLang="ko-KR" dirty="0" err="1"/>
              <a:t>const</a:t>
            </a:r>
            <a:r>
              <a:rPr lang="en-US" altLang="ko-KR" dirty="0"/>
              <a:t> </a:t>
            </a:r>
            <a:r>
              <a:rPr lang="en-US" altLang="ko-KR" dirty="0" err="1"/>
              <a:t>arr</a:t>
            </a:r>
            <a:r>
              <a:rPr lang="en-US" altLang="ko-KR" dirty="0"/>
              <a:t>=[1,2,3,4];</a:t>
            </a:r>
          </a:p>
          <a:p>
            <a:r>
              <a:rPr lang="en-US" altLang="ko-KR" dirty="0"/>
              <a:t>      return (</a:t>
            </a:r>
          </a:p>
          <a:p>
            <a:r>
              <a:rPr lang="en-US" altLang="ko-KR" dirty="0"/>
              <a:t>            &lt;div&gt;</a:t>
            </a:r>
          </a:p>
          <a:p>
            <a:r>
              <a:rPr lang="en-US" altLang="ko-KR" dirty="0"/>
              <a:t>	&lt;p&gt;{test==‘</a:t>
            </a:r>
            <a:r>
              <a:rPr lang="ko-KR" altLang="en-US" dirty="0"/>
              <a:t>테스트</a:t>
            </a:r>
            <a:r>
              <a:rPr lang="en-US" altLang="ko-KR" dirty="0"/>
              <a:t>’?”</a:t>
            </a:r>
            <a:r>
              <a:rPr lang="ko-KR" altLang="en-US" dirty="0"/>
              <a:t>테스트데이터</a:t>
            </a:r>
            <a:r>
              <a:rPr lang="en-US" altLang="ko-KR" dirty="0"/>
              <a:t>”:”</a:t>
            </a:r>
            <a:r>
              <a:rPr lang="ko-KR" altLang="en-US" dirty="0"/>
              <a:t>테스트가 아닙니다</a:t>
            </a:r>
            <a:r>
              <a:rPr lang="en-US" altLang="ko-KR" dirty="0"/>
              <a:t>.”}&lt;/p&gt;</a:t>
            </a:r>
          </a:p>
          <a:p>
            <a:r>
              <a:rPr lang="en-US" altLang="ko-KR" dirty="0"/>
              <a:t>	&lt;p&gt;{</a:t>
            </a:r>
            <a:r>
              <a:rPr lang="en-US" altLang="ko-KR" dirty="0" err="1"/>
              <a:t>arr.includes</a:t>
            </a:r>
            <a:r>
              <a:rPr lang="en-US" altLang="ko-KR" dirty="0"/>
              <a:t>(“1”)&amp;&amp;”1</a:t>
            </a:r>
            <a:r>
              <a:rPr lang="ko-KR" altLang="en-US" dirty="0"/>
              <a:t>이</a:t>
            </a:r>
            <a:r>
              <a:rPr lang="en-US" altLang="ko-KR" dirty="0"/>
              <a:t> </a:t>
            </a:r>
            <a:r>
              <a:rPr lang="ko-KR" altLang="en-US" dirty="0"/>
              <a:t>있어요</a:t>
            </a:r>
            <a:r>
              <a:rPr lang="en-US" altLang="ko-KR" dirty="0"/>
              <a:t>!”}&lt;/p&gt;</a:t>
            </a:r>
          </a:p>
          <a:p>
            <a:r>
              <a:rPr lang="en-US" altLang="ko-KR" dirty="0"/>
              <a:t>	&lt;p&gt;{</a:t>
            </a:r>
            <a:r>
              <a:rPr lang="en-US" altLang="ko-KR" dirty="0" err="1"/>
              <a:t>arr.includes</a:t>
            </a:r>
            <a:r>
              <a:rPr lang="en-US" altLang="ko-KR" dirty="0"/>
              <a:t>(“10”)||”10</a:t>
            </a:r>
            <a:r>
              <a:rPr lang="ko-KR" altLang="en-US" dirty="0"/>
              <a:t>이 없어요</a:t>
            </a:r>
            <a:r>
              <a:rPr lang="en-US" altLang="ko-KR" dirty="0"/>
              <a:t>!”}&lt;/p&gt;</a:t>
            </a:r>
          </a:p>
          <a:p>
            <a:r>
              <a:rPr lang="en-US" altLang="ko-KR" dirty="0"/>
              <a:t>            &lt;/div&gt;)</a:t>
            </a:r>
          </a:p>
          <a:p>
            <a:r>
              <a:rPr lang="en-US" altLang="ko-KR" dirty="0"/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47049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FDE66-11F9-C188-4090-E6B3EE142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그룹 8">
            <a:extLst>
              <a:ext uri="{FF2B5EF4-FFF2-40B4-BE49-F238E27FC236}">
                <a16:creationId xmlns:a16="http://schemas.microsoft.com/office/drawing/2014/main" id="{7CCD256C-D074-2C03-99CB-FF4B7DF65C73}"/>
              </a:ext>
            </a:extLst>
          </p:cNvPr>
          <p:cNvGrpSpPr>
            <a:grpSpLocks/>
          </p:cNvGrpSpPr>
          <p:nvPr/>
        </p:nvGrpSpPr>
        <p:grpSpPr bwMode="auto">
          <a:xfrm>
            <a:off x="2020491" y="1916906"/>
            <a:ext cx="5089922" cy="3090863"/>
            <a:chOff x="3413702" y="746702"/>
            <a:chExt cx="5364596" cy="5364596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0B31609-D4C9-DD6C-24C7-CA19541A239A}"/>
                </a:ext>
              </a:extLst>
            </p:cNvPr>
            <p:cNvSpPr/>
            <p:nvPr/>
          </p:nvSpPr>
          <p:spPr>
            <a:xfrm>
              <a:off x="3413702" y="746702"/>
              <a:ext cx="5364596" cy="5364596"/>
            </a:xfrm>
            <a:prstGeom prst="rect">
              <a:avLst/>
            </a:prstGeom>
            <a:gradFill flip="none" rotWithShape="1">
              <a:gsLst>
                <a:gs pos="0">
                  <a:srgbClr val="E3DCC1"/>
                </a:gs>
                <a:gs pos="69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E493A0B-6B80-E8C4-BDA0-AD513FCDDE1C}"/>
                </a:ext>
              </a:extLst>
            </p:cNvPr>
            <p:cNvSpPr/>
            <p:nvPr/>
          </p:nvSpPr>
          <p:spPr>
            <a:xfrm>
              <a:off x="3541699" y="928553"/>
              <a:ext cx="5122405" cy="50008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4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React</a:t>
              </a:r>
            </a:p>
            <a:p>
              <a:pPr algn="ctr">
                <a:defRPr/>
              </a:pPr>
              <a:r>
                <a:rPr lang="ko-KR" altLang="en-US" sz="4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스타일적용</a:t>
              </a:r>
              <a:endParaRPr lang="en-US" altLang="ko-KR" sz="4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09874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1C14-DC7F-E9AE-1F23-EBE44ED7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1E03D2-A2D4-A8C4-95E1-F3FB742FC3E0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스타일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27932" y="970409"/>
            <a:ext cx="4201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ko-KR" alt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인라인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스타일 적용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0CC0815-AB5B-F680-2036-541D44CD8E84}"/>
              </a:ext>
            </a:extLst>
          </p:cNvPr>
          <p:cNvSpPr/>
          <p:nvPr/>
        </p:nvSpPr>
        <p:spPr>
          <a:xfrm>
            <a:off x="965749" y="1558640"/>
            <a:ext cx="7945330" cy="1150270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적용할 스타일은 객체로 설정하고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JSX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의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style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속성에 객체를 대입하여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스타일을 적용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0140" y="2903220"/>
            <a:ext cx="4793941" cy="35548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인라인</a:t>
            </a:r>
            <a:r>
              <a:rPr lang="ko-KR" altLang="en-US" dirty="0"/>
              <a:t> 방식으로</a:t>
            </a:r>
            <a:r>
              <a:rPr lang="en-US" altLang="ko-KR" dirty="0"/>
              <a:t> </a:t>
            </a:r>
            <a:r>
              <a:rPr lang="ko-KR" altLang="en-US" dirty="0"/>
              <a:t>적용하기</a:t>
            </a:r>
            <a:endParaRPr lang="en-US" altLang="ko-KR" dirty="0"/>
          </a:p>
          <a:p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export default function(){</a:t>
            </a:r>
          </a:p>
          <a:p>
            <a:r>
              <a:rPr lang="en-US" altLang="ko-KR" dirty="0"/>
              <a:t>     </a:t>
            </a:r>
            <a:r>
              <a:rPr lang="en-US" altLang="ko-KR" dirty="0" err="1"/>
              <a:t>const</a:t>
            </a:r>
            <a:r>
              <a:rPr lang="en-US" altLang="ko-KR" dirty="0"/>
              <a:t> basic = {</a:t>
            </a:r>
          </a:p>
          <a:p>
            <a:r>
              <a:rPr lang="en-US" altLang="ko-KR" dirty="0"/>
              <a:t>         </a:t>
            </a:r>
            <a:r>
              <a:rPr lang="en-US" altLang="ko-KR" dirty="0" err="1"/>
              <a:t>backgroundColor</a:t>
            </a:r>
            <a:r>
              <a:rPr lang="en-US" altLang="ko-KR" dirty="0"/>
              <a:t>: "magenta",</a:t>
            </a:r>
          </a:p>
          <a:p>
            <a:r>
              <a:rPr lang="en-US" altLang="ko-KR" dirty="0"/>
              <a:t>         </a:t>
            </a:r>
            <a:r>
              <a:rPr lang="en-US" altLang="ko-KR" dirty="0" err="1"/>
              <a:t>color:”white</a:t>
            </a:r>
            <a:r>
              <a:rPr lang="en-US" altLang="ko-KR" dirty="0"/>
              <a:t>”,</a:t>
            </a:r>
          </a:p>
          <a:p>
            <a:r>
              <a:rPr lang="en-US" altLang="ko-KR" dirty="0"/>
              <a:t>      };</a:t>
            </a:r>
          </a:p>
          <a:p>
            <a:r>
              <a:rPr lang="en-US" altLang="ko-KR" dirty="0"/>
              <a:t>      return (</a:t>
            </a:r>
          </a:p>
          <a:p>
            <a:r>
              <a:rPr lang="en-US" altLang="ko-KR" dirty="0"/>
              <a:t>            &lt;div&gt;</a:t>
            </a:r>
          </a:p>
          <a:p>
            <a:r>
              <a:rPr lang="en-US" altLang="ko-KR" dirty="0"/>
              <a:t>	&lt;p style={basic}&gt;</a:t>
            </a:r>
            <a:r>
              <a:rPr lang="ko-KR" altLang="en-US" dirty="0"/>
              <a:t>스타일 적용하기</a:t>
            </a:r>
            <a:r>
              <a:rPr lang="en-US" altLang="ko-KR" dirty="0"/>
              <a:t>&lt;/p&gt;</a:t>
            </a:r>
          </a:p>
          <a:p>
            <a:r>
              <a:rPr lang="en-US" altLang="ko-KR" dirty="0"/>
              <a:t>            &lt;/div&gt;)</a:t>
            </a:r>
          </a:p>
          <a:p>
            <a:r>
              <a:rPr lang="en-US" altLang="ko-KR" dirty="0"/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45171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1C14-DC7F-E9AE-1F23-EBE44ED7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1E03D2-A2D4-A8C4-95E1-F3FB742FC3E0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스타일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27932" y="970409"/>
            <a:ext cx="4201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css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파일로 스타일 적용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0CC0815-AB5B-F680-2036-541D44CD8E84}"/>
              </a:ext>
            </a:extLst>
          </p:cNvPr>
          <p:cNvSpPr/>
          <p:nvPr/>
        </p:nvSpPr>
        <p:spPr>
          <a:xfrm>
            <a:off x="965749" y="1558640"/>
            <a:ext cx="7945330" cy="2087530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assets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폴더 또는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static-resource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를 저장하는 폴더에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css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파일을 생성 후 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적용할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JSX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파일에서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import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로 불러와 사용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import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문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: import ‘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경로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+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파일명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.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css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’ 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적용된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style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은 전역으로 설정되어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style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을 컴포넌트 별로 구분해서 관리하는 것이 어려움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37610" y="3886200"/>
            <a:ext cx="5294783" cy="2723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css</a:t>
            </a:r>
            <a:r>
              <a:rPr lang="ko-KR" altLang="en-US" dirty="0"/>
              <a:t>파일로 적용하기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import ‘../../assets/style.css’;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export default function(){</a:t>
            </a:r>
          </a:p>
          <a:p>
            <a:r>
              <a:rPr lang="en-US" altLang="ko-KR" dirty="0"/>
              <a:t>        return (</a:t>
            </a:r>
          </a:p>
          <a:p>
            <a:r>
              <a:rPr lang="en-US" altLang="ko-KR" dirty="0"/>
              <a:t>            &lt;div&gt;</a:t>
            </a:r>
          </a:p>
          <a:p>
            <a:r>
              <a:rPr lang="en-US" altLang="ko-KR" dirty="0"/>
              <a:t>	&lt;p </a:t>
            </a:r>
            <a:r>
              <a:rPr lang="en-US" altLang="ko-KR" dirty="0" err="1"/>
              <a:t>className</a:t>
            </a:r>
            <a:r>
              <a:rPr lang="en-US" altLang="ko-KR" dirty="0"/>
              <a:t>=“test”&gt;</a:t>
            </a:r>
            <a:r>
              <a:rPr lang="ko-KR" altLang="en-US" dirty="0"/>
              <a:t>스타일 적용하기</a:t>
            </a:r>
            <a:r>
              <a:rPr lang="en-US" altLang="ko-KR" dirty="0"/>
              <a:t>&lt;/p&gt;</a:t>
            </a:r>
          </a:p>
          <a:p>
            <a:r>
              <a:rPr lang="en-US" altLang="ko-KR" dirty="0"/>
              <a:t>            &lt;/div&gt;)</a:t>
            </a:r>
          </a:p>
          <a:p>
            <a:r>
              <a:rPr lang="en-US" altLang="ko-KR" dirty="0"/>
              <a:t>}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34329" y="3912543"/>
            <a:ext cx="260597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css</a:t>
            </a:r>
            <a:r>
              <a:rPr lang="ko-KR" altLang="en-US" dirty="0"/>
              <a:t>파일</a:t>
            </a:r>
            <a:endParaRPr lang="en-US" altLang="ko-KR" dirty="0"/>
          </a:p>
          <a:p>
            <a:r>
              <a:rPr lang="en-US" altLang="ko-KR" dirty="0"/>
              <a:t>.test{</a:t>
            </a:r>
          </a:p>
          <a:p>
            <a:r>
              <a:rPr lang="en-US" altLang="ko-KR" dirty="0"/>
              <a:t>   font-size:20px;</a:t>
            </a:r>
          </a:p>
          <a:p>
            <a:r>
              <a:rPr lang="en-US" altLang="ko-KR" dirty="0"/>
              <a:t>   </a:t>
            </a:r>
            <a:r>
              <a:rPr lang="en-US" altLang="ko-KR" dirty="0" err="1"/>
              <a:t>font-weight:bolder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}</a:t>
            </a:r>
          </a:p>
          <a:p>
            <a:r>
              <a:rPr lang="en-US" altLang="ko-KR" dirty="0"/>
              <a:t>p{</a:t>
            </a:r>
          </a:p>
          <a:p>
            <a:r>
              <a:rPr lang="en-US" altLang="ko-KR" dirty="0"/>
              <a:t>   </a:t>
            </a:r>
            <a:r>
              <a:rPr lang="en-US" altLang="ko-KR" dirty="0" err="1"/>
              <a:t>background-color:black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   </a:t>
            </a:r>
            <a:r>
              <a:rPr lang="en-US" altLang="ko-KR" dirty="0" err="1"/>
              <a:t>color:white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430997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1C14-DC7F-E9AE-1F23-EBE44ED7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1E03D2-A2D4-A8C4-95E1-F3FB742FC3E0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스타일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27932" y="970409"/>
            <a:ext cx="4201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module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로 스타일 적용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0CC0815-AB5B-F680-2036-541D44CD8E84}"/>
              </a:ext>
            </a:extLst>
          </p:cNvPr>
          <p:cNvSpPr/>
          <p:nvPr/>
        </p:nvSpPr>
        <p:spPr>
          <a:xfrm>
            <a:off x="965749" y="1558640"/>
            <a:ext cx="7945330" cy="1767490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css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를 모듈로 관리되어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컴포넌트별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스타일을 적용할 때 사용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css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파일생성시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module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로 처리하는 명명규칙을 준수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명명규칙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파일명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.module.css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import : import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모듈명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from ‘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파일경로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파일명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.module.css’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37610" y="3497580"/>
            <a:ext cx="4555030" cy="32778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css</a:t>
            </a:r>
            <a:r>
              <a:rPr lang="ko-KR" altLang="en-US" dirty="0"/>
              <a:t>파일로 적용하기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import test from ‘../../assets/style.module.css’;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export default function(){</a:t>
            </a:r>
          </a:p>
          <a:p>
            <a:r>
              <a:rPr lang="en-US" altLang="ko-KR" dirty="0"/>
              <a:t>        return (</a:t>
            </a:r>
          </a:p>
          <a:p>
            <a:r>
              <a:rPr lang="en-US" altLang="ko-KR" dirty="0"/>
              <a:t>            &lt;div&gt;</a:t>
            </a:r>
          </a:p>
          <a:p>
            <a:r>
              <a:rPr lang="en-US" altLang="ko-KR" dirty="0"/>
              <a:t>	&lt;p </a:t>
            </a:r>
            <a:r>
              <a:rPr lang="en-US" altLang="ko-KR" dirty="0" err="1"/>
              <a:t>className</a:t>
            </a:r>
            <a:r>
              <a:rPr lang="en-US" altLang="ko-KR" dirty="0"/>
              <a:t>={</a:t>
            </a:r>
            <a:r>
              <a:rPr lang="en-US" altLang="ko-KR" dirty="0" err="1"/>
              <a:t>test.test</a:t>
            </a:r>
            <a:r>
              <a:rPr lang="en-US" altLang="ko-KR" dirty="0"/>
              <a:t>}&gt;</a:t>
            </a:r>
          </a:p>
          <a:p>
            <a:r>
              <a:rPr lang="en-US" altLang="ko-KR" dirty="0"/>
              <a:t>	     </a:t>
            </a:r>
            <a:r>
              <a:rPr lang="ko-KR" altLang="en-US" dirty="0"/>
              <a:t>스타일 적용하기</a:t>
            </a:r>
            <a:endParaRPr lang="en-US" altLang="ko-KR" dirty="0"/>
          </a:p>
          <a:p>
            <a:r>
              <a:rPr lang="en-US" altLang="ko-KR" dirty="0"/>
              <a:t>	&lt;/p&gt;</a:t>
            </a:r>
          </a:p>
          <a:p>
            <a:r>
              <a:rPr lang="en-US" altLang="ko-KR" dirty="0"/>
              <a:t>            &lt;/div&gt;)</a:t>
            </a:r>
          </a:p>
          <a:p>
            <a:r>
              <a:rPr lang="en-US" altLang="ko-KR" dirty="0"/>
              <a:t>}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34329" y="3497580"/>
            <a:ext cx="224676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style.module.css </a:t>
            </a:r>
            <a:r>
              <a:rPr lang="ko-KR" altLang="en-US" dirty="0"/>
              <a:t>파일</a:t>
            </a:r>
            <a:endParaRPr lang="en-US" altLang="ko-KR" dirty="0"/>
          </a:p>
          <a:p>
            <a:r>
              <a:rPr lang="en-US" altLang="ko-KR" dirty="0"/>
              <a:t>.test{</a:t>
            </a:r>
          </a:p>
          <a:p>
            <a:r>
              <a:rPr lang="en-US" altLang="ko-KR" dirty="0"/>
              <a:t>   font-size:20px;</a:t>
            </a:r>
          </a:p>
          <a:p>
            <a:r>
              <a:rPr lang="en-US" altLang="ko-KR" dirty="0"/>
              <a:t>   </a:t>
            </a:r>
            <a:r>
              <a:rPr lang="en-US" altLang="ko-KR" dirty="0" err="1"/>
              <a:t>font-weight:bolder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498709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1C14-DC7F-E9AE-1F23-EBE44ED7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1E03D2-A2D4-A8C4-95E1-F3FB742FC3E0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스타일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27932" y="970409"/>
            <a:ext cx="61100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styled-components 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이용하기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0CC0815-AB5B-F680-2036-541D44CD8E84}"/>
              </a:ext>
            </a:extLst>
          </p:cNvPr>
          <p:cNvSpPr/>
          <p:nvPr/>
        </p:nvSpPr>
        <p:spPr>
          <a:xfrm>
            <a:off x="965749" y="1558640"/>
            <a:ext cx="7945330" cy="2670460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styled-components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라이브러리를 설치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벡틱을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사용해서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css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코드를 자바스크립트 문자열로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작성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(Tagged Template Literals)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컴포넌트 단위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스코프를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가져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클래스명의 충돌 발생하지 않음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컴포넌트에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styled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모듈을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import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해서 사용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styled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는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클래스선택자로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css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를 설정하는 구문을 생성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0140" y="4354830"/>
            <a:ext cx="401686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styled</a:t>
            </a:r>
            <a:r>
              <a:rPr lang="ko-KR" altLang="en-US" dirty="0"/>
              <a:t>모듈 이용해서 스타일 적용</a:t>
            </a:r>
            <a:endParaRPr lang="en-US" altLang="ko-KR" dirty="0"/>
          </a:p>
          <a:p>
            <a:r>
              <a:rPr lang="en-US" altLang="ko-KR" dirty="0"/>
              <a:t>import  styled from ‘styled-components’;</a:t>
            </a:r>
          </a:p>
          <a:p>
            <a:r>
              <a:rPr lang="en-US" altLang="ko-KR" dirty="0" err="1"/>
              <a:t>const</a:t>
            </a:r>
            <a:r>
              <a:rPr lang="en-US" altLang="ko-KR" dirty="0"/>
              <a:t> </a:t>
            </a:r>
            <a:r>
              <a:rPr lang="en-US" altLang="ko-KR" dirty="0" err="1"/>
              <a:t>TestStyle</a:t>
            </a:r>
            <a:r>
              <a:rPr lang="en-US" altLang="ko-KR" dirty="0"/>
              <a:t>=</a:t>
            </a:r>
            <a:r>
              <a:rPr lang="en-US" altLang="ko-KR" dirty="0" err="1"/>
              <a:t>styled.p</a:t>
            </a:r>
            <a:r>
              <a:rPr lang="en-US" altLang="ko-KR" dirty="0"/>
              <a:t>`</a:t>
            </a:r>
          </a:p>
          <a:p>
            <a:r>
              <a:rPr lang="en-US" altLang="ko-KR" dirty="0"/>
              <a:t>    font-size: 1.3em;</a:t>
            </a:r>
          </a:p>
          <a:p>
            <a:r>
              <a:rPr lang="en-US" altLang="ko-KR" dirty="0"/>
              <a:t>    </a:t>
            </a:r>
            <a:r>
              <a:rPr lang="en-US" altLang="ko-KR" dirty="0" err="1"/>
              <a:t>text-weight:bolder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`;</a:t>
            </a:r>
          </a:p>
          <a:p>
            <a:endParaRPr lang="en-US" altLang="ko-KR" dirty="0"/>
          </a:p>
          <a:p>
            <a:r>
              <a:rPr lang="en-US" altLang="ko-KR" dirty="0"/>
              <a:t>&lt;</a:t>
            </a:r>
            <a:r>
              <a:rPr lang="en-US" altLang="ko-KR" dirty="0" err="1"/>
              <a:t>TestStyle</a:t>
            </a:r>
            <a:r>
              <a:rPr lang="en-US" altLang="ko-KR" dirty="0"/>
              <a:t>&gt;</a:t>
            </a:r>
            <a:r>
              <a:rPr lang="ko-KR" altLang="en-US" dirty="0"/>
              <a:t>이렇게 사용</a:t>
            </a:r>
            <a:r>
              <a:rPr lang="en-US" altLang="ko-KR" dirty="0"/>
              <a:t>&lt;/</a:t>
            </a:r>
            <a:r>
              <a:rPr lang="en-US" altLang="ko-KR" dirty="0" err="1"/>
              <a:t>TestStyle</a:t>
            </a:r>
            <a:r>
              <a:rPr lang="en-US" altLang="ko-KR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8350865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1C14-DC7F-E9AE-1F23-EBE44ED7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1E03D2-A2D4-A8C4-95E1-F3FB742FC3E0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스타일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27932" y="970409"/>
            <a:ext cx="61100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Tailwind CSS 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이용하기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0CC0815-AB5B-F680-2036-541D44CD8E84}"/>
              </a:ext>
            </a:extLst>
          </p:cNvPr>
          <p:cNvSpPr/>
          <p:nvPr/>
        </p:nvSpPr>
        <p:spPr>
          <a:xfrm>
            <a:off x="965749" y="1558640"/>
            <a:ext cx="7945330" cy="1321720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유틸리티 우선의 개념을 사용하는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css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프레임워크 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   -&gt;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css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적용된 클래스들을 제공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많은 유틸리티 클래스를 제공하여 클래스를 조합해서 디자인할 수 있음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31742" y="3100199"/>
            <a:ext cx="61100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라이브러리 설치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– v4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80CC0815-AB5B-F680-2036-541D44CD8E84}"/>
              </a:ext>
            </a:extLst>
          </p:cNvPr>
          <p:cNvSpPr/>
          <p:nvPr/>
        </p:nvSpPr>
        <p:spPr>
          <a:xfrm>
            <a:off x="969559" y="3688430"/>
            <a:ext cx="7945330" cy="2609500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라이브러리 설치하기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–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tailwindcss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@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tailwindcss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vite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b="1" dirty="0" err="1">
                <a:solidFill>
                  <a:schemeClr val="tx1"/>
                </a:solidFill>
                <a:latin typeface="+mn-ea"/>
              </a:rPr>
              <a:t>npm</a:t>
            </a:r>
            <a:r>
              <a:rPr lang="en-US" altLang="ko-KR" b="1" dirty="0">
                <a:solidFill>
                  <a:schemeClr val="tx1"/>
                </a:solidFill>
                <a:latin typeface="+mn-ea"/>
              </a:rPr>
              <a:t> install -D </a:t>
            </a:r>
            <a:r>
              <a:rPr lang="en-US" altLang="ko-KR" b="1" dirty="0" err="1">
                <a:solidFill>
                  <a:schemeClr val="tx1"/>
                </a:solidFill>
                <a:latin typeface="+mn-ea"/>
              </a:rPr>
              <a:t>tailwindcss</a:t>
            </a:r>
            <a:r>
              <a:rPr lang="en-US" altLang="ko-KR" b="1" dirty="0">
                <a:solidFill>
                  <a:schemeClr val="tx1"/>
                </a:solidFill>
                <a:latin typeface="+mn-ea"/>
              </a:rPr>
              <a:t> @</a:t>
            </a:r>
            <a:r>
              <a:rPr lang="en-US" altLang="ko-KR" b="1" dirty="0" err="1">
                <a:solidFill>
                  <a:schemeClr val="tx1"/>
                </a:solidFill>
                <a:latin typeface="+mn-ea"/>
              </a:rPr>
              <a:t>tailwindcss</a:t>
            </a:r>
            <a:r>
              <a:rPr lang="en-US" altLang="ko-KR" b="1" dirty="0">
                <a:solidFill>
                  <a:schemeClr val="tx1"/>
                </a:solidFill>
                <a:latin typeface="+mn-ea"/>
              </a:rPr>
              <a:t>/</a:t>
            </a:r>
            <a:r>
              <a:rPr lang="en-US" altLang="ko-KR" b="1" dirty="0" err="1">
                <a:solidFill>
                  <a:schemeClr val="tx1"/>
                </a:solidFill>
                <a:latin typeface="+mn-ea"/>
              </a:rPr>
              <a:t>vite</a:t>
            </a:r>
            <a:endParaRPr lang="en-US" altLang="ko-KR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  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tailwindcss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: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유틸리티 클래스들을 제공하는 핵심 라이브러리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   @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tailwindcss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vite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: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vite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환경에서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tailwind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를 사용하는 라이브러리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     index.css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파일에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@import “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tailwindcss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”;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설정하면 자동으로 유틸리티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    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가 실행됨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997050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1C14-DC7F-E9AE-1F23-EBE44ED7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1E03D2-A2D4-A8C4-95E1-F3FB742FC3E0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스타일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27932" y="970409"/>
            <a:ext cx="61100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Tailwind 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주요 클래스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996942"/>
              </p:ext>
            </p:extLst>
          </p:nvPr>
        </p:nvGraphicFramePr>
        <p:xfrm>
          <a:off x="1112520" y="1543050"/>
          <a:ext cx="7608570" cy="5120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32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7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구분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err="1"/>
                        <a:t>css</a:t>
                      </a:r>
                      <a:r>
                        <a:rPr lang="ko-KR" altLang="en-US" b="1" dirty="0"/>
                        <a:t>속성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/>
                        <a:t>클래스명</a:t>
                      </a:r>
                      <a:endParaRPr lang="ko-KR" altLang="en-US" b="1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779">
                <a:tc rowSpan="8"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레이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아웃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display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block, inline-block, inline,</a:t>
                      </a:r>
                      <a:r>
                        <a:rPr lang="en-US" altLang="ko-KR" baseline="0" dirty="0"/>
                        <a:t> flex, grid, hidden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436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position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static,</a:t>
                      </a:r>
                      <a:r>
                        <a:rPr lang="en-US" altLang="ko-KR" baseline="0" dirty="0"/>
                        <a:t> relative, absolute, fixed, sticky</a:t>
                      </a:r>
                    </a:p>
                    <a:p>
                      <a:pPr latinLnBrk="1"/>
                      <a:r>
                        <a:rPr lang="en-US" altLang="ko-KR" baseline="0" dirty="0"/>
                        <a:t>top-n, right-n, bottom-n, left-n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77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z-index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z-n, z-auto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436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overflow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overflow-auto,</a:t>
                      </a:r>
                      <a:r>
                        <a:rPr lang="en-US" altLang="ko-KR" baseline="0" dirty="0"/>
                        <a:t> overflow-hidden, overflow-visible, overflow-scroll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77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direction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flex-row, flex-col</a:t>
                      </a:r>
                      <a:endParaRPr lang="en-US" altLang="ko-KR" baseline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77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justify-content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aseline="0" dirty="0"/>
                        <a:t>justify-start, justify-center, justify-between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77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align-items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aseline="0" dirty="0"/>
                        <a:t>items-start, items-center, items-end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2436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grid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grid-cols-n,</a:t>
                      </a:r>
                      <a:r>
                        <a:rPr lang="en-US" altLang="ko-KR" baseline="0" dirty="0"/>
                        <a:t> grid-rows-n, gap-n, col-gap-n,</a:t>
                      </a:r>
                    </a:p>
                    <a:p>
                      <a:pPr latinLnBrk="1"/>
                      <a:r>
                        <a:rPr lang="en-US" altLang="ko-KR" baseline="0" dirty="0"/>
                        <a:t>col-span-n, row-span-n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2436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간격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padding / margin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p-n, </a:t>
                      </a:r>
                      <a:r>
                        <a:rPr lang="en-US" altLang="ko-KR" dirty="0" err="1"/>
                        <a:t>pt</a:t>
                      </a:r>
                      <a:r>
                        <a:rPr lang="en-US" altLang="ko-KR" dirty="0"/>
                        <a:t>-n, </a:t>
                      </a:r>
                      <a:r>
                        <a:rPr lang="en-US" altLang="ko-KR" dirty="0" err="1"/>
                        <a:t>pr</a:t>
                      </a:r>
                      <a:r>
                        <a:rPr lang="en-US" altLang="ko-KR" dirty="0"/>
                        <a:t>-n, </a:t>
                      </a:r>
                      <a:r>
                        <a:rPr lang="en-US" altLang="ko-KR" dirty="0" err="1"/>
                        <a:t>pb</a:t>
                      </a:r>
                      <a:r>
                        <a:rPr lang="en-US" altLang="ko-KR" dirty="0"/>
                        <a:t>-n, </a:t>
                      </a:r>
                      <a:r>
                        <a:rPr lang="en-US" altLang="ko-KR" dirty="0" err="1"/>
                        <a:t>pl</a:t>
                      </a:r>
                      <a:r>
                        <a:rPr lang="en-US" altLang="ko-KR" dirty="0"/>
                        <a:t>-n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m-n, </a:t>
                      </a:r>
                      <a:r>
                        <a:rPr lang="en-US" altLang="ko-KR" dirty="0" err="1"/>
                        <a:t>mt</a:t>
                      </a:r>
                      <a:r>
                        <a:rPr lang="en-US" altLang="ko-KR" dirty="0"/>
                        <a:t>-n, </a:t>
                      </a:r>
                      <a:r>
                        <a:rPr lang="en-US" altLang="ko-KR" dirty="0" err="1"/>
                        <a:t>mr</a:t>
                      </a:r>
                      <a:r>
                        <a:rPr lang="en-US" altLang="ko-KR" dirty="0"/>
                        <a:t>-n, </a:t>
                      </a:r>
                      <a:r>
                        <a:rPr lang="en-US" altLang="ko-KR" dirty="0" err="1"/>
                        <a:t>mb</a:t>
                      </a:r>
                      <a:r>
                        <a:rPr lang="en-US" altLang="ko-KR" dirty="0"/>
                        <a:t>-n, ml-n</a:t>
                      </a:r>
                      <a:r>
                        <a:rPr lang="en-US" altLang="ko-KR" baseline="0" dirty="0"/>
                        <a:t> 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677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/>
                        <a:t>spacebetween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space-x-n,</a:t>
                      </a:r>
                      <a:r>
                        <a:rPr lang="en-US" altLang="ko-KR" baseline="0" dirty="0"/>
                        <a:t> space-y-n *flexbox, grid</a:t>
                      </a:r>
                      <a:r>
                        <a:rPr lang="ko-KR" altLang="en-US" baseline="0" dirty="0"/>
                        <a:t>에 적용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89445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1C14-DC7F-E9AE-1F23-EBE44ED7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1E03D2-A2D4-A8C4-95E1-F3FB742FC3E0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스타일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27932" y="970409"/>
            <a:ext cx="61100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Tailwind 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주요 클래스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6888157"/>
              </p:ext>
            </p:extLst>
          </p:nvPr>
        </p:nvGraphicFramePr>
        <p:xfrm>
          <a:off x="1112520" y="1543050"/>
          <a:ext cx="7608570" cy="4903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32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7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구분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err="1"/>
                        <a:t>css</a:t>
                      </a:r>
                      <a:r>
                        <a:rPr lang="ko-KR" altLang="en-US" b="1" dirty="0"/>
                        <a:t>속성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/>
                        <a:t>클래스명</a:t>
                      </a:r>
                      <a:endParaRPr lang="ko-KR" altLang="en-US" b="1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779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크기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width/height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w-n,</a:t>
                      </a:r>
                      <a:r>
                        <a:rPr lang="en-US" altLang="ko-KR" baseline="0" dirty="0"/>
                        <a:t> w-full, w-screen, w-auto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aseline="0" dirty="0"/>
                        <a:t>h-n, h-full, h-screen, h-auto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min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aseline="0" dirty="0"/>
                        <a:t>min-w/h-min, min-w/h-max, min-w/h-full, </a:t>
                      </a:r>
                    </a:p>
                    <a:p>
                      <a:pPr latinLnBrk="1"/>
                      <a:r>
                        <a:rPr lang="en-US" altLang="ko-KR" baseline="0" dirty="0"/>
                        <a:t>min-w/h-fit, min-w/h-screen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77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max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aseline="0" dirty="0"/>
                        <a:t>max-w/h-min, max-w/h-max, max-w/h-full, </a:t>
                      </a:r>
                    </a:p>
                    <a:p>
                      <a:pPr latinLnBrk="1"/>
                      <a:r>
                        <a:rPr lang="en-US" altLang="ko-KR" baseline="0" dirty="0"/>
                        <a:t>max-w/h-fit, max-w/h-screen, </a:t>
                      </a:r>
                    </a:p>
                    <a:p>
                      <a:pPr latinLnBrk="1"/>
                      <a:r>
                        <a:rPr lang="en-US" altLang="ko-KR" baseline="0" dirty="0"/>
                        <a:t>max-w-</a:t>
                      </a:r>
                      <a:r>
                        <a:rPr lang="en-US" altLang="ko-KR" baseline="0" dirty="0" err="1"/>
                        <a:t>xs</a:t>
                      </a:r>
                      <a:r>
                        <a:rPr lang="en-US" altLang="ko-KR" baseline="0" dirty="0"/>
                        <a:t>/</a:t>
                      </a:r>
                      <a:r>
                        <a:rPr lang="en-US" altLang="ko-KR" baseline="0" dirty="0" err="1"/>
                        <a:t>sm</a:t>
                      </a:r>
                      <a:r>
                        <a:rPr lang="en-US" altLang="ko-KR" baseline="0" dirty="0"/>
                        <a:t>/md/</a:t>
                      </a:r>
                      <a:r>
                        <a:rPr lang="en-US" altLang="ko-KR" baseline="0" dirty="0" err="1"/>
                        <a:t>lg</a:t>
                      </a:r>
                      <a:r>
                        <a:rPr lang="en-US" altLang="ko-KR" baseline="0" dirty="0"/>
                        <a:t>/xl/</a:t>
                      </a:r>
                      <a:r>
                        <a:rPr lang="en-US" altLang="ko-KR" baseline="0" dirty="0" err="1"/>
                        <a:t>nxl</a:t>
                      </a:r>
                      <a:r>
                        <a:rPr lang="en-US" altLang="ko-KR" baseline="0" dirty="0"/>
                        <a:t>, max-w/h-n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630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타이포그래피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font-family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font-</a:t>
                      </a:r>
                      <a:r>
                        <a:rPr lang="ko-KR" altLang="en-US" dirty="0" err="1"/>
                        <a:t>글꼴명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63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dirty="0"/>
                        <a:t>font-size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aseline="0" dirty="0"/>
                        <a:t>text-</a:t>
                      </a:r>
                      <a:r>
                        <a:rPr lang="en-US" altLang="ko-KR" baseline="0" dirty="0" err="1"/>
                        <a:t>xs</a:t>
                      </a:r>
                      <a:r>
                        <a:rPr lang="en-US" altLang="ko-KR" baseline="0" dirty="0"/>
                        <a:t>, text-</a:t>
                      </a:r>
                      <a:r>
                        <a:rPr lang="en-US" altLang="ko-KR" baseline="0" dirty="0" err="1"/>
                        <a:t>sm</a:t>
                      </a:r>
                      <a:r>
                        <a:rPr lang="en-US" altLang="ko-KR" baseline="0" dirty="0"/>
                        <a:t>, text-base, text-</a:t>
                      </a:r>
                      <a:r>
                        <a:rPr lang="en-US" altLang="ko-KR" baseline="0" dirty="0" err="1"/>
                        <a:t>lg</a:t>
                      </a:r>
                      <a:r>
                        <a:rPr lang="en-US" altLang="ko-KR" baseline="0" dirty="0"/>
                        <a:t>, text-xl, text-</a:t>
                      </a:r>
                      <a:r>
                        <a:rPr lang="en-US" altLang="ko-KR" baseline="0" dirty="0" err="1"/>
                        <a:t>nxl</a:t>
                      </a:r>
                      <a:r>
                        <a:rPr lang="en-US" altLang="ko-KR" baseline="0" dirty="0"/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63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font-weight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font-light,</a:t>
                      </a:r>
                      <a:r>
                        <a:rPr lang="en-US" altLang="ko-KR" baseline="0" dirty="0"/>
                        <a:t> font-</a:t>
                      </a:r>
                      <a:r>
                        <a:rPr lang="en-US" altLang="ko-KR" baseline="0" dirty="0" err="1"/>
                        <a:t>notmal</a:t>
                      </a:r>
                      <a:r>
                        <a:rPr lang="en-US" altLang="ko-KR" baseline="0" dirty="0"/>
                        <a:t>, font-medium, font-bold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863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color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text-</a:t>
                      </a:r>
                      <a:r>
                        <a:rPr lang="ko-KR" altLang="en-US" dirty="0" err="1"/>
                        <a:t>색상명</a:t>
                      </a:r>
                      <a:r>
                        <a:rPr lang="en-US" altLang="ko-KR" dirty="0"/>
                        <a:t>-</a:t>
                      </a:r>
                      <a:r>
                        <a:rPr lang="ko-KR" altLang="en-US" dirty="0"/>
                        <a:t>수치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863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text-align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text-left,</a:t>
                      </a:r>
                      <a:r>
                        <a:rPr lang="en-US" altLang="ko-KR" baseline="0" dirty="0"/>
                        <a:t> text-</a:t>
                      </a:r>
                      <a:r>
                        <a:rPr lang="en-US" altLang="ko-KR" baseline="0" dirty="0" err="1"/>
                        <a:t>cetner</a:t>
                      </a:r>
                      <a:r>
                        <a:rPr lang="en-US" altLang="ko-KR" baseline="0" dirty="0"/>
                        <a:t>, text-right, text-justify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66467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1C14-DC7F-E9AE-1F23-EBE44ED7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1E03D2-A2D4-A8C4-95E1-F3FB742FC3E0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스타일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27932" y="970409"/>
            <a:ext cx="61100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Tailwind 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주요 클래스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250237"/>
              </p:ext>
            </p:extLst>
          </p:nvPr>
        </p:nvGraphicFramePr>
        <p:xfrm>
          <a:off x="1112520" y="1543050"/>
          <a:ext cx="7608570" cy="4892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32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7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구분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err="1"/>
                        <a:t>css</a:t>
                      </a:r>
                      <a:r>
                        <a:rPr lang="ko-KR" altLang="en-US" b="1" dirty="0"/>
                        <a:t>속성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/>
                        <a:t>클래스명</a:t>
                      </a:r>
                      <a:endParaRPr lang="ko-KR" altLang="en-US" b="1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타이포그래피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line-height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leading-n, leading-tight, leading-normal,</a:t>
                      </a:r>
                      <a:r>
                        <a:rPr lang="en-US" altLang="ko-KR" baseline="0" dirty="0"/>
                        <a:t> </a:t>
                      </a:r>
                    </a:p>
                    <a:p>
                      <a:pPr latinLnBrk="1"/>
                      <a:r>
                        <a:rPr lang="en-US" altLang="ko-KR" baseline="0" dirty="0"/>
                        <a:t>leading-loose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letter-spacing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tracking-tighter, tracking-tight,</a:t>
                      </a:r>
                      <a:r>
                        <a:rPr lang="en-US" altLang="ko-KR" baseline="0" dirty="0"/>
                        <a:t> </a:t>
                      </a:r>
                      <a:r>
                        <a:rPr lang="en-US" altLang="ko-KR" dirty="0"/>
                        <a:t>tracking-tighter, tracking-normal,</a:t>
                      </a:r>
                      <a:r>
                        <a:rPr lang="en-US" altLang="ko-KR" baseline="0" dirty="0"/>
                        <a:t> </a:t>
                      </a:r>
                      <a:r>
                        <a:rPr lang="en-US" altLang="ko-KR" dirty="0"/>
                        <a:t>tracking-wide,</a:t>
                      </a:r>
                      <a:r>
                        <a:rPr lang="en-US" altLang="ko-KR" baseline="0" dirty="0"/>
                        <a:t> </a:t>
                      </a:r>
                      <a:r>
                        <a:rPr lang="en-US" altLang="ko-KR" dirty="0"/>
                        <a:t>tracking-widest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배경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background-color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background-image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bg</a:t>
                      </a:r>
                      <a:r>
                        <a:rPr lang="en-US" altLang="ko-KR" dirty="0"/>
                        <a:t>-</a:t>
                      </a:r>
                      <a:r>
                        <a:rPr lang="ko-KR" altLang="en-US" dirty="0" err="1"/>
                        <a:t>색상명</a:t>
                      </a:r>
                      <a:r>
                        <a:rPr lang="en-US" altLang="ko-KR" dirty="0"/>
                        <a:t>, </a:t>
                      </a:r>
                      <a:r>
                        <a:rPr lang="en-US" altLang="ko-KR" dirty="0" err="1"/>
                        <a:t>bg</a:t>
                      </a:r>
                      <a:r>
                        <a:rPr lang="en-US" altLang="ko-KR" dirty="0"/>
                        <a:t>-</a:t>
                      </a:r>
                      <a:r>
                        <a:rPr lang="ko-KR" altLang="en-US" dirty="0" err="1"/>
                        <a:t>색상명</a:t>
                      </a:r>
                      <a:r>
                        <a:rPr lang="en-US" altLang="ko-KR" dirty="0"/>
                        <a:t>-n</a:t>
                      </a:r>
                    </a:p>
                    <a:p>
                      <a:pPr latinLnBrk="1"/>
                      <a:r>
                        <a:rPr lang="en-US" altLang="ko-KR" dirty="0" err="1"/>
                        <a:t>bg-corver</a:t>
                      </a:r>
                      <a:r>
                        <a:rPr lang="en-US" altLang="ko-KR" dirty="0"/>
                        <a:t>, </a:t>
                      </a:r>
                      <a:r>
                        <a:rPr lang="en-US" altLang="ko-KR" dirty="0" err="1"/>
                        <a:t>bg</a:t>
                      </a:r>
                      <a:r>
                        <a:rPr lang="en-US" altLang="ko-KR" dirty="0"/>
                        <a:t>-container, </a:t>
                      </a:r>
                      <a:r>
                        <a:rPr lang="en-US" altLang="ko-KR" dirty="0" err="1"/>
                        <a:t>bg</a:t>
                      </a:r>
                      <a:r>
                        <a:rPr lang="en-US" altLang="ko-KR" dirty="0"/>
                        <a:t>-center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gradients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bg</a:t>
                      </a:r>
                      <a:r>
                        <a:rPr lang="en-US" altLang="ko-KR" dirty="0"/>
                        <a:t>-gradient-to-</a:t>
                      </a:r>
                      <a:r>
                        <a:rPr lang="ko-KR" altLang="en-US" dirty="0"/>
                        <a:t>위치</a:t>
                      </a:r>
                      <a:r>
                        <a:rPr lang="en-US" altLang="ko-KR" dirty="0"/>
                        <a:t>(</a:t>
                      </a:r>
                      <a:r>
                        <a:rPr lang="en-US" altLang="ko-KR" dirty="0" err="1"/>
                        <a:t>l,r,t,b</a:t>
                      </a:r>
                      <a:r>
                        <a:rPr lang="en-US" altLang="ko-KR" dirty="0"/>
                        <a:t>), </a:t>
                      </a:r>
                      <a:r>
                        <a:rPr lang="en-US" altLang="ko-KR" baseline="0" dirty="0"/>
                        <a:t>from-</a:t>
                      </a:r>
                      <a:r>
                        <a:rPr lang="ko-KR" altLang="en-US" baseline="0" dirty="0"/>
                        <a:t>색상</a:t>
                      </a:r>
                      <a:r>
                        <a:rPr lang="en-US" altLang="ko-KR" baseline="0" dirty="0"/>
                        <a:t>-n, to-</a:t>
                      </a:r>
                      <a:r>
                        <a:rPr lang="ko-KR" altLang="en-US" baseline="0" dirty="0"/>
                        <a:t>색상</a:t>
                      </a:r>
                      <a:r>
                        <a:rPr lang="en-US" altLang="ko-KR" baseline="0" dirty="0"/>
                        <a:t>-n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테두리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border-width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border-color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board-radius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border, border-n,</a:t>
                      </a:r>
                      <a:r>
                        <a:rPr lang="en-US" altLang="ko-KR" baseline="0" dirty="0"/>
                        <a:t> border-</a:t>
                      </a:r>
                      <a:r>
                        <a:rPr lang="ko-KR" altLang="en-US" baseline="0" dirty="0"/>
                        <a:t>방향</a:t>
                      </a:r>
                      <a:r>
                        <a:rPr lang="en-US" altLang="ko-KR" baseline="0" dirty="0"/>
                        <a:t>-n</a:t>
                      </a:r>
                    </a:p>
                    <a:p>
                      <a:pPr latinLnBrk="1"/>
                      <a:r>
                        <a:rPr lang="en-US" altLang="ko-KR" baseline="0" dirty="0"/>
                        <a:t>border-</a:t>
                      </a:r>
                      <a:r>
                        <a:rPr lang="ko-KR" altLang="en-US" baseline="0" dirty="0"/>
                        <a:t>색상</a:t>
                      </a:r>
                      <a:r>
                        <a:rPr lang="en-US" altLang="ko-KR" baseline="0" dirty="0"/>
                        <a:t>-n</a:t>
                      </a:r>
                    </a:p>
                    <a:p>
                      <a:pPr latinLnBrk="1"/>
                      <a:r>
                        <a:rPr lang="en-US" altLang="ko-KR" baseline="0" dirty="0"/>
                        <a:t>rounded, rounded-</a:t>
                      </a:r>
                      <a:r>
                        <a:rPr lang="en-US" altLang="ko-KR" baseline="0" dirty="0" err="1"/>
                        <a:t>lg</a:t>
                      </a:r>
                      <a:r>
                        <a:rPr lang="en-US" altLang="ko-KR" baseline="0" dirty="0"/>
                        <a:t>, rounded-full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효과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/>
                        <a:t>boxshadow</a:t>
                      </a:r>
                      <a:endParaRPr lang="en-US" altLang="ko-KR" dirty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opacity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shadow-</a:t>
                      </a:r>
                      <a:r>
                        <a:rPr lang="en-US" altLang="ko-KR" dirty="0" err="1"/>
                        <a:t>sm</a:t>
                      </a:r>
                      <a:r>
                        <a:rPr lang="en-US" altLang="ko-KR" dirty="0"/>
                        <a:t>,</a:t>
                      </a:r>
                      <a:r>
                        <a:rPr lang="en-US" altLang="ko-KR" baseline="0" dirty="0"/>
                        <a:t> shadow, shadow-</a:t>
                      </a:r>
                      <a:r>
                        <a:rPr lang="en-US" altLang="ko-KR" baseline="0" dirty="0" err="1"/>
                        <a:t>lg</a:t>
                      </a:r>
                      <a:r>
                        <a:rPr lang="en-US" altLang="ko-KR" baseline="0" dirty="0"/>
                        <a:t>, shadow-</a:t>
                      </a:r>
                      <a:r>
                        <a:rPr lang="ko-KR" altLang="en-US" baseline="0" dirty="0"/>
                        <a:t>티</a:t>
                      </a:r>
                      <a:endParaRPr lang="en-US" altLang="ko-KR" baseline="0" dirty="0"/>
                    </a:p>
                    <a:p>
                      <a:pPr latinLnBrk="1"/>
                      <a:r>
                        <a:rPr lang="en-US" altLang="ko-KR" baseline="0" dirty="0"/>
                        <a:t>opacity-n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92585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1C14-DC7F-E9AE-1F23-EBE44ED7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1E03D2-A2D4-A8C4-95E1-F3FB742FC3E0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스타일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27932" y="970409"/>
            <a:ext cx="61100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Tailwind 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주요 클래스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272510"/>
              </p:ext>
            </p:extLst>
          </p:nvPr>
        </p:nvGraphicFramePr>
        <p:xfrm>
          <a:off x="1112520" y="1543050"/>
          <a:ext cx="7608570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32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7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구분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err="1"/>
                        <a:t>css</a:t>
                      </a:r>
                      <a:r>
                        <a:rPr lang="ko-KR" altLang="en-US" b="1" dirty="0"/>
                        <a:t>속성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/>
                        <a:t>클래스명</a:t>
                      </a:r>
                      <a:endParaRPr lang="ko-KR" altLang="en-US" b="1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반응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hover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hover:</a:t>
                      </a:r>
                      <a:r>
                        <a:rPr lang="ko-KR" altLang="en-US" dirty="0"/>
                        <a:t>적용클래스</a:t>
                      </a:r>
                      <a:r>
                        <a:rPr lang="en-US" altLang="ko-KR" dirty="0"/>
                        <a:t>,  hover:bg-blue-500,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focus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focus:</a:t>
                      </a:r>
                      <a:r>
                        <a:rPr lang="ko-KR" altLang="en-US" dirty="0"/>
                        <a:t>적용클래스</a:t>
                      </a:r>
                      <a:r>
                        <a:rPr lang="en-US" altLang="ko-KR" dirty="0"/>
                        <a:t>, </a:t>
                      </a:r>
                      <a:r>
                        <a:rPr lang="en-US" altLang="ko-KR" dirty="0" err="1"/>
                        <a:t>focus</a:t>
                      </a:r>
                      <a:r>
                        <a:rPr lang="en-US" altLang="ko-KR" baseline="0" dirty="0" err="1"/>
                        <a:t>:outline-none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disabled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disabled:</a:t>
                      </a:r>
                      <a:r>
                        <a:rPr lang="ko-KR" altLang="en-US" dirty="0"/>
                        <a:t>적용클래스</a:t>
                      </a:r>
                      <a:r>
                        <a:rPr lang="en-US" altLang="ko-KR" dirty="0"/>
                        <a:t>, disabled:opacity-50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cursor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cursor-pointer, cursor-wait,</a:t>
                      </a:r>
                      <a:r>
                        <a:rPr lang="en-US" altLang="ko-KR" baseline="0" dirty="0"/>
                        <a:t> cursor-not-allowed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63764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1C14-DC7F-E9AE-1F23-EBE44ED7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1E03D2-A2D4-A8C4-95E1-F3FB742FC3E0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스타일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27932" y="970409"/>
            <a:ext cx="61100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Tailwind </a:t>
            </a:r>
            <a:r>
              <a:rPr lang="ko-KR" alt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커스텀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테마 설정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80CC0815-AB5B-F680-2036-541D44CD8E84}"/>
              </a:ext>
            </a:extLst>
          </p:cNvPr>
          <p:cNvSpPr/>
          <p:nvPr/>
        </p:nvSpPr>
        <p:spPr>
          <a:xfrm>
            <a:off x="965749" y="1558640"/>
            <a:ext cx="7945330" cy="1024540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index.css,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tailwindcss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를 설정한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css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파일에서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@theme{}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를 이용해서 설정할 수 있음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31742" y="2803019"/>
            <a:ext cx="61100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설정규칙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109165"/>
              </p:ext>
            </p:extLst>
          </p:nvPr>
        </p:nvGraphicFramePr>
        <p:xfrm>
          <a:off x="1112520" y="3417570"/>
          <a:ext cx="7608570" cy="3017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120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7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구분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/>
                        <a:t>접두어</a:t>
                      </a:r>
                      <a:endParaRPr lang="ko-KR" altLang="en-US" b="1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/>
                        <a:t>예시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색상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--color-</a:t>
                      </a:r>
                      <a:r>
                        <a:rPr lang="ko-KR" altLang="en-US" dirty="0"/>
                        <a:t>명칭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--</a:t>
                      </a:r>
                      <a:r>
                        <a:rPr lang="en-US" altLang="ko-KR" dirty="0" err="1"/>
                        <a:t>color-my:red</a:t>
                      </a:r>
                      <a:r>
                        <a:rPr lang="en-US" altLang="ko-KR" dirty="0"/>
                        <a:t>;</a:t>
                      </a:r>
                      <a:r>
                        <a:rPr lang="en-US" altLang="ko-KR" baseline="0" dirty="0"/>
                        <a:t> 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여백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--spacing-</a:t>
                      </a:r>
                      <a:r>
                        <a:rPr lang="ko-KR" altLang="en-US" dirty="0"/>
                        <a:t>명칭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--spacing-200:200rem;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글꼴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--font-family-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--font-family-</a:t>
                      </a:r>
                      <a:r>
                        <a:rPr lang="en-US" altLang="ko-KR" dirty="0" err="1"/>
                        <a:t>goong</a:t>
                      </a:r>
                      <a:r>
                        <a:rPr lang="en-US" altLang="ko-KR" dirty="0"/>
                        <a:t>:</a:t>
                      </a:r>
                      <a:r>
                        <a:rPr lang="ko-KR" altLang="en-US" dirty="0" err="1"/>
                        <a:t>궁서</a:t>
                      </a:r>
                      <a:r>
                        <a:rPr lang="en-US" altLang="ko-KR" dirty="0"/>
                        <a:t>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글자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--font-size-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--font-size-2sm:0.5rem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테두리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--border-radius-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--border-width-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--border-radius-4xl:2rem;</a:t>
                      </a:r>
                    </a:p>
                    <a:p>
                      <a:pPr latinLnBrk="1"/>
                      <a:r>
                        <a:rPr lang="en-US" altLang="ko-KR" dirty="0"/>
                        <a:t>--border-width-4:4px;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67968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85A1C14-DC7F-E9AE-1F23-EBE44ED7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1E03D2-A2D4-A8C4-95E1-F3FB742FC3E0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스타일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27932" y="970409"/>
            <a:ext cx="61100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Tailwind CSS 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이용하기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0CC0815-AB5B-F680-2036-541D44CD8E84}"/>
              </a:ext>
            </a:extLst>
          </p:cNvPr>
          <p:cNvSpPr/>
          <p:nvPr/>
        </p:nvSpPr>
        <p:spPr>
          <a:xfrm>
            <a:off x="965749" y="1558640"/>
            <a:ext cx="7945330" cy="1321720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유틸리티 우선의 개념을 사용하는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css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프레임워크 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   -&gt;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css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적용된 클래스들을 제공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많은 유틸리티 클래스를 제공하여 클래스를 조합해서 디자인할 수 있음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31742" y="3100199"/>
            <a:ext cx="61100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라이브러리 설치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-v3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80CC0815-AB5B-F680-2036-541D44CD8E84}"/>
              </a:ext>
            </a:extLst>
          </p:cNvPr>
          <p:cNvSpPr/>
          <p:nvPr/>
        </p:nvSpPr>
        <p:spPr>
          <a:xfrm>
            <a:off x="969559" y="3688430"/>
            <a:ext cx="7945330" cy="2415190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라이브러리 설치하기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–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tailwindcss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postcss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autoprefixer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  </a:t>
            </a:r>
            <a:r>
              <a:rPr lang="en-US" altLang="ko-KR" b="1" dirty="0" err="1">
                <a:solidFill>
                  <a:schemeClr val="tx1"/>
                </a:solidFill>
                <a:latin typeface="+mn-ea"/>
              </a:rPr>
              <a:t>npm</a:t>
            </a:r>
            <a:r>
              <a:rPr lang="en-US" altLang="ko-KR" b="1" dirty="0">
                <a:solidFill>
                  <a:schemeClr val="tx1"/>
                </a:solidFill>
                <a:latin typeface="+mn-ea"/>
              </a:rPr>
              <a:t> install -D </a:t>
            </a:r>
            <a:r>
              <a:rPr lang="en-US" altLang="ko-KR" b="1" dirty="0" err="1">
                <a:solidFill>
                  <a:schemeClr val="tx1"/>
                </a:solidFill>
                <a:latin typeface="+mn-ea"/>
              </a:rPr>
              <a:t>tailwindcss</a:t>
            </a:r>
            <a:r>
              <a:rPr lang="en-US" altLang="ko-KR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b="1" dirty="0" err="1">
                <a:solidFill>
                  <a:schemeClr val="tx1"/>
                </a:solidFill>
                <a:latin typeface="+mn-ea"/>
              </a:rPr>
              <a:t>postcss</a:t>
            </a:r>
            <a:r>
              <a:rPr lang="en-US" altLang="ko-KR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b="1" dirty="0" err="1">
                <a:solidFill>
                  <a:schemeClr val="tx1"/>
                </a:solidFill>
                <a:latin typeface="+mn-ea"/>
              </a:rPr>
              <a:t>autoprefixer</a:t>
            </a:r>
            <a:endParaRPr lang="en-US" altLang="ko-KR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  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tailwindcss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: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유틸리티 클래스들을 제공하는 핵심 라이브러리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  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postcss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: tailwind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로 만들어진 디자인을 표준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css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변환해주는 라이브러리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  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autoprefixer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: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브라우저 벤더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prefix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를 자동으로 추가해주는 라이브러리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853578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85A1C14-DC7F-E9AE-1F23-EBE44ED7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1E03D2-A2D4-A8C4-95E1-F3FB742FC3E0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스타일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27932" y="970409"/>
            <a:ext cx="61100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Tailwind CSS 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설정 파일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0CC0815-AB5B-F680-2036-541D44CD8E84}"/>
              </a:ext>
            </a:extLst>
          </p:cNvPr>
          <p:cNvSpPr/>
          <p:nvPr/>
        </p:nvSpPr>
        <p:spPr>
          <a:xfrm>
            <a:off x="965749" y="1558640"/>
            <a:ext cx="7945330" cy="4476400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altLang="ko-KR" b="1" dirty="0">
                <a:solidFill>
                  <a:schemeClr val="tx1"/>
                </a:solidFill>
                <a:latin typeface="+mn-ea"/>
              </a:rPr>
              <a:t>tailwind.config.js, postcss.config.js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b="1" dirty="0" err="1">
                <a:solidFill>
                  <a:schemeClr val="tx1"/>
                </a:solidFill>
                <a:latin typeface="+mn-ea"/>
              </a:rPr>
              <a:t>npx</a:t>
            </a:r>
            <a:r>
              <a:rPr lang="en-US" altLang="ko-KR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b="1" dirty="0" err="1">
                <a:solidFill>
                  <a:schemeClr val="tx1"/>
                </a:solidFill>
                <a:latin typeface="+mn-ea"/>
              </a:rPr>
              <a:t>tailwindcss</a:t>
            </a:r>
            <a:r>
              <a:rPr lang="en-US" altLang="ko-KR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b="1" dirty="0" err="1">
                <a:solidFill>
                  <a:schemeClr val="tx1"/>
                </a:solidFill>
                <a:latin typeface="+mn-ea"/>
              </a:rPr>
              <a:t>init</a:t>
            </a:r>
            <a:r>
              <a:rPr lang="en-US" altLang="ko-KR" b="1" dirty="0">
                <a:solidFill>
                  <a:schemeClr val="tx1"/>
                </a:solidFill>
                <a:latin typeface="+mn-ea"/>
              </a:rPr>
              <a:t> –p *</a:t>
            </a:r>
            <a:r>
              <a:rPr lang="ko-KR" altLang="en-US" b="1" dirty="0">
                <a:solidFill>
                  <a:schemeClr val="tx1"/>
                </a:solidFill>
                <a:latin typeface="+mn-ea"/>
              </a:rPr>
              <a:t>명령이 안되면 </a:t>
            </a:r>
            <a:r>
              <a:rPr lang="en-US" altLang="ko-KR" b="1" dirty="0">
                <a:solidFill>
                  <a:schemeClr val="tx1"/>
                </a:solidFill>
                <a:latin typeface="+mn-ea"/>
              </a:rPr>
              <a:t>root</a:t>
            </a:r>
            <a:r>
              <a:rPr lang="ko-KR" altLang="en-US" b="1" dirty="0">
                <a:solidFill>
                  <a:schemeClr val="tx1"/>
                </a:solidFill>
                <a:latin typeface="+mn-ea"/>
              </a:rPr>
              <a:t>경로에 직접생성</a:t>
            </a:r>
            <a:endParaRPr lang="en-US" altLang="ko-KR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tailwind.config.js :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색상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폰트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반응형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breakpoint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등을 설정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postcss.config.js :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tailwindcss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autofixer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를 실행하도록 설정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b="1" dirty="0">
                <a:solidFill>
                  <a:schemeClr val="tx1"/>
                </a:solidFill>
                <a:latin typeface="+mn-ea"/>
              </a:rPr>
              <a:t>index.css / main.css -&gt; React.sj </a:t>
            </a:r>
            <a:r>
              <a:rPr lang="ko-KR" altLang="en-US" b="1" dirty="0">
                <a:solidFill>
                  <a:schemeClr val="tx1"/>
                </a:solidFill>
                <a:latin typeface="+mn-ea"/>
              </a:rPr>
              <a:t>전역에 적용</a:t>
            </a:r>
            <a:endParaRPr lang="en-US" altLang="ko-KR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지시어를 추가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 @tailwind base;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 @tailwind components;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 @tailwind utilities;</a:t>
            </a:r>
          </a:p>
        </p:txBody>
      </p:sp>
    </p:spTree>
    <p:extLst>
      <p:ext uri="{BB962C8B-B14F-4D97-AF65-F5344CB8AC3E}">
        <p14:creationId xmlns:p14="http://schemas.microsoft.com/office/powerpoint/2010/main" val="31374776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FDE66-11F9-C188-4090-E6B3EE142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그룹 8">
            <a:extLst>
              <a:ext uri="{FF2B5EF4-FFF2-40B4-BE49-F238E27FC236}">
                <a16:creationId xmlns:a16="http://schemas.microsoft.com/office/drawing/2014/main" id="{7CCD256C-D074-2C03-99CB-FF4B7DF65C73}"/>
              </a:ext>
            </a:extLst>
          </p:cNvPr>
          <p:cNvGrpSpPr>
            <a:grpSpLocks/>
          </p:cNvGrpSpPr>
          <p:nvPr/>
        </p:nvGrpSpPr>
        <p:grpSpPr bwMode="auto">
          <a:xfrm>
            <a:off x="2020491" y="1916906"/>
            <a:ext cx="5089922" cy="3090863"/>
            <a:chOff x="3413702" y="746702"/>
            <a:chExt cx="5364596" cy="5364596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0B31609-D4C9-DD6C-24C7-CA19541A239A}"/>
                </a:ext>
              </a:extLst>
            </p:cNvPr>
            <p:cNvSpPr/>
            <p:nvPr/>
          </p:nvSpPr>
          <p:spPr>
            <a:xfrm>
              <a:off x="3413702" y="746702"/>
              <a:ext cx="5364596" cy="5364596"/>
            </a:xfrm>
            <a:prstGeom prst="rect">
              <a:avLst/>
            </a:prstGeom>
            <a:gradFill flip="none" rotWithShape="1">
              <a:gsLst>
                <a:gs pos="0">
                  <a:srgbClr val="E3DCC1"/>
                </a:gs>
                <a:gs pos="69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E493A0B-6B80-E8C4-BDA0-AD513FCDDE1C}"/>
                </a:ext>
              </a:extLst>
            </p:cNvPr>
            <p:cNvSpPr/>
            <p:nvPr/>
          </p:nvSpPr>
          <p:spPr>
            <a:xfrm>
              <a:off x="3541699" y="928553"/>
              <a:ext cx="5122405" cy="50008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4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React</a:t>
              </a:r>
            </a:p>
            <a:p>
              <a:pPr algn="ctr">
                <a:defRPr/>
              </a:pPr>
              <a:r>
                <a:rPr lang="ko-KR" altLang="en-US" sz="4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이벤트 설정</a:t>
              </a:r>
              <a:endParaRPr lang="en-US" altLang="ko-KR" sz="4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45432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1C14-DC7F-E9AE-1F23-EBE44ED7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1E03D2-A2D4-A8C4-95E1-F3FB742FC3E0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이벤트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27932" y="970409"/>
            <a:ext cx="4201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이벤트 설정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0CC0815-AB5B-F680-2036-541D44CD8E84}"/>
              </a:ext>
            </a:extLst>
          </p:cNvPr>
          <p:cNvSpPr/>
          <p:nvPr/>
        </p:nvSpPr>
        <p:spPr>
          <a:xfrm>
            <a:off x="965749" y="1558640"/>
            <a:ext cx="7945330" cy="1996090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jsx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의 이벤트 속성에 이벤트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핸들러를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설정해서 이벤트를 설정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이벤트 속성은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html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의 이벤트 속성을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카멜케이스로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적용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 예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)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onClick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onMouseEnter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onChange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등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인라인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/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외부함수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두가지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방식으로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핸들러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등록 가능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0140" y="3589020"/>
            <a:ext cx="704872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err="1"/>
              <a:t>인라인으로</a:t>
            </a:r>
            <a:r>
              <a:rPr lang="ko-KR" altLang="en-US" dirty="0"/>
              <a:t> 설정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&lt;button </a:t>
            </a:r>
            <a:r>
              <a:rPr lang="en-US" altLang="ko-KR" dirty="0" err="1"/>
              <a:t>onClick</a:t>
            </a:r>
            <a:r>
              <a:rPr lang="en-US" altLang="ko-KR" dirty="0"/>
              <a:t>={(e)=&gt;{alert(‘</a:t>
            </a:r>
            <a:r>
              <a:rPr lang="ko-KR" altLang="en-US" dirty="0" err="1"/>
              <a:t>버튼크릭</a:t>
            </a:r>
            <a:r>
              <a:rPr lang="en-US" altLang="ko-KR" dirty="0"/>
              <a:t>’);}}&gt;</a:t>
            </a:r>
          </a:p>
          <a:p>
            <a:pPr>
              <a:lnSpc>
                <a:spcPct val="150000"/>
              </a:lnSpc>
            </a:pPr>
            <a:endParaRPr lang="en-US" altLang="ko-KR" sz="500" dirty="0"/>
          </a:p>
          <a:p>
            <a:pPr>
              <a:lnSpc>
                <a:spcPct val="150000"/>
              </a:lnSpc>
            </a:pPr>
            <a:r>
              <a:rPr lang="ko-KR" altLang="en-US" dirty="0"/>
              <a:t>외부함수설정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 err="1"/>
              <a:t>const</a:t>
            </a:r>
            <a:r>
              <a:rPr lang="en-US" altLang="ko-KR" dirty="0"/>
              <a:t> handler=(e)=&gt;{alert(“</a:t>
            </a:r>
            <a:r>
              <a:rPr lang="ko-KR" altLang="en-US" dirty="0"/>
              <a:t>값이 변경됨</a:t>
            </a:r>
            <a:r>
              <a:rPr lang="en-US" altLang="ko-KR" dirty="0"/>
              <a:t>”)};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&lt;input </a:t>
            </a:r>
            <a:r>
              <a:rPr lang="en-US" altLang="ko-KR" dirty="0" err="1"/>
              <a:t>onChange</a:t>
            </a:r>
            <a:r>
              <a:rPr lang="en-US" altLang="ko-KR" dirty="0"/>
              <a:t>={handler} placeholder=“</a:t>
            </a:r>
            <a:r>
              <a:rPr lang="ko-KR" altLang="en-US" dirty="0" err="1"/>
              <a:t>메세지입력</a:t>
            </a:r>
            <a:r>
              <a:rPr lang="en-US" altLang="ko-KR" dirty="0"/>
              <a:t>”&gt;</a:t>
            </a:r>
          </a:p>
          <a:p>
            <a:pPr>
              <a:lnSpc>
                <a:spcPct val="150000"/>
              </a:lnSpc>
            </a:pPr>
            <a:endParaRPr lang="en-US" altLang="ko-KR" sz="500" dirty="0"/>
          </a:p>
          <a:p>
            <a:pPr>
              <a:lnSpc>
                <a:spcPct val="150000"/>
              </a:lnSpc>
              <a:defRPr/>
            </a:pPr>
            <a:r>
              <a:rPr lang="en-US" altLang="ko-KR" sz="1600" dirty="0">
                <a:latin typeface="+mn-ea"/>
              </a:rPr>
              <a:t>* </a:t>
            </a:r>
            <a:r>
              <a:rPr lang="ko-KR" altLang="en-US" sz="1600" dirty="0">
                <a:latin typeface="+mn-ea"/>
              </a:rPr>
              <a:t>이벤트 </a:t>
            </a:r>
            <a:r>
              <a:rPr lang="ko-KR" altLang="en-US" sz="1600" dirty="0" err="1">
                <a:latin typeface="+mn-ea"/>
              </a:rPr>
              <a:t>핸들러</a:t>
            </a:r>
            <a:r>
              <a:rPr lang="ko-KR" altLang="en-US" sz="1600" dirty="0">
                <a:latin typeface="+mn-ea"/>
              </a:rPr>
              <a:t> </a:t>
            </a:r>
            <a:r>
              <a:rPr lang="ko-KR" altLang="en-US" sz="1600" dirty="0" err="1">
                <a:latin typeface="+mn-ea"/>
              </a:rPr>
              <a:t>등록시</a:t>
            </a:r>
            <a:r>
              <a:rPr lang="ko-KR" altLang="en-US" sz="1600" dirty="0">
                <a:latin typeface="+mn-ea"/>
              </a:rPr>
              <a:t> </a:t>
            </a:r>
            <a:r>
              <a:rPr lang="ko-KR" altLang="en-US" sz="1600" dirty="0" err="1">
                <a:latin typeface="+mn-ea"/>
              </a:rPr>
              <a:t>이벤트핸들러를</a:t>
            </a:r>
            <a:r>
              <a:rPr lang="ko-KR" altLang="en-US" sz="1600" dirty="0">
                <a:latin typeface="+mn-ea"/>
              </a:rPr>
              <a:t> 호출하는 구문으로 작성하면 안됨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1600" dirty="0">
                <a:latin typeface="+mn-ea"/>
              </a:rPr>
              <a:t>  고차함수를 적용한 </a:t>
            </a:r>
            <a:r>
              <a:rPr lang="ko-KR" altLang="en-US" sz="1600" dirty="0" err="1">
                <a:latin typeface="+mn-ea"/>
              </a:rPr>
              <a:t>이벤트핸들러메만</a:t>
            </a:r>
            <a:r>
              <a:rPr lang="ko-KR" altLang="en-US" sz="1600" dirty="0">
                <a:latin typeface="+mn-ea"/>
              </a:rPr>
              <a:t> 경우에만 사용 </a:t>
            </a:r>
            <a:r>
              <a:rPr lang="en-US" altLang="ko-KR" sz="1600" dirty="0" err="1">
                <a:latin typeface="+mn-ea"/>
              </a:rPr>
              <a:t>onClick</a:t>
            </a:r>
            <a:r>
              <a:rPr lang="en-US" altLang="ko-KR" sz="1600" dirty="0">
                <a:latin typeface="+mn-ea"/>
              </a:rPr>
              <a:t>=handler() X</a:t>
            </a:r>
          </a:p>
        </p:txBody>
      </p:sp>
    </p:spTree>
    <p:extLst>
      <p:ext uri="{BB962C8B-B14F-4D97-AF65-F5344CB8AC3E}">
        <p14:creationId xmlns:p14="http://schemas.microsoft.com/office/powerpoint/2010/main" val="27502155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1C14-DC7F-E9AE-1F23-EBE44ED7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1E03D2-A2D4-A8C4-95E1-F3FB742FC3E0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이벤트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27932" y="1004699"/>
            <a:ext cx="4201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Debouncing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(</a:t>
            </a:r>
            <a:r>
              <a:rPr lang="ko-KR" alt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디바운싱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)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0CC0815-AB5B-F680-2036-541D44CD8E84}"/>
              </a:ext>
            </a:extLst>
          </p:cNvPr>
          <p:cNvSpPr/>
          <p:nvPr/>
        </p:nvSpPr>
        <p:spPr>
          <a:xfrm>
            <a:off x="965749" y="1592930"/>
            <a:ext cx="7945330" cy="1573180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지속적으로 발생하는 이벤트를 모두 처리하지 않고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특정시간 후 발생한 이벤트 중 마지막 이벤트만 실행하게 하는 기능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검색어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자동 완성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입력 폼 유효성 검사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버튼 중복 클릭 방지 등 활용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16775" y="3542159"/>
            <a:ext cx="4201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Throttling</a:t>
            </a:r>
            <a:r>
              <a:rPr lang="en-US" altLang="ko-KR" sz="2400" dirty="0"/>
              <a:t>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(</a:t>
            </a:r>
            <a:r>
              <a:rPr lang="ko-KR" alt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쓰로틀링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)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80CC0815-AB5B-F680-2036-541D44CD8E84}"/>
              </a:ext>
            </a:extLst>
          </p:cNvPr>
          <p:cNvSpPr/>
          <p:nvPr/>
        </p:nvSpPr>
        <p:spPr>
          <a:xfrm>
            <a:off x="954592" y="4130390"/>
            <a:ext cx="7945330" cy="1596040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지속적으로 발생하는 이벤트를 모두 처리하지 않고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특정시간을 기준으로 주기적으로 실행되게 하는 기능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무한 스크롤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UI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애니메이션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그래픽처리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실시간 데이터 업데이트 등 활용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50830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FDE66-11F9-C188-4090-E6B3EE142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그룹 8">
            <a:extLst>
              <a:ext uri="{FF2B5EF4-FFF2-40B4-BE49-F238E27FC236}">
                <a16:creationId xmlns:a16="http://schemas.microsoft.com/office/drawing/2014/main" id="{7CCD256C-D074-2C03-99CB-FF4B7DF65C73}"/>
              </a:ext>
            </a:extLst>
          </p:cNvPr>
          <p:cNvGrpSpPr>
            <a:grpSpLocks/>
          </p:cNvGrpSpPr>
          <p:nvPr/>
        </p:nvGrpSpPr>
        <p:grpSpPr bwMode="auto">
          <a:xfrm>
            <a:off x="2020491" y="1916906"/>
            <a:ext cx="5089922" cy="3090863"/>
            <a:chOff x="3413702" y="746702"/>
            <a:chExt cx="5364596" cy="5364596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0B31609-D4C9-DD6C-24C7-CA19541A239A}"/>
                </a:ext>
              </a:extLst>
            </p:cNvPr>
            <p:cNvSpPr/>
            <p:nvPr/>
          </p:nvSpPr>
          <p:spPr>
            <a:xfrm>
              <a:off x="3413702" y="746702"/>
              <a:ext cx="5364596" cy="5364596"/>
            </a:xfrm>
            <a:prstGeom prst="rect">
              <a:avLst/>
            </a:prstGeom>
            <a:gradFill flip="none" rotWithShape="1">
              <a:gsLst>
                <a:gs pos="0">
                  <a:srgbClr val="E3DCC1"/>
                </a:gs>
                <a:gs pos="69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E493A0B-6B80-E8C4-BDA0-AD513FCDDE1C}"/>
                </a:ext>
              </a:extLst>
            </p:cNvPr>
            <p:cNvSpPr/>
            <p:nvPr/>
          </p:nvSpPr>
          <p:spPr>
            <a:xfrm>
              <a:off x="3541699" y="928553"/>
              <a:ext cx="5122405" cy="50008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4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React</a:t>
              </a:r>
            </a:p>
            <a:p>
              <a:pPr algn="ctr">
                <a:defRPr/>
              </a:pPr>
              <a:r>
                <a:rPr lang="ko-KR" altLang="en-US" sz="4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데이터 관리</a:t>
              </a:r>
              <a:endParaRPr lang="en-US" altLang="ko-KR" sz="4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endParaRPr>
            </a:p>
            <a:p>
              <a:pPr algn="ctr">
                <a:defRPr/>
              </a:pPr>
              <a:r>
                <a:rPr lang="en-US" altLang="ko-KR" sz="4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(</a:t>
              </a:r>
              <a:r>
                <a:rPr lang="en-US" altLang="ko-KR" sz="4400" b="1" dirty="0" err="1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Props,State</a:t>
              </a:r>
              <a:r>
                <a:rPr lang="en-US" altLang="ko-KR" sz="4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10463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1C14-DC7F-E9AE-1F23-EBE44ED7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1E03D2-A2D4-A8C4-95E1-F3FB742FC3E0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데이터관리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27932" y="1004699"/>
            <a:ext cx="4201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컴포넌트 데이터 관리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0CC0815-AB5B-F680-2036-541D44CD8E84}"/>
              </a:ext>
            </a:extLst>
          </p:cNvPr>
          <p:cNvSpPr/>
          <p:nvPr/>
        </p:nvSpPr>
        <p:spPr>
          <a:xfrm>
            <a:off x="965749" y="1592930"/>
            <a:ext cx="7945330" cy="2899060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리액트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컴포넌트에서 데이터는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props, state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두 가지로 관리할 수 있음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props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는 정적인 데이터로 부모컴포넌트로 전달받은 값으로 읽기전용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state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는 동적인 데이터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반응성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있는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)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데이터로 변경이 가능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함수형 컴포넌트에서는  매개변수와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useState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() hooks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를 이용하고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클래스형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컴포넌트에서는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this.props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this.state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를 이용 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두 값 모두 객체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배열로 데이터를 반환하여 구조분해할당을 이용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80702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1C14-DC7F-E9AE-1F23-EBE44ED7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1E03D2-A2D4-A8C4-95E1-F3FB742FC3E0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데이터관리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27932" y="1004699"/>
            <a:ext cx="4201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Props(Properties) 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0CC0815-AB5B-F680-2036-541D44CD8E84}"/>
              </a:ext>
            </a:extLst>
          </p:cNvPr>
          <p:cNvSpPr/>
          <p:nvPr/>
        </p:nvSpPr>
        <p:spPr>
          <a:xfrm>
            <a:off x="965749" y="1592930"/>
            <a:ext cx="7945330" cy="2327560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부모컴포넌트에서 자식컴포넌트로 전달하는 데이터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태그의 속성처럼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속성명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=“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전달할 값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”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으로 전달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전달된 데이터는 읽기전용으로 수정이 불가능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자식 컴포넌트에 객체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key:value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형태로 전달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객체를 구조분해할당으로 값을 가져오면 더 편리하게 사용할 수 있음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0140" y="4011930"/>
            <a:ext cx="351942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props </a:t>
            </a:r>
            <a:r>
              <a:rPr lang="ko-KR" altLang="en-US" dirty="0"/>
              <a:t>데이터 활용 </a:t>
            </a:r>
            <a:r>
              <a:rPr lang="en-US" altLang="ko-KR" dirty="0"/>
              <a:t>-&gt; </a:t>
            </a:r>
            <a:r>
              <a:rPr lang="ko-KR" altLang="en-US" dirty="0"/>
              <a:t>기본</a:t>
            </a:r>
            <a:endParaRPr lang="en-US" altLang="ko-KR" dirty="0"/>
          </a:p>
          <a:p>
            <a:r>
              <a:rPr lang="ko-KR" altLang="en-US" dirty="0"/>
              <a:t>부모컴포넌트</a:t>
            </a:r>
            <a:endParaRPr lang="en-US" altLang="ko-KR" dirty="0"/>
          </a:p>
          <a:p>
            <a:r>
              <a:rPr lang="en-US" altLang="ko-KR" dirty="0"/>
              <a:t>&lt;div&gt;</a:t>
            </a:r>
          </a:p>
          <a:p>
            <a:r>
              <a:rPr lang="en-US" altLang="ko-KR" dirty="0"/>
              <a:t>&lt;Test title=“</a:t>
            </a:r>
            <a:r>
              <a:rPr lang="ko-KR" altLang="en-US" dirty="0"/>
              <a:t>제목을 설정</a:t>
            </a:r>
            <a:r>
              <a:rPr lang="en-US" altLang="ko-KR" dirty="0"/>
              <a:t>”&gt;</a:t>
            </a:r>
          </a:p>
          <a:p>
            <a:r>
              <a:rPr lang="en-US" altLang="ko-KR" dirty="0"/>
              <a:t>&lt;/div&gt;</a:t>
            </a:r>
          </a:p>
          <a:p>
            <a:r>
              <a:rPr lang="ko-KR" altLang="en-US" dirty="0"/>
              <a:t>자식컴포넌트</a:t>
            </a:r>
            <a:endParaRPr lang="en-US" altLang="ko-KR" dirty="0"/>
          </a:p>
          <a:p>
            <a:r>
              <a:rPr lang="en-US" altLang="ko-KR" dirty="0"/>
              <a:t>export default function Test(props){</a:t>
            </a:r>
          </a:p>
          <a:p>
            <a:r>
              <a:rPr lang="en-US" altLang="ko-KR" dirty="0"/>
              <a:t>    return &lt;h1&gt;{</a:t>
            </a:r>
            <a:r>
              <a:rPr lang="en-US" altLang="ko-KR" dirty="0" err="1"/>
              <a:t>props.title</a:t>
            </a:r>
            <a:r>
              <a:rPr lang="en-US" altLang="ko-KR" dirty="0"/>
              <a:t>}&lt;/h1&gt;</a:t>
            </a:r>
          </a:p>
          <a:p>
            <a:r>
              <a:rPr lang="en-US" altLang="ko-KR" dirty="0"/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57800" y="4011930"/>
            <a:ext cx="351942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props </a:t>
            </a:r>
            <a:r>
              <a:rPr lang="ko-KR" altLang="en-US" dirty="0"/>
              <a:t>데이터활용 </a:t>
            </a:r>
            <a:r>
              <a:rPr lang="en-US" altLang="ko-KR" dirty="0"/>
              <a:t>-&gt; </a:t>
            </a:r>
            <a:r>
              <a:rPr lang="ko-KR" altLang="en-US" dirty="0"/>
              <a:t>변수</a:t>
            </a:r>
            <a:endParaRPr lang="en-US" altLang="ko-KR" dirty="0"/>
          </a:p>
          <a:p>
            <a:r>
              <a:rPr lang="ko-KR" altLang="en-US" dirty="0"/>
              <a:t>부모컴포넌트</a:t>
            </a:r>
            <a:endParaRPr lang="en-US" altLang="ko-KR" dirty="0"/>
          </a:p>
          <a:p>
            <a:r>
              <a:rPr lang="en-US" altLang="ko-KR" dirty="0"/>
              <a:t>&lt;div&gt;</a:t>
            </a:r>
          </a:p>
          <a:p>
            <a:r>
              <a:rPr lang="en-US" altLang="ko-KR" dirty="0"/>
              <a:t>&lt;Test title={title}&gt;</a:t>
            </a:r>
          </a:p>
          <a:p>
            <a:r>
              <a:rPr lang="en-US" altLang="ko-KR" dirty="0"/>
              <a:t>&lt;/div&gt;</a:t>
            </a:r>
          </a:p>
          <a:p>
            <a:r>
              <a:rPr lang="ko-KR" altLang="en-US" dirty="0"/>
              <a:t>자식컴포넌트</a:t>
            </a:r>
            <a:endParaRPr lang="en-US" altLang="ko-KR" dirty="0"/>
          </a:p>
          <a:p>
            <a:r>
              <a:rPr lang="en-US" altLang="ko-KR" dirty="0"/>
              <a:t>export default function Test(props){</a:t>
            </a:r>
          </a:p>
          <a:p>
            <a:r>
              <a:rPr lang="en-US" altLang="ko-KR" dirty="0"/>
              <a:t>    return &lt;h1&gt;{</a:t>
            </a:r>
            <a:r>
              <a:rPr lang="en-US" altLang="ko-KR" dirty="0" err="1"/>
              <a:t>props.title</a:t>
            </a:r>
            <a:r>
              <a:rPr lang="en-US" altLang="ko-KR" dirty="0"/>
              <a:t>}&lt;/h1&gt;</a:t>
            </a:r>
          </a:p>
          <a:p>
            <a:r>
              <a:rPr lang="en-US" altLang="ko-K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855669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1C14-DC7F-E9AE-1F23-EBE44ED7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1E03D2-A2D4-A8C4-95E1-F3FB742FC3E0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데이터관리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27932" y="1004699"/>
            <a:ext cx="4201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children props 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데이터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0CC0815-AB5B-F680-2036-541D44CD8E84}"/>
              </a:ext>
            </a:extLst>
          </p:cNvPr>
          <p:cNvSpPr/>
          <p:nvPr/>
        </p:nvSpPr>
        <p:spPr>
          <a:xfrm>
            <a:off x="965749" y="1592930"/>
            <a:ext cx="7945330" cy="2327560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컴포넌트의 시작태그와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끝태그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사이에 작성하는 데이터는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props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의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children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속성에 저장되어 전송됨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데이터는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일반값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배열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객체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jsx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모두 가능함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일반값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배열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객체는 각 타입에 맞춰서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children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에 저장이 되고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jsx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는 다수로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전달했을때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배열로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저장이됨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011930"/>
            <a:ext cx="390882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부모컴포넌트 일반데이터</a:t>
            </a:r>
            <a:endParaRPr lang="en-US" altLang="ko-KR" dirty="0"/>
          </a:p>
          <a:p>
            <a:r>
              <a:rPr lang="en-US" altLang="ko-KR" dirty="0"/>
              <a:t>&lt;div&gt;</a:t>
            </a:r>
          </a:p>
          <a:p>
            <a:r>
              <a:rPr lang="en-US" altLang="ko-KR" dirty="0"/>
              <a:t>&lt;Test&gt;test&lt;/Test&gt;&lt;Test&gt;[1,2,3,4]&lt;/Test&gt;</a:t>
            </a:r>
          </a:p>
          <a:p>
            <a:r>
              <a:rPr lang="en-US" altLang="ko-KR" dirty="0"/>
              <a:t>&lt;/div&gt;</a:t>
            </a:r>
          </a:p>
          <a:p>
            <a:r>
              <a:rPr lang="ko-KR" altLang="en-US" dirty="0"/>
              <a:t>자식컴포넌트</a:t>
            </a:r>
            <a:endParaRPr lang="en-US" altLang="ko-KR" dirty="0"/>
          </a:p>
          <a:p>
            <a:r>
              <a:rPr lang="en-US" altLang="ko-KR" dirty="0"/>
              <a:t>export default function Test(props){</a:t>
            </a:r>
          </a:p>
          <a:p>
            <a:r>
              <a:rPr lang="en-US" altLang="ko-KR" dirty="0"/>
              <a:t>    return &lt;div&gt;{</a:t>
            </a:r>
            <a:r>
              <a:rPr lang="en-US" altLang="ko-KR" dirty="0" err="1"/>
              <a:t>props.children</a:t>
            </a:r>
            <a:r>
              <a:rPr lang="en-US" altLang="ko-KR" dirty="0"/>
              <a:t>}&lt;/div&gt;</a:t>
            </a:r>
          </a:p>
          <a:p>
            <a:r>
              <a:rPr lang="en-US" altLang="ko-KR" dirty="0"/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63490" y="4011930"/>
            <a:ext cx="389478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부모컴포넌트 </a:t>
            </a:r>
            <a:r>
              <a:rPr lang="en-US" altLang="ko-KR" dirty="0"/>
              <a:t>JSX</a:t>
            </a:r>
          </a:p>
          <a:p>
            <a:r>
              <a:rPr lang="en-US" altLang="ko-KR" dirty="0"/>
              <a:t>&lt;div&gt;</a:t>
            </a:r>
          </a:p>
          <a:p>
            <a:r>
              <a:rPr lang="en-US" altLang="ko-KR" dirty="0"/>
              <a:t>&lt;Test&gt;&lt;span&gt;test&lt;/span&gt;&lt;/Test&gt;</a:t>
            </a:r>
          </a:p>
          <a:p>
            <a:r>
              <a:rPr lang="en-US" altLang="ko-KR" dirty="0"/>
              <a:t>&lt;/div&gt;</a:t>
            </a:r>
          </a:p>
          <a:p>
            <a:r>
              <a:rPr lang="ko-KR" altLang="en-US" dirty="0"/>
              <a:t>자식컴포넌트</a:t>
            </a:r>
            <a:endParaRPr lang="en-US" altLang="ko-KR" dirty="0"/>
          </a:p>
          <a:p>
            <a:r>
              <a:rPr lang="en-US" altLang="ko-KR" dirty="0"/>
              <a:t>export default function Test({children}){</a:t>
            </a:r>
          </a:p>
          <a:p>
            <a:r>
              <a:rPr lang="en-US" altLang="ko-KR" dirty="0"/>
              <a:t>    return &lt;div&gt;{</a:t>
            </a:r>
            <a:r>
              <a:rPr lang="en-US" altLang="ko-KR" dirty="0" err="1"/>
              <a:t>props.children</a:t>
            </a:r>
            <a:r>
              <a:rPr lang="en-US" altLang="ko-KR" dirty="0"/>
              <a:t>}&lt;/div&gt;</a:t>
            </a:r>
          </a:p>
          <a:p>
            <a:r>
              <a:rPr lang="en-US" altLang="ko-K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914092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1C14-DC7F-E9AE-1F23-EBE44ED7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1E03D2-A2D4-A8C4-95E1-F3FB742FC3E0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데이터관리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27932" y="1004699"/>
            <a:ext cx="4201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State (</a:t>
            </a:r>
            <a:r>
              <a:rPr lang="ko-KR" alt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반응성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) 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0CC0815-AB5B-F680-2036-541D44CD8E84}"/>
              </a:ext>
            </a:extLst>
          </p:cNvPr>
          <p:cNvSpPr/>
          <p:nvPr/>
        </p:nvSpPr>
        <p:spPr>
          <a:xfrm>
            <a:off x="965749" y="1592930"/>
            <a:ext cx="7945330" cy="3161950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컴포넌트에서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반응성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있는 데이터를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사용할때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State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를 이용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State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는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value, set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메소드로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구성되고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value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는 항상 객체로 저장 </a:t>
            </a: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* </a:t>
            </a:r>
            <a:r>
              <a:rPr lang="ko-KR" altLang="en-US" sz="1600" dirty="0" err="1">
                <a:solidFill>
                  <a:schemeClr val="tx1"/>
                </a:solidFill>
                <a:latin typeface="+mn-ea"/>
              </a:rPr>
              <a:t>단일값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X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State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의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값을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변경할때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set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메소드를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호출해서 변경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비동기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업데이트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) 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  -&gt;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불변성으로 항상 새로운 값으로 교체해야 함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     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변경 값을 직접대입 하면 안됨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State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값이 변경되면 화면을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리랜링해서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데이터를 반영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반응성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useState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()(hooks)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나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this.state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속성을 이용해서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State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생성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8372707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1C14-DC7F-E9AE-1F23-EBE44ED7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1E03D2-A2D4-A8C4-95E1-F3FB742FC3E0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데이터관리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27932" y="1004699"/>
            <a:ext cx="4201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State (</a:t>
            </a:r>
            <a:r>
              <a:rPr lang="ko-KR" alt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반응성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1570" y="1543050"/>
            <a:ext cx="3113353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클래스 컴포넌트선언 및 수정</a:t>
            </a:r>
            <a:endParaRPr lang="en-US" altLang="ko-KR" dirty="0"/>
          </a:p>
          <a:p>
            <a:r>
              <a:rPr lang="en-US" altLang="ko-KR" dirty="0"/>
              <a:t>class Test extends Component{</a:t>
            </a:r>
          </a:p>
          <a:p>
            <a:r>
              <a:rPr lang="en-US" altLang="ko-KR" dirty="0"/>
              <a:t>    constructor(){</a:t>
            </a:r>
          </a:p>
          <a:p>
            <a:r>
              <a:rPr lang="en-US" altLang="ko-KR" dirty="0"/>
              <a:t>       super();</a:t>
            </a:r>
          </a:p>
          <a:p>
            <a:r>
              <a:rPr lang="en-US" altLang="ko-KR" dirty="0"/>
              <a:t>       //</a:t>
            </a:r>
            <a:r>
              <a:rPr lang="ko-KR" altLang="en-US" dirty="0" err="1"/>
              <a:t>생성자내부선언</a:t>
            </a:r>
            <a:endParaRPr lang="en-US" altLang="ko-KR" dirty="0"/>
          </a:p>
          <a:p>
            <a:r>
              <a:rPr lang="en-US" altLang="ko-KR" dirty="0"/>
              <a:t>       </a:t>
            </a:r>
            <a:r>
              <a:rPr lang="en-US" altLang="ko-KR" dirty="0" err="1"/>
              <a:t>this.state</a:t>
            </a:r>
            <a:r>
              <a:rPr lang="en-US" altLang="ko-KR" dirty="0"/>
              <a:t>={</a:t>
            </a:r>
            <a:r>
              <a:rPr lang="en-US" altLang="ko-KR" dirty="0" err="1"/>
              <a:t>test:”test</a:t>
            </a:r>
            <a:r>
              <a:rPr lang="en-US" altLang="ko-KR" dirty="0"/>
              <a:t>”}</a:t>
            </a:r>
          </a:p>
          <a:p>
            <a:r>
              <a:rPr lang="en-US" altLang="ko-KR" dirty="0"/>
              <a:t>    }</a:t>
            </a:r>
          </a:p>
          <a:p>
            <a:r>
              <a:rPr lang="en-US" altLang="ko-KR" dirty="0"/>
              <a:t>    //</a:t>
            </a:r>
            <a:r>
              <a:rPr lang="ko-KR" altLang="en-US" dirty="0" err="1"/>
              <a:t>생성자외부선언</a:t>
            </a:r>
            <a:endParaRPr lang="en-US" altLang="ko-KR" dirty="0"/>
          </a:p>
          <a:p>
            <a:r>
              <a:rPr lang="en-US" altLang="ko-KR" dirty="0"/>
              <a:t>    state={</a:t>
            </a:r>
            <a:r>
              <a:rPr lang="en-US" altLang="ko-KR" dirty="0" err="1"/>
              <a:t>test:”test</a:t>
            </a:r>
            <a:r>
              <a:rPr lang="en-US" altLang="ko-KR" dirty="0"/>
              <a:t>”};</a:t>
            </a:r>
          </a:p>
          <a:p>
            <a:r>
              <a:rPr lang="en-US" altLang="ko-KR" dirty="0"/>
              <a:t>    //</a:t>
            </a:r>
            <a:r>
              <a:rPr lang="ko-KR" altLang="en-US" dirty="0"/>
              <a:t>값 수정 </a:t>
            </a:r>
            <a:r>
              <a:rPr lang="ko-KR" altLang="en-US" dirty="0" err="1"/>
              <a:t>핸들러</a:t>
            </a:r>
            <a:endParaRPr lang="en-US" altLang="ko-KR" dirty="0"/>
          </a:p>
          <a:p>
            <a:r>
              <a:rPr lang="en-US" altLang="ko-KR" dirty="0"/>
              <a:t>    </a:t>
            </a:r>
            <a:r>
              <a:rPr lang="en-US" altLang="ko-KR" dirty="0" err="1"/>
              <a:t>const</a:t>
            </a:r>
            <a:r>
              <a:rPr lang="en-US" altLang="ko-KR" dirty="0"/>
              <a:t> handler=()=&gt;{</a:t>
            </a:r>
          </a:p>
          <a:p>
            <a:r>
              <a:rPr lang="en-US" altLang="ko-KR" dirty="0"/>
              <a:t>      //state</a:t>
            </a:r>
            <a:r>
              <a:rPr lang="ko-KR" altLang="en-US" dirty="0"/>
              <a:t>값 변경</a:t>
            </a:r>
            <a:endParaRPr lang="en-US" altLang="ko-KR" dirty="0"/>
          </a:p>
          <a:p>
            <a:r>
              <a:rPr lang="en-US" altLang="ko-KR" dirty="0"/>
              <a:t>      </a:t>
            </a:r>
            <a:r>
              <a:rPr lang="en-US" altLang="ko-KR" dirty="0" err="1"/>
              <a:t>this.setState</a:t>
            </a:r>
            <a:r>
              <a:rPr lang="en-US" altLang="ko-KR" dirty="0"/>
              <a:t>({test:”123”})</a:t>
            </a:r>
          </a:p>
          <a:p>
            <a:r>
              <a:rPr lang="en-US" altLang="ko-KR" dirty="0"/>
              <a:t>    }</a:t>
            </a:r>
          </a:p>
          <a:p>
            <a:r>
              <a:rPr lang="en-US" altLang="ko-KR" dirty="0"/>
              <a:t>    render(){</a:t>
            </a:r>
          </a:p>
          <a:p>
            <a:r>
              <a:rPr lang="en-US" altLang="ko-KR" dirty="0"/>
              <a:t>        return &lt;p&gt;{</a:t>
            </a:r>
            <a:r>
              <a:rPr lang="en-US" altLang="ko-KR" dirty="0" err="1"/>
              <a:t>this.state</a:t>
            </a:r>
            <a:r>
              <a:rPr lang="en-US" altLang="ko-KR" dirty="0"/>
              <a:t>}&lt;/p&gt;</a:t>
            </a:r>
          </a:p>
          <a:p>
            <a:r>
              <a:rPr lang="en-US" altLang="ko-KR" dirty="0"/>
              <a:t>    }</a:t>
            </a:r>
          </a:p>
          <a:p>
            <a:r>
              <a:rPr lang="en-US" altLang="ko-KR" dirty="0"/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80610" y="1543050"/>
            <a:ext cx="3836435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함수 컴포넌트 선언 및 수정</a:t>
            </a:r>
            <a:endParaRPr lang="en-US" altLang="ko-KR" dirty="0"/>
          </a:p>
          <a:p>
            <a:r>
              <a:rPr lang="en-US" altLang="ko-KR" dirty="0"/>
              <a:t>export default function Test(){</a:t>
            </a:r>
          </a:p>
          <a:p>
            <a:r>
              <a:rPr lang="en-US" altLang="ko-KR" dirty="0"/>
              <a:t>    //state</a:t>
            </a:r>
            <a:r>
              <a:rPr lang="ko-KR" altLang="en-US" dirty="0"/>
              <a:t>선언 </a:t>
            </a:r>
            <a:endParaRPr lang="en-US" altLang="ko-KR" dirty="0"/>
          </a:p>
          <a:p>
            <a:r>
              <a:rPr lang="en-US" altLang="ko-KR" dirty="0"/>
              <a:t>    //</a:t>
            </a:r>
            <a:r>
              <a:rPr lang="en-US" altLang="ko-KR" dirty="0" err="1"/>
              <a:t>useState</a:t>
            </a:r>
            <a:r>
              <a:rPr lang="ko-KR" altLang="en-US" dirty="0"/>
              <a:t>매개변수는 초기값</a:t>
            </a:r>
            <a:endParaRPr lang="en-US" altLang="ko-KR" dirty="0"/>
          </a:p>
          <a:p>
            <a:r>
              <a:rPr lang="en-US" altLang="ko-KR" dirty="0"/>
              <a:t>    </a:t>
            </a:r>
            <a:r>
              <a:rPr lang="en-US" altLang="ko-KR" dirty="0" err="1"/>
              <a:t>const</a:t>
            </a:r>
            <a:r>
              <a:rPr lang="en-US" altLang="ko-KR" dirty="0"/>
              <a:t> [</a:t>
            </a:r>
            <a:r>
              <a:rPr lang="en-US" altLang="ko-KR" dirty="0" err="1"/>
              <a:t>test,setTest</a:t>
            </a:r>
            <a:r>
              <a:rPr lang="en-US" altLang="ko-KR" dirty="0"/>
              <a:t>]=</a:t>
            </a:r>
            <a:r>
              <a:rPr lang="en-US" altLang="ko-KR" dirty="0" err="1"/>
              <a:t>useState</a:t>
            </a:r>
            <a:r>
              <a:rPr lang="en-US" altLang="ko-KR" dirty="0"/>
              <a:t>(“test”);</a:t>
            </a:r>
          </a:p>
          <a:p>
            <a:r>
              <a:rPr lang="en-US" altLang="ko-KR" dirty="0"/>
              <a:t>    </a:t>
            </a:r>
          </a:p>
          <a:p>
            <a:r>
              <a:rPr lang="en-US" altLang="ko-KR" dirty="0"/>
              <a:t>    //</a:t>
            </a:r>
            <a:r>
              <a:rPr lang="ko-KR" altLang="en-US" dirty="0"/>
              <a:t>값 수정 </a:t>
            </a:r>
            <a:r>
              <a:rPr lang="ko-KR" altLang="en-US" dirty="0" err="1"/>
              <a:t>핸들러</a:t>
            </a:r>
            <a:endParaRPr lang="en-US" altLang="ko-KR" dirty="0"/>
          </a:p>
          <a:p>
            <a:r>
              <a:rPr lang="en-US" altLang="ko-KR" dirty="0"/>
              <a:t>    </a:t>
            </a:r>
            <a:r>
              <a:rPr lang="en-US" altLang="ko-KR" dirty="0" err="1"/>
              <a:t>const</a:t>
            </a:r>
            <a:r>
              <a:rPr lang="en-US" altLang="ko-KR" dirty="0"/>
              <a:t> </a:t>
            </a:r>
            <a:r>
              <a:rPr lang="en-US" altLang="ko-KR" dirty="0" err="1"/>
              <a:t>hanlder</a:t>
            </a:r>
            <a:r>
              <a:rPr lang="en-US" altLang="ko-KR" dirty="0"/>
              <a:t>=()=&gt;{</a:t>
            </a:r>
          </a:p>
          <a:p>
            <a:r>
              <a:rPr lang="en-US" altLang="ko-KR" dirty="0"/>
              <a:t>        </a:t>
            </a:r>
            <a:r>
              <a:rPr lang="en-US" altLang="ko-KR" dirty="0" err="1"/>
              <a:t>setTest</a:t>
            </a:r>
            <a:r>
              <a:rPr lang="en-US" altLang="ko-KR" dirty="0"/>
              <a:t>(“</a:t>
            </a:r>
            <a:r>
              <a:rPr lang="ko-KR" altLang="en-US" dirty="0" err="1"/>
              <a:t>변경값</a:t>
            </a:r>
            <a:r>
              <a:rPr lang="en-US" altLang="ko-KR" dirty="0"/>
              <a:t>”);</a:t>
            </a:r>
          </a:p>
          <a:p>
            <a:r>
              <a:rPr lang="en-US" altLang="ko-KR" dirty="0"/>
              <a:t>    }</a:t>
            </a:r>
          </a:p>
          <a:p>
            <a:r>
              <a:rPr lang="en-US" altLang="ko-KR" dirty="0"/>
              <a:t>    </a:t>
            </a:r>
          </a:p>
          <a:p>
            <a:r>
              <a:rPr lang="en-US" altLang="ko-KR" dirty="0"/>
              <a:t>    return  &lt;p&gt;{test}&lt;/p&gt;</a:t>
            </a:r>
          </a:p>
          <a:p>
            <a:r>
              <a:rPr lang="en-US" altLang="ko-K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503637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1C14-DC7F-E9AE-1F23-EBE44ED7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1E03D2-A2D4-A8C4-95E1-F3FB742FC3E0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데이터관리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27932" y="1004699"/>
            <a:ext cx="5069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State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의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set</a:t>
            </a:r>
            <a:r>
              <a:rPr lang="ko-KR" alt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메소드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ko-KR" alt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이전값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이용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0CC0815-AB5B-F680-2036-541D44CD8E84}"/>
              </a:ext>
            </a:extLst>
          </p:cNvPr>
          <p:cNvSpPr/>
          <p:nvPr/>
        </p:nvSpPr>
        <p:spPr>
          <a:xfrm>
            <a:off x="965749" y="1592930"/>
            <a:ext cx="7945330" cy="1996090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state set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메소드는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비동기로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처리할 수 있기 때문에 일관성에  유의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이전 값을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state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값에 직접 접근해 활용하면 일관성이 깨질 수 있음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이전 값을 이용해서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데이터변경시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prevData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)=&gt;{}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형식의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callback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함수이용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  *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prevData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에는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state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값이 전달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57300" y="3760470"/>
            <a:ext cx="2132892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함수선언하기</a:t>
            </a:r>
            <a:endParaRPr lang="en-US" altLang="ko-KR" dirty="0"/>
          </a:p>
          <a:p>
            <a:endParaRPr lang="en-US" altLang="ko-KR" sz="1000" dirty="0"/>
          </a:p>
          <a:p>
            <a:r>
              <a:rPr lang="en-US" altLang="ko-KR" dirty="0" err="1"/>
              <a:t>const</a:t>
            </a:r>
            <a:r>
              <a:rPr lang="en-US" altLang="ko-KR" dirty="0"/>
              <a:t> handler=()=&gt;{</a:t>
            </a:r>
          </a:p>
          <a:p>
            <a:r>
              <a:rPr lang="en-US" altLang="ko-KR" dirty="0"/>
              <a:t>    </a:t>
            </a:r>
            <a:r>
              <a:rPr lang="en-US" altLang="ko-KR" dirty="0" err="1"/>
              <a:t>setState</a:t>
            </a:r>
            <a:r>
              <a:rPr lang="en-US" altLang="ko-KR" dirty="0"/>
              <a:t>((</a:t>
            </a:r>
            <a:r>
              <a:rPr lang="en-US" altLang="ko-KR" dirty="0" err="1"/>
              <a:t>prev</a:t>
            </a:r>
            <a:r>
              <a:rPr lang="en-US" altLang="ko-KR" dirty="0"/>
              <a:t>)=&gt;{</a:t>
            </a:r>
          </a:p>
          <a:p>
            <a:r>
              <a:rPr lang="en-US" altLang="ko-KR" dirty="0"/>
              <a:t>      return prev+1;</a:t>
            </a:r>
          </a:p>
          <a:p>
            <a:r>
              <a:rPr lang="en-US" altLang="ko-KR" dirty="0"/>
              <a:t>    })</a:t>
            </a:r>
          </a:p>
          <a:p>
            <a:r>
              <a:rPr lang="en-US" altLang="ko-KR" dirty="0"/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8414" y="3760470"/>
            <a:ext cx="2945999" cy="19697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함수선언하기</a:t>
            </a:r>
            <a:endParaRPr lang="en-US" altLang="ko-KR" dirty="0"/>
          </a:p>
          <a:p>
            <a:endParaRPr lang="en-US" altLang="ko-KR" sz="1000" dirty="0"/>
          </a:p>
          <a:p>
            <a:r>
              <a:rPr lang="en-US" altLang="ko-KR" dirty="0" err="1"/>
              <a:t>const</a:t>
            </a:r>
            <a:r>
              <a:rPr lang="en-US" altLang="ko-KR" dirty="0"/>
              <a:t> handler=()=&gt;{</a:t>
            </a:r>
          </a:p>
          <a:p>
            <a:r>
              <a:rPr lang="en-US" altLang="ko-KR" dirty="0"/>
              <a:t>    </a:t>
            </a:r>
            <a:r>
              <a:rPr lang="en-US" altLang="ko-KR" dirty="0" err="1"/>
              <a:t>setState</a:t>
            </a:r>
            <a:r>
              <a:rPr lang="en-US" altLang="ko-KR" dirty="0"/>
              <a:t>((</a:t>
            </a:r>
            <a:r>
              <a:rPr lang="en-US" altLang="ko-KR" dirty="0" err="1"/>
              <a:t>prev</a:t>
            </a:r>
            <a:r>
              <a:rPr lang="en-US" altLang="ko-KR" dirty="0"/>
              <a:t>)=&gt;{</a:t>
            </a:r>
          </a:p>
          <a:p>
            <a:r>
              <a:rPr lang="en-US" altLang="ko-KR" dirty="0"/>
              <a:t>      return {…</a:t>
            </a:r>
            <a:r>
              <a:rPr lang="en-US" altLang="ko-KR" dirty="0" err="1"/>
              <a:t>prev</a:t>
            </a:r>
            <a:r>
              <a:rPr lang="en-US" altLang="ko-KR" dirty="0"/>
              <a:t>, </a:t>
            </a:r>
            <a:r>
              <a:rPr lang="ko-KR" altLang="en-US" dirty="0"/>
              <a:t>수정내용</a:t>
            </a:r>
            <a:r>
              <a:rPr lang="en-US" altLang="ko-KR" dirty="0"/>
              <a:t>};</a:t>
            </a:r>
          </a:p>
          <a:p>
            <a:r>
              <a:rPr lang="en-US" altLang="ko-KR" dirty="0"/>
              <a:t>    })</a:t>
            </a:r>
          </a:p>
          <a:p>
            <a:r>
              <a:rPr lang="en-US" altLang="ko-K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014775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FDE66-11F9-C188-4090-E6B3EE142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그룹 8">
            <a:extLst>
              <a:ext uri="{FF2B5EF4-FFF2-40B4-BE49-F238E27FC236}">
                <a16:creationId xmlns:a16="http://schemas.microsoft.com/office/drawing/2014/main" id="{7CCD256C-D074-2C03-99CB-FF4B7DF65C73}"/>
              </a:ext>
            </a:extLst>
          </p:cNvPr>
          <p:cNvGrpSpPr>
            <a:grpSpLocks/>
          </p:cNvGrpSpPr>
          <p:nvPr/>
        </p:nvGrpSpPr>
        <p:grpSpPr bwMode="auto">
          <a:xfrm>
            <a:off x="2020491" y="1916906"/>
            <a:ext cx="5089922" cy="3090863"/>
            <a:chOff x="3413702" y="746702"/>
            <a:chExt cx="5364596" cy="5364596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0B31609-D4C9-DD6C-24C7-CA19541A239A}"/>
                </a:ext>
              </a:extLst>
            </p:cNvPr>
            <p:cNvSpPr/>
            <p:nvPr/>
          </p:nvSpPr>
          <p:spPr>
            <a:xfrm>
              <a:off x="3413702" y="746702"/>
              <a:ext cx="5364596" cy="5364596"/>
            </a:xfrm>
            <a:prstGeom prst="rect">
              <a:avLst/>
            </a:prstGeom>
            <a:gradFill flip="none" rotWithShape="1">
              <a:gsLst>
                <a:gs pos="0">
                  <a:srgbClr val="E3DCC1"/>
                </a:gs>
                <a:gs pos="69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E493A0B-6B80-E8C4-BDA0-AD513FCDDE1C}"/>
                </a:ext>
              </a:extLst>
            </p:cNvPr>
            <p:cNvSpPr/>
            <p:nvPr/>
          </p:nvSpPr>
          <p:spPr>
            <a:xfrm>
              <a:off x="3541699" y="928553"/>
              <a:ext cx="5122405" cy="50008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4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React</a:t>
              </a:r>
            </a:p>
            <a:p>
              <a:pPr algn="ctr">
                <a:defRPr/>
              </a:pPr>
              <a:r>
                <a:rPr lang="ko-KR" altLang="en-US" sz="4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데이터 관리</a:t>
              </a:r>
              <a:endParaRPr lang="en-US" altLang="ko-KR" sz="4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endParaRPr>
            </a:p>
            <a:p>
              <a:pPr algn="ctr">
                <a:defRPr/>
              </a:pPr>
              <a:r>
                <a:rPr lang="en-US" altLang="ko-KR" sz="4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(Context)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186350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1C14-DC7F-E9AE-1F23-EBE44ED7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1E03D2-A2D4-A8C4-95E1-F3FB742FC3E0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데이터관리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27932" y="1004699"/>
            <a:ext cx="4201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Context 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이란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0CC0815-AB5B-F680-2036-541D44CD8E84}"/>
              </a:ext>
            </a:extLst>
          </p:cNvPr>
          <p:cNvSpPr/>
          <p:nvPr/>
        </p:nvSpPr>
        <p:spPr>
          <a:xfrm>
            <a:off x="965749" y="1592930"/>
            <a:ext cx="7945330" cy="3401980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Props drilling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문제를 해결하는 도구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 * props drilling : 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계층관계에 있는 컴포넌트에 데이터를 </a:t>
            </a:r>
            <a:r>
              <a:rPr lang="ko-KR" altLang="en-US" sz="1600" dirty="0" err="1">
                <a:solidFill>
                  <a:schemeClr val="tx1"/>
                </a:solidFill>
                <a:latin typeface="+mn-ea"/>
              </a:rPr>
              <a:t>전달할때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props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를 이용</a:t>
            </a:r>
            <a:endParaRPr lang="en-US" altLang="ko-KR" sz="16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                       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해서 계속 전달하기 때문에 비효율적임</a:t>
            </a:r>
            <a:endParaRPr lang="en-US" altLang="ko-KR" sz="16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특정구역에서 전역으로 상태 공유를 할 수 있게 해주는 도구로 자식 컴포넌트에 쉽게 데이터를 사용할 수 있음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Provider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와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Consumer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로 구분하여 데이터를 공유하는 방식으로 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상위컴포넌트에서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Provider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로 데이터를 공유하면 자식 컴포넌트에서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Consumer,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useContext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() hooks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를 이용해서 데이터를 사용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8710" y="4994910"/>
            <a:ext cx="804245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주의 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Provider</a:t>
            </a:r>
            <a:r>
              <a:rPr lang="ko-KR" altLang="en-US" dirty="0"/>
              <a:t>의 </a:t>
            </a:r>
            <a:r>
              <a:rPr lang="en-US" altLang="ko-KR" dirty="0"/>
              <a:t>value</a:t>
            </a:r>
            <a:r>
              <a:rPr lang="ko-KR" altLang="en-US" dirty="0"/>
              <a:t>가 변경되면 모든 </a:t>
            </a:r>
            <a:r>
              <a:rPr lang="en-US" altLang="ko-KR" dirty="0"/>
              <a:t>Consumer</a:t>
            </a:r>
            <a:r>
              <a:rPr lang="ko-KR" altLang="en-US" dirty="0"/>
              <a:t>가 </a:t>
            </a:r>
            <a:r>
              <a:rPr lang="ko-KR" altLang="en-US" dirty="0" err="1"/>
              <a:t>리렌더링</a:t>
            </a:r>
            <a:r>
              <a:rPr lang="ko-KR" altLang="en-US" dirty="0"/>
              <a:t> 되어 성능이슈가 발생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</a:t>
            </a:r>
            <a:r>
              <a:rPr lang="ko-KR" altLang="en-US" dirty="0" err="1"/>
              <a:t>앱</a:t>
            </a:r>
            <a:r>
              <a:rPr lang="ko-KR" altLang="en-US" dirty="0"/>
              <a:t> 전반에서 공유가 필요한 데이터에만 사용하는 것이 권장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</a:t>
            </a:r>
            <a:r>
              <a:rPr lang="ko-KR" altLang="en-US" dirty="0"/>
              <a:t>복잡한 상태관리는 </a:t>
            </a:r>
            <a:r>
              <a:rPr lang="en-US" altLang="ko-KR" dirty="0"/>
              <a:t>Redux</a:t>
            </a:r>
            <a:r>
              <a:rPr lang="ko-KR" altLang="en-US" dirty="0"/>
              <a:t>나 </a:t>
            </a:r>
            <a:r>
              <a:rPr lang="en-US" altLang="ko-KR" dirty="0" err="1"/>
              <a:t>Zustand</a:t>
            </a:r>
            <a:r>
              <a:rPr lang="ko-KR" altLang="en-US" dirty="0"/>
              <a:t>를 이용하는 것을 권장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302550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1C14-DC7F-E9AE-1F23-EBE44ED7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1E03D2-A2D4-A8C4-95E1-F3FB742FC3E0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데이터관리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98D233C-48AB-FF84-86CF-4CF8029043A3}"/>
              </a:ext>
            </a:extLst>
          </p:cNvPr>
          <p:cNvGrpSpPr/>
          <p:nvPr/>
        </p:nvGrpSpPr>
        <p:grpSpPr>
          <a:xfrm>
            <a:off x="1628349" y="2070645"/>
            <a:ext cx="2796265" cy="3259272"/>
            <a:chOff x="1616919" y="3161372"/>
            <a:chExt cx="2796265" cy="3259272"/>
          </a:xfrm>
        </p:grpSpPr>
        <p:sp>
          <p:nvSpPr>
            <p:cNvPr id="7" name="모서리가 둥근 직사각형 6">
              <a:extLst>
                <a:ext uri="{FF2B5EF4-FFF2-40B4-BE49-F238E27FC236}">
                  <a16:creationId xmlns:a16="http://schemas.microsoft.com/office/drawing/2014/main" id="{DD2B44D7-9D81-2D2F-2FC5-11E2B37D5E40}"/>
                </a:ext>
              </a:extLst>
            </p:cNvPr>
            <p:cNvSpPr/>
            <p:nvPr/>
          </p:nvSpPr>
          <p:spPr>
            <a:xfrm>
              <a:off x="1616922" y="3161372"/>
              <a:ext cx="1616927" cy="50738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/>
                <a:t>부모</a:t>
              </a:r>
              <a:r>
                <a:rPr kumimoji="1" lang="en-US" altLang="ko-KR" sz="1600" dirty="0"/>
                <a:t> </a:t>
              </a:r>
              <a:r>
                <a:rPr kumimoji="1" lang="ko-KR" altLang="en-US" sz="1600" dirty="0"/>
                <a:t>컴포넌트</a:t>
              </a:r>
            </a:p>
          </p:txBody>
        </p:sp>
        <p:sp>
          <p:nvSpPr>
            <p:cNvPr id="10" name="모서리가 둥근 직사각형 9">
              <a:extLst>
                <a:ext uri="{FF2B5EF4-FFF2-40B4-BE49-F238E27FC236}">
                  <a16:creationId xmlns:a16="http://schemas.microsoft.com/office/drawing/2014/main" id="{9332964C-19E8-E15C-3EDD-0B00FD74EEE9}"/>
                </a:ext>
              </a:extLst>
            </p:cNvPr>
            <p:cNvSpPr/>
            <p:nvPr/>
          </p:nvSpPr>
          <p:spPr>
            <a:xfrm>
              <a:off x="1616921" y="3989350"/>
              <a:ext cx="1616927" cy="50738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/>
                <a:t>자식 컴포넌트</a:t>
              </a:r>
            </a:p>
          </p:txBody>
        </p:sp>
        <p:sp>
          <p:nvSpPr>
            <p:cNvPr id="12" name="모서리가 둥근 직사각형 11">
              <a:extLst>
                <a:ext uri="{FF2B5EF4-FFF2-40B4-BE49-F238E27FC236}">
                  <a16:creationId xmlns:a16="http://schemas.microsoft.com/office/drawing/2014/main" id="{72187C08-A7E3-EEA5-B67E-925E75E1CFEA}"/>
                </a:ext>
              </a:extLst>
            </p:cNvPr>
            <p:cNvSpPr/>
            <p:nvPr/>
          </p:nvSpPr>
          <p:spPr>
            <a:xfrm>
              <a:off x="1616920" y="4800349"/>
              <a:ext cx="1616927" cy="507380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/>
                <a:t>자식 컴포넌트</a:t>
              </a:r>
            </a:p>
          </p:txBody>
        </p:sp>
        <p:sp>
          <p:nvSpPr>
            <p:cNvPr id="13" name="모서리가 둥근 직사각형 12">
              <a:extLst>
                <a:ext uri="{FF2B5EF4-FFF2-40B4-BE49-F238E27FC236}">
                  <a16:creationId xmlns:a16="http://schemas.microsoft.com/office/drawing/2014/main" id="{616D52DB-B412-B9EA-824C-CB0AB8A17414}"/>
                </a:ext>
              </a:extLst>
            </p:cNvPr>
            <p:cNvSpPr/>
            <p:nvPr/>
          </p:nvSpPr>
          <p:spPr>
            <a:xfrm>
              <a:off x="1616919" y="5623002"/>
              <a:ext cx="1616927" cy="50738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/>
                <a:t>자식 컴포넌트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CEBD859-3287-25F8-F73A-A9DDC683B16D}"/>
                </a:ext>
              </a:extLst>
            </p:cNvPr>
            <p:cNvSpPr txBox="1"/>
            <p:nvPr/>
          </p:nvSpPr>
          <p:spPr>
            <a:xfrm>
              <a:off x="2751396" y="3645471"/>
              <a:ext cx="11132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600" dirty="0"/>
                <a:t>props</a:t>
              </a:r>
              <a:r>
                <a:rPr kumimoji="1" lang="ko-KR" altLang="en-US" sz="1600" dirty="0"/>
                <a:t> 전달</a:t>
              </a:r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1A391871-25A0-1428-D18A-DF52916615FD}"/>
                </a:ext>
              </a:extLst>
            </p:cNvPr>
            <p:cNvCxnSpPr>
              <a:stCxn id="7" idx="2"/>
              <a:endCxn id="10" idx="0"/>
            </p:cNvCxnSpPr>
            <p:nvPr/>
          </p:nvCxnSpPr>
          <p:spPr>
            <a:xfrm flipH="1">
              <a:off x="2425385" y="3668752"/>
              <a:ext cx="1" cy="320598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FB1916C1-0D69-08A2-B72E-1BD5F8E38E57}"/>
                </a:ext>
              </a:extLst>
            </p:cNvPr>
            <p:cNvCxnSpPr/>
            <p:nvPr/>
          </p:nvCxnSpPr>
          <p:spPr>
            <a:xfrm flipH="1">
              <a:off x="2443972" y="4479070"/>
              <a:ext cx="1" cy="320598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E82C0499-CB71-522A-D853-969C57EB58A9}"/>
                </a:ext>
              </a:extLst>
            </p:cNvPr>
            <p:cNvCxnSpPr/>
            <p:nvPr/>
          </p:nvCxnSpPr>
          <p:spPr>
            <a:xfrm flipH="1">
              <a:off x="2425381" y="5290748"/>
              <a:ext cx="1" cy="320598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5AB096B-C4D7-F479-F6C6-469B06D1A001}"/>
                </a:ext>
              </a:extLst>
            </p:cNvPr>
            <p:cNvSpPr txBox="1"/>
            <p:nvPr/>
          </p:nvSpPr>
          <p:spPr>
            <a:xfrm>
              <a:off x="2865084" y="4320373"/>
              <a:ext cx="146226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600" dirty="0"/>
                <a:t>props</a:t>
              </a:r>
              <a:r>
                <a:rPr kumimoji="1" lang="ko-KR" altLang="en-US" sz="1600" dirty="0"/>
                <a:t> 전달 </a:t>
              </a:r>
              <a:endParaRPr kumimoji="1" lang="en-US" altLang="ko-KR" sz="1600" dirty="0"/>
            </a:p>
            <a:p>
              <a:r>
                <a:rPr kumimoji="1" lang="ko-KR" altLang="en-US" sz="1600" dirty="0"/>
                <a:t>불필요 데이터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9A30319-4921-9AD9-AB51-3DD10CCF5A36}"/>
                </a:ext>
              </a:extLst>
            </p:cNvPr>
            <p:cNvSpPr txBox="1"/>
            <p:nvPr/>
          </p:nvSpPr>
          <p:spPr>
            <a:xfrm>
              <a:off x="2885971" y="6082090"/>
              <a:ext cx="15272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600" dirty="0"/>
                <a:t>props data</a:t>
              </a:r>
              <a:r>
                <a:rPr kumimoji="1" lang="ko-KR" altLang="en-US" sz="1600" dirty="0"/>
                <a:t> 이용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8388BB86-4B73-B1E8-CEA1-C99F8563490A}"/>
              </a:ext>
            </a:extLst>
          </p:cNvPr>
          <p:cNvSpPr txBox="1"/>
          <p:nvPr/>
        </p:nvSpPr>
        <p:spPr>
          <a:xfrm>
            <a:off x="866521" y="2839224"/>
            <a:ext cx="7151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props</a:t>
            </a:r>
          </a:p>
          <a:p>
            <a:r>
              <a:rPr kumimoji="1" lang="ko-KR" altLang="en-US" dirty="0"/>
              <a:t>이용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564234-15BF-BC01-4AC7-23F59D05456C}"/>
              </a:ext>
            </a:extLst>
          </p:cNvPr>
          <p:cNvSpPr txBox="1"/>
          <p:nvPr/>
        </p:nvSpPr>
        <p:spPr>
          <a:xfrm>
            <a:off x="2929165" y="4037500"/>
            <a:ext cx="14622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600" dirty="0"/>
              <a:t>props</a:t>
            </a:r>
            <a:r>
              <a:rPr kumimoji="1" lang="ko-KR" altLang="en-US" sz="1600" dirty="0"/>
              <a:t> 전달 </a:t>
            </a:r>
            <a:endParaRPr kumimoji="1" lang="en-US" altLang="ko-KR" sz="1600" dirty="0"/>
          </a:p>
          <a:p>
            <a:r>
              <a:rPr kumimoji="1" lang="ko-KR" altLang="en-US" sz="1600" dirty="0"/>
              <a:t>불필요 데이터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27932" y="1004699"/>
            <a:ext cx="4201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Props Drilling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97ACD78F-401B-6637-AEF8-4436E502076D}"/>
              </a:ext>
            </a:extLst>
          </p:cNvPr>
          <p:cNvGrpSpPr/>
          <p:nvPr/>
        </p:nvGrpSpPr>
        <p:grpSpPr>
          <a:xfrm>
            <a:off x="5273023" y="1750605"/>
            <a:ext cx="3705475" cy="4867668"/>
            <a:chOff x="5482678" y="2813675"/>
            <a:chExt cx="3705475" cy="4867668"/>
          </a:xfrm>
        </p:grpSpPr>
        <p:sp>
          <p:nvSpPr>
            <p:cNvPr id="24" name="모서리가 둥근 직사각형 23">
              <a:extLst>
                <a:ext uri="{FF2B5EF4-FFF2-40B4-BE49-F238E27FC236}">
                  <a16:creationId xmlns:a16="http://schemas.microsoft.com/office/drawing/2014/main" id="{B0011624-D8C8-BC68-89B6-0A43B52694E8}"/>
                </a:ext>
              </a:extLst>
            </p:cNvPr>
            <p:cNvSpPr/>
            <p:nvPr/>
          </p:nvSpPr>
          <p:spPr>
            <a:xfrm>
              <a:off x="5482681" y="3143712"/>
              <a:ext cx="1616927" cy="50738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/>
                <a:t>부모</a:t>
              </a:r>
              <a:r>
                <a:rPr kumimoji="1" lang="en-US" altLang="ko-KR" sz="1600" dirty="0"/>
                <a:t> </a:t>
              </a:r>
              <a:r>
                <a:rPr kumimoji="1" lang="ko-KR" altLang="en-US" sz="1600" dirty="0"/>
                <a:t>컴포넌트</a:t>
              </a:r>
            </a:p>
          </p:txBody>
        </p:sp>
        <p:sp>
          <p:nvSpPr>
            <p:cNvPr id="25" name="모서리가 둥근 직사각형 24">
              <a:extLst>
                <a:ext uri="{FF2B5EF4-FFF2-40B4-BE49-F238E27FC236}">
                  <a16:creationId xmlns:a16="http://schemas.microsoft.com/office/drawing/2014/main" id="{C9A0B6AA-4756-ED97-126C-2D9BC876330E}"/>
                </a:ext>
              </a:extLst>
            </p:cNvPr>
            <p:cNvSpPr/>
            <p:nvPr/>
          </p:nvSpPr>
          <p:spPr>
            <a:xfrm>
              <a:off x="5482680" y="3971690"/>
              <a:ext cx="1616927" cy="50738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/>
                <a:t>자식 컴포넌트</a:t>
              </a:r>
            </a:p>
          </p:txBody>
        </p:sp>
        <p:sp>
          <p:nvSpPr>
            <p:cNvPr id="26" name="모서리가 둥근 직사각형 25">
              <a:extLst>
                <a:ext uri="{FF2B5EF4-FFF2-40B4-BE49-F238E27FC236}">
                  <a16:creationId xmlns:a16="http://schemas.microsoft.com/office/drawing/2014/main" id="{241BD0B5-B846-0A6E-CB79-4278E85A7D26}"/>
                </a:ext>
              </a:extLst>
            </p:cNvPr>
            <p:cNvSpPr/>
            <p:nvPr/>
          </p:nvSpPr>
          <p:spPr>
            <a:xfrm>
              <a:off x="5482679" y="4782689"/>
              <a:ext cx="1616927" cy="507380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/>
                <a:t>자식 컴포넌트</a:t>
              </a:r>
            </a:p>
          </p:txBody>
        </p:sp>
        <p:sp>
          <p:nvSpPr>
            <p:cNvPr id="27" name="모서리가 둥근 직사각형 26">
              <a:extLst>
                <a:ext uri="{FF2B5EF4-FFF2-40B4-BE49-F238E27FC236}">
                  <a16:creationId xmlns:a16="http://schemas.microsoft.com/office/drawing/2014/main" id="{F8CC1758-A40B-A8B8-95E7-5C3DC21540F6}"/>
                </a:ext>
              </a:extLst>
            </p:cNvPr>
            <p:cNvSpPr/>
            <p:nvPr/>
          </p:nvSpPr>
          <p:spPr>
            <a:xfrm>
              <a:off x="5482678" y="5605342"/>
              <a:ext cx="1616927" cy="50738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600" dirty="0"/>
                <a:t>자식 컴포넌트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AD13EAB-1809-62C7-016E-34E655A4A96C}"/>
                </a:ext>
              </a:extLst>
            </p:cNvPr>
            <p:cNvSpPr txBox="1"/>
            <p:nvPr/>
          </p:nvSpPr>
          <p:spPr>
            <a:xfrm>
              <a:off x="6270688" y="2813675"/>
              <a:ext cx="291746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600" dirty="0"/>
                <a:t>&lt;</a:t>
              </a:r>
              <a:r>
                <a:rPr kumimoji="1" lang="en-US" altLang="ko-KR" sz="1600" dirty="0" err="1"/>
                <a:t>Context.Provider</a:t>
              </a:r>
              <a:r>
                <a:rPr kumimoji="1" lang="en-US" altLang="ko-KR" sz="1600" dirty="0"/>
                <a:t> value=“data”&gt;</a:t>
              </a:r>
              <a:endParaRPr kumimoji="1" lang="ko-KR" altLang="en-US" sz="1600" dirty="0"/>
            </a:p>
          </p:txBody>
        </p: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91A25905-E18E-EAB3-DDAE-4DAF7074A47C}"/>
                </a:ext>
              </a:extLst>
            </p:cNvPr>
            <p:cNvCxnSpPr>
              <a:stCxn id="24" idx="2"/>
              <a:endCxn id="25" idx="0"/>
            </p:cNvCxnSpPr>
            <p:nvPr/>
          </p:nvCxnSpPr>
          <p:spPr>
            <a:xfrm flipH="1">
              <a:off x="6291144" y="3651092"/>
              <a:ext cx="1" cy="320598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BEE0435A-C330-EAF2-54CC-A7BFEFCFBBCD}"/>
                </a:ext>
              </a:extLst>
            </p:cNvPr>
            <p:cNvCxnSpPr/>
            <p:nvPr/>
          </p:nvCxnSpPr>
          <p:spPr>
            <a:xfrm flipH="1">
              <a:off x="6309731" y="4461410"/>
              <a:ext cx="1" cy="320598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6B05E1AE-D4DE-C7C8-125C-810A0A1E3029}"/>
                </a:ext>
              </a:extLst>
            </p:cNvPr>
            <p:cNvCxnSpPr/>
            <p:nvPr/>
          </p:nvCxnSpPr>
          <p:spPr>
            <a:xfrm flipH="1">
              <a:off x="6291140" y="5273088"/>
              <a:ext cx="1" cy="320598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18D66E8-6E1A-8462-9407-5D27B8F536D7}"/>
                </a:ext>
              </a:extLst>
            </p:cNvPr>
            <p:cNvSpPr txBox="1"/>
            <p:nvPr/>
          </p:nvSpPr>
          <p:spPr>
            <a:xfrm>
              <a:off x="5532335" y="6111683"/>
              <a:ext cx="3218317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1600" dirty="0"/>
                <a:t>1. Hooks</a:t>
              </a:r>
              <a:r>
                <a:rPr kumimoji="1" lang="ko-KR" altLang="en-US" sz="1600" dirty="0"/>
                <a:t>이용</a:t>
              </a:r>
              <a:endParaRPr kumimoji="1" lang="en-US" altLang="ko-KR" sz="1600" dirty="0"/>
            </a:p>
            <a:p>
              <a:r>
                <a:rPr kumimoji="1" lang="en-US" altLang="ko-KR" sz="1600" dirty="0"/>
                <a:t>     </a:t>
              </a:r>
              <a:r>
                <a:rPr kumimoji="1" lang="en-US" altLang="ko-KR" sz="1600" dirty="0" err="1"/>
                <a:t>const</a:t>
              </a:r>
              <a:r>
                <a:rPr kumimoji="1" lang="en-US" altLang="ko-KR" sz="1600" dirty="0"/>
                <a:t> data=</a:t>
              </a:r>
              <a:r>
                <a:rPr kumimoji="1" lang="en-US" altLang="ko-KR" sz="1600" dirty="0" err="1"/>
                <a:t>userContext</a:t>
              </a:r>
              <a:r>
                <a:rPr kumimoji="1" lang="en-US" altLang="ko-KR" sz="1600" dirty="0"/>
                <a:t>(Context);</a:t>
              </a:r>
            </a:p>
            <a:p>
              <a:r>
                <a:rPr kumimoji="1" lang="en-US" altLang="ko-KR" sz="1600" dirty="0"/>
                <a:t>2. </a:t>
              </a:r>
              <a:r>
                <a:rPr kumimoji="1" lang="ko-KR" altLang="en-US" sz="1600" dirty="0"/>
                <a:t>태그방식</a:t>
              </a:r>
              <a:endParaRPr kumimoji="1" lang="en-US" altLang="ko-KR" sz="1600" dirty="0"/>
            </a:p>
            <a:p>
              <a:r>
                <a:rPr kumimoji="1" lang="en-US" altLang="ko-KR" sz="1600" dirty="0"/>
                <a:t>     &lt;</a:t>
              </a:r>
              <a:r>
                <a:rPr kumimoji="1" lang="en-US" altLang="ko-KR" sz="1600" dirty="0" err="1"/>
                <a:t>Context.Consumer</a:t>
              </a:r>
              <a:r>
                <a:rPr kumimoji="1" lang="en-US" altLang="ko-KR" sz="1600" dirty="0"/>
                <a:t>&gt;</a:t>
              </a:r>
            </a:p>
            <a:p>
              <a:r>
                <a:rPr kumimoji="1" lang="en-US" altLang="ko-KR" sz="1600" dirty="0"/>
                <a:t>       {value=&gt;return </a:t>
              </a:r>
              <a:r>
                <a:rPr kumimoji="1" lang="en-US" altLang="ko-KR" sz="1600" dirty="0" err="1"/>
                <a:t>jsx</a:t>
              </a:r>
              <a:r>
                <a:rPr kumimoji="1" lang="en-US" altLang="ko-KR" sz="1600" dirty="0"/>
                <a:t>}</a:t>
              </a:r>
            </a:p>
            <a:p>
              <a:r>
                <a:rPr kumimoji="1" lang="en-US" altLang="ko-KR" sz="1600" dirty="0"/>
                <a:t>    &lt;/</a:t>
              </a:r>
              <a:r>
                <a:rPr kumimoji="1" lang="en-US" altLang="ko-KR" sz="1600" dirty="0" err="1"/>
                <a:t>Context.Consumer</a:t>
              </a:r>
              <a:r>
                <a:rPr kumimoji="1" lang="en-US" altLang="ko-KR" sz="1600" dirty="0"/>
                <a:t>&gt;</a:t>
              </a:r>
              <a:endParaRPr kumimoji="1" lang="ko-KR" altLang="en-US" sz="1600" dirty="0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8388BB86-4B73-B1E8-CEA1-C99F8563490A}"/>
              </a:ext>
            </a:extLst>
          </p:cNvPr>
          <p:cNvSpPr txBox="1"/>
          <p:nvPr/>
        </p:nvSpPr>
        <p:spPr>
          <a:xfrm>
            <a:off x="4466387" y="2579917"/>
            <a:ext cx="8854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/>
              <a:t>context</a:t>
            </a:r>
          </a:p>
          <a:p>
            <a:r>
              <a:rPr kumimoji="1" lang="ko-KR" altLang="en-US" dirty="0"/>
              <a:t>이용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5AB096B-C4D7-F479-F6C6-469B06D1A001}"/>
              </a:ext>
            </a:extLst>
          </p:cNvPr>
          <p:cNvSpPr txBox="1"/>
          <p:nvPr/>
        </p:nvSpPr>
        <p:spPr>
          <a:xfrm>
            <a:off x="6941577" y="2973864"/>
            <a:ext cx="11597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600" dirty="0"/>
              <a:t>props</a:t>
            </a:r>
            <a:r>
              <a:rPr kumimoji="1" lang="ko-KR" altLang="en-US" sz="1600" dirty="0"/>
              <a:t> 전달 </a:t>
            </a:r>
            <a:endParaRPr kumimoji="1" lang="en-US" altLang="ko-KR" sz="1600" dirty="0"/>
          </a:p>
          <a:p>
            <a:r>
              <a:rPr kumimoji="1" lang="ko-KR" altLang="en-US" sz="1600" dirty="0"/>
              <a:t>하지 않음</a:t>
            </a:r>
          </a:p>
        </p:txBody>
      </p:sp>
    </p:spTree>
    <p:extLst>
      <p:ext uri="{BB962C8B-B14F-4D97-AF65-F5344CB8AC3E}">
        <p14:creationId xmlns:p14="http://schemas.microsoft.com/office/powerpoint/2010/main" val="423245474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1C14-DC7F-E9AE-1F23-EBE44ED7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1E03D2-A2D4-A8C4-95E1-F3FB742FC3E0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데이터관리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27932" y="1004699"/>
            <a:ext cx="4201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Context 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활용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- Provider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0CC0815-AB5B-F680-2036-541D44CD8E84}"/>
              </a:ext>
            </a:extLst>
          </p:cNvPr>
          <p:cNvSpPr/>
          <p:nvPr/>
        </p:nvSpPr>
        <p:spPr>
          <a:xfrm>
            <a:off x="965749" y="1592930"/>
            <a:ext cx="7945330" cy="2864770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React.createContext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()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함수로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Context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객체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(Provider, Consumer)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를 생성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* 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별도 </a:t>
            </a:r>
            <a:r>
              <a:rPr lang="en-US" altLang="ko-KR" sz="1600" dirty="0" err="1">
                <a:solidFill>
                  <a:schemeClr val="tx1"/>
                </a:solidFill>
                <a:latin typeface="+mn-ea"/>
              </a:rPr>
              <a:t>js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에서 관리하는 것이 범용적으로 좋음</a:t>
            </a:r>
            <a:endParaRPr lang="en-US" altLang="ko-KR" sz="16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활용할 구역의  최상위 컴포넌트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부모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에서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Context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객체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.Provider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태그의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value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속성을 이용해서 전역 공유할 데이터를 설정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value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속성의 타입은 모든 타입이 가능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하나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확장성이나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유지보수를 위해 객체타입을 많이 사용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57300" y="4514850"/>
            <a:ext cx="4248664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Provider</a:t>
            </a:r>
            <a:r>
              <a:rPr lang="ko-KR" altLang="en-US" dirty="0"/>
              <a:t>설정하기 </a:t>
            </a:r>
            <a:r>
              <a:rPr lang="en-US" altLang="ko-KR" dirty="0"/>
              <a:t>– root</a:t>
            </a:r>
            <a:r>
              <a:rPr lang="ko-KR" altLang="en-US" dirty="0"/>
              <a:t>태그에서</a:t>
            </a:r>
            <a:endParaRPr lang="en-US" altLang="ko-KR" dirty="0"/>
          </a:p>
          <a:p>
            <a:endParaRPr lang="en-US" altLang="ko-KR" sz="1000" dirty="0"/>
          </a:p>
          <a:p>
            <a:r>
              <a:rPr lang="en-US" altLang="ko-KR" dirty="0"/>
              <a:t>import {Context} from ‘./resources/context’</a:t>
            </a:r>
          </a:p>
          <a:p>
            <a:r>
              <a:rPr lang="en-US" altLang="ko-KR" dirty="0"/>
              <a:t>&lt;</a:t>
            </a:r>
            <a:r>
              <a:rPr lang="en-US" altLang="ko-KR" dirty="0" err="1"/>
              <a:t>Context.Provider</a:t>
            </a:r>
            <a:r>
              <a:rPr lang="en-US" altLang="ko-KR" dirty="0"/>
              <a:t> value={</a:t>
            </a:r>
            <a:r>
              <a:rPr lang="ko-KR" altLang="en-US" dirty="0"/>
              <a:t>설정할 데이터</a:t>
            </a:r>
            <a:r>
              <a:rPr lang="en-US" altLang="ko-KR" dirty="0"/>
              <a:t>}&gt;</a:t>
            </a:r>
          </a:p>
          <a:p>
            <a:r>
              <a:rPr lang="en-US" altLang="ko-KR" dirty="0"/>
              <a:t>   // Context</a:t>
            </a:r>
            <a:r>
              <a:rPr lang="ko-KR" altLang="en-US" dirty="0"/>
              <a:t>를 이용할 컴포넌트 선언</a:t>
            </a:r>
            <a:endParaRPr lang="en-US" altLang="ko-KR" dirty="0"/>
          </a:p>
          <a:p>
            <a:r>
              <a:rPr lang="en-US" altLang="ko-KR" dirty="0"/>
              <a:t>   &lt;Child&gt;&lt;/Child&gt;</a:t>
            </a:r>
          </a:p>
          <a:p>
            <a:r>
              <a:rPr lang="en-US" altLang="ko-KR" dirty="0"/>
              <a:t>&lt;/</a:t>
            </a:r>
            <a:r>
              <a:rPr lang="en-US" altLang="ko-KR" dirty="0" err="1"/>
              <a:t>Context.Provider</a:t>
            </a:r>
            <a:r>
              <a:rPr lang="en-US" altLang="ko-KR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0762994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1C14-DC7F-E9AE-1F23-EBE44ED75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31E03D2-A2D4-A8C4-95E1-F3FB742FC3E0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데이터관리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71A80-7929-03A7-08D3-FD3267A4ED8D}"/>
              </a:ext>
            </a:extLst>
          </p:cNvPr>
          <p:cNvSpPr txBox="1"/>
          <p:nvPr/>
        </p:nvSpPr>
        <p:spPr>
          <a:xfrm>
            <a:off x="827932" y="1004699"/>
            <a:ext cx="6578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Context 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활용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- Consumer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0CC0815-AB5B-F680-2036-541D44CD8E84}"/>
              </a:ext>
            </a:extLst>
          </p:cNvPr>
          <p:cNvSpPr/>
          <p:nvPr/>
        </p:nvSpPr>
        <p:spPr>
          <a:xfrm>
            <a:off x="965749" y="1592930"/>
            <a:ext cx="7945330" cy="2121820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자식컴포넌트에서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Provider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로 제공된 데이터를 활용할 수 있음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useContext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() hooks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를 이용하는 방법과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&lt;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Context.Consumer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&gt;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태그를 이용하는 방법이 있음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. </a:t>
            </a: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* </a:t>
            </a:r>
            <a:r>
              <a:rPr lang="en-US" altLang="ko-KR" sz="1600" dirty="0" err="1">
                <a:solidFill>
                  <a:schemeClr val="tx1"/>
                </a:solidFill>
                <a:latin typeface="+mn-ea"/>
              </a:rPr>
              <a:t>useContext</a:t>
            </a:r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()</a:t>
            </a:r>
            <a:r>
              <a:rPr lang="ko-KR" altLang="en-US" sz="1600" dirty="0">
                <a:solidFill>
                  <a:schemeClr val="tx1"/>
                </a:solidFill>
                <a:latin typeface="+mn-ea"/>
              </a:rPr>
              <a:t>를  권장</a:t>
            </a:r>
            <a:endParaRPr lang="en-US" altLang="ko-KR" sz="16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기본적으로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Context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데이터는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반응성이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없으나 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State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와 연결하면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반응성있는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데이터로 활용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가능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57300" y="3737610"/>
            <a:ext cx="424866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Hooks</a:t>
            </a:r>
            <a:r>
              <a:rPr lang="ko-KR" altLang="en-US" dirty="0"/>
              <a:t>이용하기</a:t>
            </a:r>
            <a:endParaRPr lang="en-US" altLang="ko-KR" sz="1000" dirty="0"/>
          </a:p>
          <a:p>
            <a:r>
              <a:rPr lang="en-US" altLang="ko-KR" dirty="0"/>
              <a:t>import {Context} from ‘./resources/context’</a:t>
            </a:r>
          </a:p>
          <a:p>
            <a:r>
              <a:rPr lang="en-US" altLang="ko-KR" dirty="0"/>
              <a:t>Import {</a:t>
            </a:r>
            <a:r>
              <a:rPr lang="en-US" altLang="ko-KR" dirty="0" err="1"/>
              <a:t>useContext</a:t>
            </a:r>
            <a:r>
              <a:rPr lang="en-US" altLang="ko-KR" dirty="0"/>
              <a:t>} from ‘react’</a:t>
            </a:r>
          </a:p>
          <a:p>
            <a:r>
              <a:rPr lang="en-US" altLang="ko-KR" dirty="0"/>
              <a:t>//</a:t>
            </a:r>
            <a:r>
              <a:rPr lang="ko-KR" altLang="en-US" dirty="0"/>
              <a:t>데이터 가져오기</a:t>
            </a:r>
            <a:endParaRPr lang="en-US" altLang="ko-KR" dirty="0"/>
          </a:p>
          <a:p>
            <a:r>
              <a:rPr lang="en-US" altLang="ko-KR" dirty="0" err="1"/>
              <a:t>const</a:t>
            </a:r>
            <a:r>
              <a:rPr lang="en-US" altLang="ko-KR" dirty="0"/>
              <a:t> </a:t>
            </a:r>
            <a:r>
              <a:rPr lang="en-US" altLang="ko-KR" dirty="0" err="1"/>
              <a:t>contextData</a:t>
            </a:r>
            <a:r>
              <a:rPr lang="en-US" altLang="ko-KR" dirty="0"/>
              <a:t>=</a:t>
            </a:r>
            <a:r>
              <a:rPr lang="en-US" altLang="ko-KR" dirty="0" err="1"/>
              <a:t>useContext</a:t>
            </a:r>
            <a:r>
              <a:rPr lang="en-US" altLang="ko-KR" dirty="0"/>
              <a:t>(Context);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0596" y="5216474"/>
            <a:ext cx="424866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Tag</a:t>
            </a:r>
            <a:r>
              <a:rPr lang="ko-KR" altLang="en-US" dirty="0" err="1"/>
              <a:t>를</a:t>
            </a:r>
            <a:r>
              <a:rPr lang="ko-KR" altLang="en-US" dirty="0"/>
              <a:t> 이용하기</a:t>
            </a:r>
            <a:endParaRPr lang="en-US" altLang="ko-KR" sz="1000" dirty="0"/>
          </a:p>
          <a:p>
            <a:r>
              <a:rPr lang="en-US" altLang="ko-KR" dirty="0"/>
              <a:t>import {Context} from ‘./resources/context’</a:t>
            </a:r>
          </a:p>
          <a:p>
            <a:r>
              <a:rPr lang="en-US" altLang="ko-KR" dirty="0"/>
              <a:t>&lt;</a:t>
            </a:r>
            <a:r>
              <a:rPr lang="en-US" altLang="ko-KR" dirty="0" err="1"/>
              <a:t>Context.Consumer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     {value=&gt;{// </a:t>
            </a:r>
            <a:r>
              <a:rPr lang="ko-KR" altLang="en-US" dirty="0"/>
              <a:t>데이터를 활용하는 구문</a:t>
            </a:r>
            <a:r>
              <a:rPr lang="en-US" altLang="ko-KR" dirty="0"/>
              <a:t>}}</a:t>
            </a:r>
          </a:p>
          <a:p>
            <a:r>
              <a:rPr lang="en-US" altLang="ko-KR" dirty="0"/>
              <a:t>&lt;/</a:t>
            </a:r>
            <a:r>
              <a:rPr lang="en-US" altLang="ko-KR" dirty="0" err="1"/>
              <a:t>Context.Consumer</a:t>
            </a:r>
            <a:r>
              <a:rPr lang="en-US" altLang="ko-KR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69548699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703F0-84E1-1013-203F-EAAAF342F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B02A0C8E-C19C-5CCC-DDF3-07666F1BF82F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데이터관리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99C1E2-8579-9D40-C1CB-B957D8CE08DC}"/>
              </a:ext>
            </a:extLst>
          </p:cNvPr>
          <p:cNvSpPr txBox="1"/>
          <p:nvPr/>
        </p:nvSpPr>
        <p:spPr>
          <a:xfrm>
            <a:off x="827932" y="1004699"/>
            <a:ext cx="6578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Context 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활용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- </a:t>
            </a:r>
            <a:r>
              <a:rPr lang="ko-KR" alt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모듈화하기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AC334F2-87C0-D601-0F9B-6C4B92642359}"/>
              </a:ext>
            </a:extLst>
          </p:cNvPr>
          <p:cNvSpPr/>
          <p:nvPr/>
        </p:nvSpPr>
        <p:spPr>
          <a:xfrm>
            <a:off x="965749" y="1592929"/>
            <a:ext cx="7945330" cy="3562545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프로젝트 내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resources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폴더에서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Context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를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제공하는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jsx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를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생성하여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context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를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관리하는 방법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두개의 함수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Prodiver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반환하는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함수와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useContext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()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로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Context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를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이용하는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Consumer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함수를 선언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각 함수를 이용해서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context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제공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이용할 수 있음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chemeClr val="tx1"/>
                </a:solidFill>
              </a:rPr>
              <a:t>장점</a:t>
            </a:r>
            <a:r>
              <a:rPr lang="en-US" altLang="ko-KR" b="1" dirty="0">
                <a:solidFill>
                  <a:schemeClr val="tx1"/>
                </a:solidFill>
              </a:rPr>
              <a:t>:</a:t>
            </a:r>
            <a:r>
              <a:rPr lang="ko-KR" altLang="en-US" dirty="0">
                <a:solidFill>
                  <a:schemeClr val="tx1"/>
                </a:solidFill>
              </a:rPr>
              <a:t> 구조 명확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재사용성 증가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유지보수 쉬움</a:t>
            </a:r>
          </a:p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chemeClr val="tx1"/>
                </a:solidFill>
              </a:rPr>
              <a:t>단점</a:t>
            </a:r>
            <a:r>
              <a:rPr lang="en-US" altLang="ko-KR" b="1" dirty="0">
                <a:solidFill>
                  <a:schemeClr val="tx1"/>
                </a:solidFill>
              </a:rPr>
              <a:t>: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" altLang="ko-KR" dirty="0">
                <a:solidFill>
                  <a:schemeClr val="tx1"/>
                </a:solidFill>
              </a:rPr>
              <a:t>Context </a:t>
            </a:r>
            <a:r>
              <a:rPr lang="ko-KR" altLang="en-US" dirty="0">
                <a:solidFill>
                  <a:schemeClr val="tx1"/>
                </a:solidFill>
              </a:rPr>
              <a:t>남용 시 관리 복잡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en" altLang="ko-KR" dirty="0">
                <a:solidFill>
                  <a:schemeClr val="tx1"/>
                </a:solidFill>
              </a:rPr>
              <a:t>Provider </a:t>
            </a:r>
            <a:r>
              <a:rPr lang="ko-KR" altLang="en-US" dirty="0">
                <a:solidFill>
                  <a:schemeClr val="tx1"/>
                </a:solidFill>
              </a:rPr>
              <a:t>중첩문제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작은 프로젝트에선 오</a:t>
            </a:r>
            <a:endParaRPr lang="en-US" altLang="ko-KR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tx1"/>
                </a:solidFill>
              </a:rPr>
              <a:t>          </a:t>
            </a:r>
            <a:r>
              <a:rPr lang="ko-KR" altLang="en-US" dirty="0" err="1">
                <a:solidFill>
                  <a:schemeClr val="tx1"/>
                </a:solidFill>
              </a:rPr>
              <a:t>버엔지니어링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958780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4DFAF-C6D3-D081-FAEF-66448CC74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그룹 8">
            <a:extLst>
              <a:ext uri="{FF2B5EF4-FFF2-40B4-BE49-F238E27FC236}">
                <a16:creationId xmlns:a16="http://schemas.microsoft.com/office/drawing/2014/main" id="{09174A82-471F-F2E8-AD25-5D408564E112}"/>
              </a:ext>
            </a:extLst>
          </p:cNvPr>
          <p:cNvGrpSpPr>
            <a:grpSpLocks/>
          </p:cNvGrpSpPr>
          <p:nvPr/>
        </p:nvGrpSpPr>
        <p:grpSpPr bwMode="auto">
          <a:xfrm>
            <a:off x="2020491" y="1916906"/>
            <a:ext cx="5089922" cy="3090863"/>
            <a:chOff x="3413702" y="746702"/>
            <a:chExt cx="5364596" cy="5364596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B86BE5F-7B2C-FE8F-D024-A7C0A33F7730}"/>
                </a:ext>
              </a:extLst>
            </p:cNvPr>
            <p:cNvSpPr/>
            <p:nvPr/>
          </p:nvSpPr>
          <p:spPr>
            <a:xfrm>
              <a:off x="3413702" y="746702"/>
              <a:ext cx="5364596" cy="5364596"/>
            </a:xfrm>
            <a:prstGeom prst="rect">
              <a:avLst/>
            </a:prstGeom>
            <a:gradFill flip="none" rotWithShape="1">
              <a:gsLst>
                <a:gs pos="0">
                  <a:srgbClr val="E3DCC1"/>
                </a:gs>
                <a:gs pos="69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68E7236-D3CB-EBA9-A9ED-F4CA69B2ACAE}"/>
                </a:ext>
              </a:extLst>
            </p:cNvPr>
            <p:cNvSpPr/>
            <p:nvPr/>
          </p:nvSpPr>
          <p:spPr>
            <a:xfrm>
              <a:off x="3541699" y="928553"/>
              <a:ext cx="5122405" cy="50008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4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React</a:t>
              </a:r>
            </a:p>
            <a:p>
              <a:pPr algn="ctr">
                <a:defRPr/>
              </a:pPr>
              <a:r>
                <a:rPr lang="en-US" altLang="ko-KR" sz="4400" b="1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Hooks</a:t>
              </a:r>
              <a:endParaRPr lang="en-US" altLang="ko-KR" sz="4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3777506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C99C7-2195-978F-FF60-3CB0C1D18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C651F41-9762-953E-EAC3-F18ADF9DABA6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Hooks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73488A-74D4-29CF-EE80-516DF6EBC3E5}"/>
              </a:ext>
            </a:extLst>
          </p:cNvPr>
          <p:cNvSpPr txBox="1"/>
          <p:nvPr/>
        </p:nvSpPr>
        <p:spPr>
          <a:xfrm>
            <a:off x="827932" y="1004699"/>
            <a:ext cx="6578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Hooks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5C2F3B87-FD10-BF82-BDBE-26F276C1BB45}"/>
              </a:ext>
            </a:extLst>
          </p:cNvPr>
          <p:cNvSpPr/>
          <p:nvPr/>
        </p:nvSpPr>
        <p:spPr>
          <a:xfrm>
            <a:off x="965749" y="1592930"/>
            <a:ext cx="7945330" cy="2369470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상태관리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생명주기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태그참조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등의 기능을 이용하려면 클래스형 컴포넌트를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이용했어야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했는데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이를 이용할 수 있는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 Hooks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라는 함수를 제공하여 함수형 컴포넌트에서도 이용 가능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내장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Hooks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와 커스텀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Hooks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로 나눌 수 있음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react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모듈에서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import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에서 사용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7A2D18-B713-8BB5-6BDB-DB0A7703A256}"/>
              </a:ext>
            </a:extLst>
          </p:cNvPr>
          <p:cNvSpPr txBox="1"/>
          <p:nvPr/>
        </p:nvSpPr>
        <p:spPr>
          <a:xfrm>
            <a:off x="965749" y="4088966"/>
            <a:ext cx="489871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//</a:t>
            </a:r>
            <a:r>
              <a:rPr lang="ko-KR" altLang="en-US" dirty="0"/>
              <a:t>컴포넌트 내에서 사용할 </a:t>
            </a:r>
            <a:r>
              <a:rPr lang="en-US" altLang="ko-KR" dirty="0"/>
              <a:t>hooks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en-US" altLang="ko-KR" dirty="0"/>
              <a:t>import</a:t>
            </a:r>
          </a:p>
          <a:p>
            <a:r>
              <a:rPr lang="en-US" altLang="ko-KR" dirty="0"/>
              <a:t>Import {</a:t>
            </a:r>
            <a:r>
              <a:rPr lang="en-US" altLang="ko-KR" dirty="0" err="1"/>
              <a:t>useContext</a:t>
            </a:r>
            <a:r>
              <a:rPr lang="en-US" altLang="ko-KR" dirty="0"/>
              <a:t>, </a:t>
            </a:r>
            <a:r>
              <a:rPr lang="en-US" altLang="ko-KR" dirty="0" err="1"/>
              <a:t>useState</a:t>
            </a:r>
            <a:r>
              <a:rPr lang="en-US" altLang="ko-KR" dirty="0"/>
              <a:t>, </a:t>
            </a:r>
            <a:r>
              <a:rPr lang="en-US" altLang="ko-KR" dirty="0" err="1"/>
              <a:t>useRef</a:t>
            </a:r>
            <a:r>
              <a:rPr lang="en-US" altLang="ko-KR" dirty="0"/>
              <a:t>} from ‘react’</a:t>
            </a:r>
          </a:p>
          <a:p>
            <a:endParaRPr lang="en-US" altLang="ko-KR" dirty="0"/>
          </a:p>
          <a:p>
            <a:r>
              <a:rPr lang="en-US" altLang="ko-KR" dirty="0"/>
              <a:t>export </a:t>
            </a:r>
            <a:r>
              <a:rPr lang="en-US" altLang="ko-KR" dirty="0" err="1"/>
              <a:t>deafult</a:t>
            </a:r>
            <a:r>
              <a:rPr lang="en-US" altLang="ko-KR" dirty="0"/>
              <a:t> function </a:t>
            </a:r>
            <a:r>
              <a:rPr lang="ko-KR" altLang="en-US" dirty="0"/>
              <a:t>컴포넌트명</a:t>
            </a:r>
            <a:r>
              <a:rPr lang="en-US" altLang="ko-KR" dirty="0"/>
              <a:t>(){</a:t>
            </a:r>
          </a:p>
          <a:p>
            <a:r>
              <a:rPr lang="ko-KR" altLang="en-US" dirty="0"/>
              <a:t>   </a:t>
            </a:r>
            <a:r>
              <a:rPr lang="en-US" altLang="ko-KR" dirty="0"/>
              <a:t>const [</a:t>
            </a:r>
            <a:r>
              <a:rPr lang="en-US" altLang="ko-KR" dirty="0" err="1"/>
              <a:t>data,setData</a:t>
            </a:r>
            <a:r>
              <a:rPr lang="en-US" altLang="ko-KR" dirty="0"/>
              <a:t>]=</a:t>
            </a:r>
            <a:r>
              <a:rPr lang="en-US" altLang="ko-KR" dirty="0" err="1"/>
              <a:t>useState</a:t>
            </a:r>
            <a:r>
              <a:rPr lang="en-US" altLang="ko-KR" dirty="0"/>
              <a:t>({})</a:t>
            </a:r>
          </a:p>
          <a:p>
            <a:r>
              <a:rPr lang="en-US" altLang="ko-KR" dirty="0"/>
              <a:t>   const tag=</a:t>
            </a:r>
            <a:r>
              <a:rPr lang="en-US" altLang="ko-KR" dirty="0" err="1"/>
              <a:t>useRef</a:t>
            </a:r>
            <a:r>
              <a:rPr lang="en-US" altLang="ko-KR" dirty="0"/>
              <a:t>()</a:t>
            </a:r>
          </a:p>
          <a:p>
            <a:r>
              <a:rPr lang="en-US" altLang="ko-K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6185099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674E4-CAB0-EE77-C6A1-C8DBF14AC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BEBBD2F-A326-806F-4E2B-2597644FA072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Hooks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76F4C6-7A69-4C76-B735-C489BF70A4AB}"/>
              </a:ext>
            </a:extLst>
          </p:cNvPr>
          <p:cNvSpPr txBox="1"/>
          <p:nvPr/>
        </p:nvSpPr>
        <p:spPr>
          <a:xfrm>
            <a:off x="827932" y="1004699"/>
            <a:ext cx="6578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내장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Hooks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7496F86-C138-51B8-CF50-EE1AB64B30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4508851"/>
              </p:ext>
            </p:extLst>
          </p:nvPr>
        </p:nvGraphicFramePr>
        <p:xfrm>
          <a:off x="827932" y="1630688"/>
          <a:ext cx="7784847" cy="35305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14079">
                  <a:extLst>
                    <a:ext uri="{9D8B030D-6E8A-4147-A177-3AD203B41FA5}">
                      <a16:colId xmlns:a16="http://schemas.microsoft.com/office/drawing/2014/main" val="4021701799"/>
                    </a:ext>
                  </a:extLst>
                </a:gridCol>
                <a:gridCol w="3157448">
                  <a:extLst>
                    <a:ext uri="{9D8B030D-6E8A-4147-A177-3AD203B41FA5}">
                      <a16:colId xmlns:a16="http://schemas.microsoft.com/office/drawing/2014/main" val="416069262"/>
                    </a:ext>
                  </a:extLst>
                </a:gridCol>
                <a:gridCol w="2738256">
                  <a:extLst>
                    <a:ext uri="{9D8B030D-6E8A-4147-A177-3AD203B41FA5}">
                      <a16:colId xmlns:a16="http://schemas.microsoft.com/office/drawing/2014/main" val="3132441184"/>
                    </a:ext>
                  </a:extLst>
                </a:gridCol>
                <a:gridCol w="775064">
                  <a:extLst>
                    <a:ext uri="{9D8B030D-6E8A-4147-A177-3AD203B41FA5}">
                      <a16:colId xmlns:a16="http://schemas.microsoft.com/office/drawing/2014/main" val="2845185966"/>
                    </a:ext>
                  </a:extLst>
                </a:gridCol>
              </a:tblGrid>
              <a:tr h="380992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</a:rPr>
                        <a:t>이름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</a:rPr>
                        <a:t>설명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</a:rPr>
                        <a:t>주요 사용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</a:rPr>
                        <a:t>비고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extLst>
                  <a:ext uri="{0D108BD9-81ED-4DB2-BD59-A6C34878D82A}">
                    <a16:rowId xmlns:a16="http://schemas.microsoft.com/office/drawing/2014/main" val="2205627013"/>
                  </a:ext>
                </a:extLst>
              </a:tr>
              <a:tr h="305488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" sz="1600" b="1" dirty="0" err="1">
                          <a:solidFill>
                            <a:srgbClr val="444746"/>
                          </a:solidFill>
                          <a:effectLst/>
                        </a:rPr>
                        <a:t>useState</a:t>
                      </a:r>
                      <a:endParaRPr lang="en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상태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값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)</a:t>
                      </a:r>
                      <a:r>
                        <a:rPr lang="ko-KR" altLang="en-US" sz="1600" dirty="0" err="1">
                          <a:solidFill>
                            <a:srgbClr val="1F1F1F"/>
                          </a:solidFill>
                          <a:effectLst/>
                        </a:rPr>
                        <a:t>를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 저장하고 변경 시 </a:t>
                      </a:r>
                      <a:r>
                        <a:rPr lang="ko-KR" altLang="en-US" sz="1600" dirty="0" err="1">
                          <a:solidFill>
                            <a:srgbClr val="1F1F1F"/>
                          </a:solidFill>
                          <a:effectLst/>
                        </a:rPr>
                        <a:t>리렌더링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 유발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폼 입력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, </a:t>
                      </a:r>
                      <a:r>
                        <a:rPr lang="ko-KR" altLang="en-US" sz="1600" dirty="0" err="1">
                          <a:solidFill>
                            <a:srgbClr val="1F1F1F"/>
                          </a:solidFill>
                          <a:effectLst/>
                        </a:rPr>
                        <a:t>토글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카운터 등 모든 동적 데이터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최상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extLst>
                  <a:ext uri="{0D108BD9-81ED-4DB2-BD59-A6C34878D82A}">
                    <a16:rowId xmlns:a16="http://schemas.microsoft.com/office/drawing/2014/main" val="2879467333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" sz="1600" b="1" dirty="0" err="1">
                          <a:solidFill>
                            <a:srgbClr val="444746"/>
                          </a:solidFill>
                          <a:effectLst/>
                        </a:rPr>
                        <a:t>useEffect</a:t>
                      </a:r>
                      <a:endParaRPr lang="en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렌더링 이후 부수 효과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(</a:t>
                      </a:r>
                      <a:r>
                        <a:rPr lang="en" sz="1600" dirty="0">
                          <a:solidFill>
                            <a:srgbClr val="1F1F1F"/>
                          </a:solidFill>
                          <a:effectLst/>
                        </a:rPr>
                        <a:t>Side Effect) 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실행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" sz="1600" dirty="0">
                          <a:solidFill>
                            <a:srgbClr val="1F1F1F"/>
                          </a:solidFill>
                          <a:effectLst/>
                        </a:rPr>
                        <a:t>API 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호출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이벤트 </a:t>
                      </a:r>
                      <a:r>
                        <a:rPr lang="ko-KR" altLang="en-US" sz="1600" dirty="0" err="1">
                          <a:solidFill>
                            <a:srgbClr val="1F1F1F"/>
                          </a:solidFill>
                          <a:effectLst/>
                        </a:rPr>
                        <a:t>리스너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타이머 설정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최상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extLst>
                  <a:ext uri="{0D108BD9-81ED-4DB2-BD59-A6C34878D82A}">
                    <a16:rowId xmlns:a16="http://schemas.microsoft.com/office/drawing/2014/main" val="1287318271"/>
                  </a:ext>
                </a:extLst>
              </a:tr>
              <a:tr h="305488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" sz="1600" b="1" dirty="0" err="1">
                          <a:solidFill>
                            <a:srgbClr val="444746"/>
                          </a:solidFill>
                          <a:effectLst/>
                        </a:rPr>
                        <a:t>useRef</a:t>
                      </a:r>
                      <a:endParaRPr lang="en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dirty="0" err="1">
                          <a:solidFill>
                            <a:srgbClr val="1F1F1F"/>
                          </a:solidFill>
                          <a:effectLst/>
                        </a:rPr>
                        <a:t>리렌더링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 없이 값 저장 또는 </a:t>
                      </a:r>
                      <a:r>
                        <a:rPr lang="en" sz="1600" dirty="0">
                          <a:solidFill>
                            <a:srgbClr val="1F1F1F"/>
                          </a:solidFill>
                          <a:effectLst/>
                        </a:rPr>
                        <a:t>DOM 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직접 접근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포커스 주기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스크롤 위치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이전 값 저장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상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extLst>
                  <a:ext uri="{0D108BD9-81ED-4DB2-BD59-A6C34878D82A}">
                    <a16:rowId xmlns:a16="http://schemas.microsoft.com/office/drawing/2014/main" val="1225347877"/>
                  </a:ext>
                </a:extLst>
              </a:tr>
              <a:tr h="305488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" sz="1600" b="1" dirty="0" err="1">
                          <a:solidFill>
                            <a:srgbClr val="444746"/>
                          </a:solidFill>
                          <a:effectLst/>
                        </a:rPr>
                        <a:t>useContext</a:t>
                      </a:r>
                      <a:endParaRPr lang="en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전역 상태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(</a:t>
                      </a:r>
                      <a:r>
                        <a:rPr lang="en" sz="1600" dirty="0">
                          <a:solidFill>
                            <a:srgbClr val="1F1F1F"/>
                          </a:solidFill>
                          <a:effectLst/>
                        </a:rPr>
                        <a:t>Context) 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값을 쉽게 조회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테마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언어 설정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로그인 사용자 정보 공유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상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extLst>
                  <a:ext uri="{0D108BD9-81ED-4DB2-BD59-A6C34878D82A}">
                    <a16:rowId xmlns:a16="http://schemas.microsoft.com/office/drawing/2014/main" val="2704064576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" sz="1600" b="1" dirty="0" err="1">
                          <a:solidFill>
                            <a:srgbClr val="444746"/>
                          </a:solidFill>
                          <a:effectLst/>
                        </a:rPr>
                        <a:t>useMemo</a:t>
                      </a:r>
                      <a:endParaRPr lang="en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</a:rPr>
                        <a:t>연산 결과 값을 캐싱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</a:rPr>
                        <a:t>(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</a:rPr>
                        <a:t>메모이제이션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</a:rPr>
                        <a:t>)</a:t>
                      </a:r>
                      <a:endParaRPr lang="en-US" altLang="ko-KR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복잡한 계산 결과 재사용 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성능 최적화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)</a:t>
                      </a:r>
                      <a:endParaRPr lang="en-US" alt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중상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extLst>
                  <a:ext uri="{0D108BD9-81ED-4DB2-BD59-A6C34878D82A}">
                    <a16:rowId xmlns:a16="http://schemas.microsoft.com/office/drawing/2014/main" val="3434491973"/>
                  </a:ext>
                </a:extLst>
              </a:tr>
              <a:tr h="305488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" sz="1600" b="1" dirty="0" err="1">
                          <a:solidFill>
                            <a:srgbClr val="444746"/>
                          </a:solidFill>
                          <a:effectLst/>
                        </a:rPr>
                        <a:t>useCallback</a:t>
                      </a:r>
                      <a:endParaRPr lang="en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함수 정의를 </a:t>
                      </a:r>
                      <a:r>
                        <a:rPr lang="ko-KR" altLang="en-US" sz="1600" dirty="0" err="1">
                          <a:solidFill>
                            <a:srgbClr val="1F1F1F"/>
                          </a:solidFill>
                          <a:effectLst/>
                        </a:rPr>
                        <a:t>캐싱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(</a:t>
                      </a:r>
                      <a:r>
                        <a:rPr lang="ko-KR" altLang="en-US" sz="1600" dirty="0" err="1">
                          <a:solidFill>
                            <a:srgbClr val="1F1F1F"/>
                          </a:solidFill>
                          <a:effectLst/>
                        </a:rPr>
                        <a:t>메모이제이션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)</a:t>
                      </a:r>
                      <a:endParaRPr lang="en-US" altLang="ko-KR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자식 컴포넌트에 </a:t>
                      </a:r>
                      <a:r>
                        <a:rPr lang="en" sz="1600" dirty="0">
                          <a:solidFill>
                            <a:srgbClr val="1F1F1F"/>
                          </a:solidFill>
                          <a:effectLst/>
                        </a:rPr>
                        <a:t>props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로 함수를 넘길 때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중상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extLst>
                  <a:ext uri="{0D108BD9-81ED-4DB2-BD59-A6C34878D82A}">
                    <a16:rowId xmlns:a16="http://schemas.microsoft.com/office/drawing/2014/main" val="1316795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27364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4819A-5E47-4BF8-D657-B9A524F6A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1870E74-8E2A-4A78-12B5-3BF7BB492E8A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Hooks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378100-B089-300F-214C-BBF254104FCD}"/>
              </a:ext>
            </a:extLst>
          </p:cNvPr>
          <p:cNvSpPr txBox="1"/>
          <p:nvPr/>
        </p:nvSpPr>
        <p:spPr>
          <a:xfrm>
            <a:off x="827932" y="1004699"/>
            <a:ext cx="6578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내장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Hooks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4533985-25DF-78B6-4CE5-B4BEF87757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07794"/>
              </p:ext>
            </p:extLst>
          </p:nvPr>
        </p:nvGraphicFramePr>
        <p:xfrm>
          <a:off x="827932" y="1630688"/>
          <a:ext cx="7723885" cy="333584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45302">
                  <a:extLst>
                    <a:ext uri="{9D8B030D-6E8A-4147-A177-3AD203B41FA5}">
                      <a16:colId xmlns:a16="http://schemas.microsoft.com/office/drawing/2014/main" val="4021701799"/>
                    </a:ext>
                  </a:extLst>
                </a:gridCol>
                <a:gridCol w="2673532">
                  <a:extLst>
                    <a:ext uri="{9D8B030D-6E8A-4147-A177-3AD203B41FA5}">
                      <a16:colId xmlns:a16="http://schemas.microsoft.com/office/drawing/2014/main" val="416069262"/>
                    </a:ext>
                  </a:extLst>
                </a:gridCol>
                <a:gridCol w="2673532">
                  <a:extLst>
                    <a:ext uri="{9D8B030D-6E8A-4147-A177-3AD203B41FA5}">
                      <a16:colId xmlns:a16="http://schemas.microsoft.com/office/drawing/2014/main" val="3132441184"/>
                    </a:ext>
                  </a:extLst>
                </a:gridCol>
                <a:gridCol w="731519">
                  <a:extLst>
                    <a:ext uri="{9D8B030D-6E8A-4147-A177-3AD203B41FA5}">
                      <a16:colId xmlns:a16="http://schemas.microsoft.com/office/drawing/2014/main" val="2845185966"/>
                    </a:ext>
                  </a:extLst>
                </a:gridCol>
              </a:tblGrid>
              <a:tr h="37228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</a:rPr>
                        <a:t>이름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</a:rPr>
                        <a:t>설명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</a:rPr>
                        <a:t>주요 사용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 b="1" dirty="0">
                          <a:solidFill>
                            <a:srgbClr val="1F1F1F"/>
                          </a:solidFill>
                          <a:effectLst/>
                        </a:rPr>
                        <a:t>비고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extLst>
                  <a:ext uri="{0D108BD9-81ED-4DB2-BD59-A6C34878D82A}">
                    <a16:rowId xmlns:a16="http://schemas.microsoft.com/office/drawing/2014/main" val="2205627013"/>
                  </a:ext>
                </a:extLst>
              </a:tr>
              <a:tr h="592712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" sz="1600" b="1" dirty="0" err="1">
                          <a:solidFill>
                            <a:srgbClr val="444746"/>
                          </a:solidFill>
                          <a:effectLst/>
                        </a:rPr>
                        <a:t>useReducer</a:t>
                      </a:r>
                      <a:endParaRPr lang="en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복잡한 상태 로직을 분리하여 관리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여러 하위 값이 있는 복잡한 상태 객체 관리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중</a:t>
                      </a:r>
                    </a:p>
                  </a:txBody>
                  <a:tcPr marL="27941" marR="27941" marT="18627" marB="18627" anchor="ctr"/>
                </a:tc>
                <a:extLst>
                  <a:ext uri="{0D108BD9-81ED-4DB2-BD59-A6C34878D82A}">
                    <a16:rowId xmlns:a16="http://schemas.microsoft.com/office/drawing/2014/main" val="576850688"/>
                  </a:ext>
                </a:extLst>
              </a:tr>
              <a:tr h="592712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" sz="1600" b="1" dirty="0" err="1">
                          <a:solidFill>
                            <a:srgbClr val="444746"/>
                          </a:solidFill>
                          <a:effectLst/>
                        </a:rPr>
                        <a:t>useLayoutEffect</a:t>
                      </a:r>
                      <a:endParaRPr lang="en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화면이 그려지기 </a:t>
                      </a: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</a:rPr>
                        <a:t>전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에 동기적으로 실행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화면 깜빡임 방지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, </a:t>
                      </a:r>
                      <a:r>
                        <a:rPr lang="en" sz="1600" dirty="0">
                          <a:solidFill>
                            <a:srgbClr val="1F1F1F"/>
                          </a:solidFill>
                          <a:effectLst/>
                        </a:rPr>
                        <a:t>DOM 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레이아웃 측정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중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extLst>
                  <a:ext uri="{0D108BD9-81ED-4DB2-BD59-A6C34878D82A}">
                    <a16:rowId xmlns:a16="http://schemas.microsoft.com/office/drawing/2014/main" val="625242398"/>
                  </a:ext>
                </a:extLst>
              </a:tr>
              <a:tr h="592712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" sz="1600" b="1" dirty="0" err="1">
                          <a:solidFill>
                            <a:srgbClr val="444746"/>
                          </a:solidFill>
                          <a:effectLst/>
                        </a:rPr>
                        <a:t>useId</a:t>
                      </a:r>
                      <a:endParaRPr lang="en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</a:rPr>
                        <a:t>고유한 </a:t>
                      </a:r>
                      <a:r>
                        <a:rPr lang="en" sz="1600">
                          <a:solidFill>
                            <a:srgbClr val="1F1F1F"/>
                          </a:solidFill>
                          <a:effectLst/>
                        </a:rPr>
                        <a:t>ID </a:t>
                      </a: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</a:rPr>
                        <a:t>문자열 생성</a:t>
                      </a:r>
                      <a:endParaRPr lang="ko-KR" alt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접근성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(</a:t>
                      </a:r>
                      <a:r>
                        <a:rPr lang="en" sz="1600" dirty="0">
                          <a:solidFill>
                            <a:srgbClr val="1F1F1F"/>
                          </a:solidFill>
                          <a:effectLst/>
                        </a:rPr>
                        <a:t>ARIA) 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속성 연결</a:t>
                      </a:r>
                      <a:r>
                        <a:rPr lang="en-US" altLang="ko-KR" sz="1600" dirty="0">
                          <a:solidFill>
                            <a:srgbClr val="1F1F1F"/>
                          </a:solidFill>
                          <a:effectLst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폼 라벨 연결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하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extLst>
                  <a:ext uri="{0D108BD9-81ED-4DB2-BD59-A6C34878D82A}">
                    <a16:rowId xmlns:a16="http://schemas.microsoft.com/office/drawing/2014/main" val="521609926"/>
                  </a:ext>
                </a:extLst>
              </a:tr>
              <a:tr h="592712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" sz="1600" b="1" dirty="0" err="1">
                          <a:solidFill>
                            <a:srgbClr val="444746"/>
                          </a:solidFill>
                          <a:effectLst/>
                        </a:rPr>
                        <a:t>useTransition</a:t>
                      </a:r>
                      <a:endParaRPr lang="en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>
                          <a:solidFill>
                            <a:srgbClr val="1F1F1F"/>
                          </a:solidFill>
                          <a:effectLst/>
                        </a:rPr>
                        <a:t>상태 업데이트의 우선순위를 낮춤 </a:t>
                      </a:r>
                      <a:r>
                        <a:rPr lang="en-US" altLang="ko-KR" sz="1600">
                          <a:solidFill>
                            <a:srgbClr val="1F1F1F"/>
                          </a:solidFill>
                          <a:effectLst/>
                        </a:rPr>
                        <a:t>(</a:t>
                      </a:r>
                      <a:r>
                        <a:rPr lang="en" sz="1600">
                          <a:solidFill>
                            <a:srgbClr val="1F1F1F"/>
                          </a:solidFill>
                          <a:effectLst/>
                        </a:rPr>
                        <a:t>Non-blocking)</a:t>
                      </a:r>
                      <a:endParaRPr lang="en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무거운 </a:t>
                      </a:r>
                      <a:r>
                        <a:rPr lang="ko-KR" altLang="en-US" sz="1600" dirty="0" err="1">
                          <a:solidFill>
                            <a:srgbClr val="1F1F1F"/>
                          </a:solidFill>
                          <a:effectLst/>
                        </a:rPr>
                        <a:t>리렌더링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 중 </a:t>
                      </a:r>
                      <a:r>
                        <a:rPr lang="en" sz="1600" dirty="0">
                          <a:solidFill>
                            <a:srgbClr val="1F1F1F"/>
                          </a:solidFill>
                          <a:effectLst/>
                        </a:rPr>
                        <a:t>UI </a:t>
                      </a: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반응성 유지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하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extLst>
                  <a:ext uri="{0D108BD9-81ED-4DB2-BD59-A6C34878D82A}">
                    <a16:rowId xmlns:a16="http://schemas.microsoft.com/office/drawing/2014/main" val="2617718746"/>
                  </a:ext>
                </a:extLst>
              </a:tr>
              <a:tr h="592712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" sz="1600" b="1" dirty="0" err="1">
                          <a:solidFill>
                            <a:srgbClr val="444746"/>
                          </a:solidFill>
                          <a:effectLst/>
                        </a:rPr>
                        <a:t>useDeferredValue</a:t>
                      </a:r>
                      <a:endParaRPr lang="en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값의 업데이트를 지연시킴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검색어 입력 시 결과 목록 렌더링 지연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ko-KR" altLang="en-US" sz="1600" dirty="0">
                          <a:solidFill>
                            <a:srgbClr val="1F1F1F"/>
                          </a:solidFill>
                          <a:effectLst/>
                        </a:rPr>
                        <a:t>하</a:t>
                      </a:r>
                      <a:endParaRPr lang="ko-KR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27941" marR="27941" marT="18627" marB="18627" anchor="ctr"/>
                </a:tc>
                <a:extLst>
                  <a:ext uri="{0D108BD9-81ED-4DB2-BD59-A6C34878D82A}">
                    <a16:rowId xmlns:a16="http://schemas.microsoft.com/office/drawing/2014/main" val="3672741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004425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90DD9-890B-4014-A0A8-9A7801668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그룹 8">
            <a:extLst>
              <a:ext uri="{FF2B5EF4-FFF2-40B4-BE49-F238E27FC236}">
                <a16:creationId xmlns:a16="http://schemas.microsoft.com/office/drawing/2014/main" id="{4C7FC6C2-7F7B-BB6F-7D78-25280084EB4E}"/>
              </a:ext>
            </a:extLst>
          </p:cNvPr>
          <p:cNvGrpSpPr>
            <a:grpSpLocks/>
          </p:cNvGrpSpPr>
          <p:nvPr/>
        </p:nvGrpSpPr>
        <p:grpSpPr bwMode="auto">
          <a:xfrm>
            <a:off x="2020491" y="1916906"/>
            <a:ext cx="5089922" cy="3090863"/>
            <a:chOff x="3413702" y="746702"/>
            <a:chExt cx="5364596" cy="5364596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A5468D8E-1EDB-9FBE-1F03-B97A57C03E7B}"/>
                </a:ext>
              </a:extLst>
            </p:cNvPr>
            <p:cNvSpPr/>
            <p:nvPr/>
          </p:nvSpPr>
          <p:spPr>
            <a:xfrm>
              <a:off x="3413702" y="746702"/>
              <a:ext cx="5364596" cy="5364596"/>
            </a:xfrm>
            <a:prstGeom prst="rect">
              <a:avLst/>
            </a:prstGeom>
            <a:gradFill flip="none" rotWithShape="1">
              <a:gsLst>
                <a:gs pos="0">
                  <a:srgbClr val="E3DCC1"/>
                </a:gs>
                <a:gs pos="69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0C28198-2603-66F9-338A-8F2007467A82}"/>
                </a:ext>
              </a:extLst>
            </p:cNvPr>
            <p:cNvSpPr/>
            <p:nvPr/>
          </p:nvSpPr>
          <p:spPr>
            <a:xfrm>
              <a:off x="3541699" y="928553"/>
              <a:ext cx="5122405" cy="50008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4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React</a:t>
              </a:r>
            </a:p>
            <a:p>
              <a:pPr algn="ctr">
                <a:defRPr/>
              </a:pPr>
              <a:r>
                <a:rPr lang="en-US" altLang="ko-KR" sz="4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Router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453380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70AC4-00DF-6CFF-9056-DE882D90B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C55D128-E3EE-C1F6-9B98-4D6B1AA0D621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Router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4DCB2B-5CA3-5877-C2C8-77D89074E9A2}"/>
              </a:ext>
            </a:extLst>
          </p:cNvPr>
          <p:cNvSpPr txBox="1"/>
          <p:nvPr/>
        </p:nvSpPr>
        <p:spPr>
          <a:xfrm>
            <a:off x="827932" y="1004699"/>
            <a:ext cx="6578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Router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6817C51C-0F43-E6DD-B173-D0FBE8789ED9}"/>
              </a:ext>
            </a:extLst>
          </p:cNvPr>
          <p:cNvSpPr/>
          <p:nvPr/>
        </p:nvSpPr>
        <p:spPr>
          <a:xfrm>
            <a:off x="965749" y="1592930"/>
            <a:ext cx="7945330" cy="2369470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SPA(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SiglePageApplication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을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만들때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페이지를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새로고침하지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않고 주소에 따라 다른 화면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컴포넌트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를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보여주는 기능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브라우저에 내장된 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HistoryAPI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를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사용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동작구조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: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URL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변경을 감지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-&gt;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History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관리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-&gt;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컴포넌트 렌더링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외부 패키지를 설치해서 구현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react-router-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dom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3DB87D-F28A-98D9-E593-C43500E7996E}"/>
              </a:ext>
            </a:extLst>
          </p:cNvPr>
          <p:cNvSpPr txBox="1"/>
          <p:nvPr/>
        </p:nvSpPr>
        <p:spPr>
          <a:xfrm>
            <a:off x="965748" y="4088966"/>
            <a:ext cx="64408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// </a:t>
            </a:r>
            <a:r>
              <a:rPr lang="ko-KR" altLang="en-US" dirty="0"/>
              <a:t>패키지 설치하기</a:t>
            </a:r>
            <a:endParaRPr lang="en-US" altLang="ko-KR" dirty="0"/>
          </a:p>
          <a:p>
            <a:r>
              <a:rPr lang="en-US" altLang="ko-KR" dirty="0" err="1"/>
              <a:t>npm</a:t>
            </a:r>
            <a:r>
              <a:rPr lang="ko-KR" altLang="en-US" dirty="0"/>
              <a:t> </a:t>
            </a:r>
            <a:r>
              <a:rPr lang="en-US" altLang="ko-KR" dirty="0"/>
              <a:t>install react-router-</a:t>
            </a:r>
            <a:r>
              <a:rPr lang="en-US" altLang="ko-KR" dirty="0" err="1"/>
              <a:t>dom</a:t>
            </a:r>
            <a:endParaRPr lang="en-US" altLang="ko-KR" dirty="0"/>
          </a:p>
          <a:p>
            <a:r>
              <a:rPr lang="ko-KR" altLang="en-US" dirty="0"/>
              <a:t>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5628819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04DA5-66F4-F329-EB69-16B9F4B5B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C6A00D1-FDD0-944A-459C-12EAFC3434E6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Router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BE01B9-14BF-48D9-5372-C1AD70C36AE7}"/>
              </a:ext>
            </a:extLst>
          </p:cNvPr>
          <p:cNvSpPr txBox="1"/>
          <p:nvPr/>
        </p:nvSpPr>
        <p:spPr>
          <a:xfrm>
            <a:off x="827932" y="1004699"/>
            <a:ext cx="6578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Router 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컴포넌트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(Base)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2276034-24F3-DCB3-66F1-65046D7C91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361936"/>
              </p:ext>
            </p:extLst>
          </p:nvPr>
        </p:nvGraphicFramePr>
        <p:xfrm>
          <a:off x="827932" y="1554185"/>
          <a:ext cx="7886700" cy="362529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07154">
                  <a:extLst>
                    <a:ext uri="{9D8B030D-6E8A-4147-A177-3AD203B41FA5}">
                      <a16:colId xmlns:a16="http://schemas.microsoft.com/office/drawing/2014/main" val="2761318366"/>
                    </a:ext>
                  </a:extLst>
                </a:gridCol>
                <a:gridCol w="3152503">
                  <a:extLst>
                    <a:ext uri="{9D8B030D-6E8A-4147-A177-3AD203B41FA5}">
                      <a16:colId xmlns:a16="http://schemas.microsoft.com/office/drawing/2014/main" val="453797987"/>
                    </a:ext>
                  </a:extLst>
                </a:gridCol>
                <a:gridCol w="2427043">
                  <a:extLst>
                    <a:ext uri="{9D8B030D-6E8A-4147-A177-3AD203B41FA5}">
                      <a16:colId xmlns:a16="http://schemas.microsoft.com/office/drawing/2014/main" val="4181091739"/>
                    </a:ext>
                  </a:extLst>
                </a:gridCol>
              </a:tblGrid>
              <a:tr h="4487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/>
                        <a:t>컴포넌트</a:t>
                      </a:r>
                      <a:r>
                        <a:rPr lang="en-US" altLang="ko-KR" b="1" dirty="0"/>
                        <a:t>/</a:t>
                      </a:r>
                      <a:r>
                        <a:rPr lang="ko-KR" altLang="en-US" b="1" dirty="0"/>
                        <a:t>함수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/>
                        <a:t>설명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/>
                        <a:t>주요 </a:t>
                      </a:r>
                      <a:r>
                        <a:rPr lang="en" b="1" dirty="0"/>
                        <a:t>props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3854685"/>
                  </a:ext>
                </a:extLst>
              </a:tr>
              <a:tr h="7941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dirty="0"/>
                        <a:t>&lt;</a:t>
                      </a:r>
                      <a:r>
                        <a:rPr lang="en" dirty="0" err="1"/>
                        <a:t>BrowserRouter</a:t>
                      </a:r>
                      <a:r>
                        <a:rPr lang="en" dirty="0"/>
                        <a:t>&gt;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/>
                        <a:t>HTML5 history API </a:t>
                      </a:r>
                      <a:r>
                        <a:rPr lang="ko-KR" altLang="en-US" dirty="0"/>
                        <a:t>기반 기본 라우터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" dirty="0" err="1"/>
                        <a:t>basename</a:t>
                      </a:r>
                      <a:r>
                        <a:rPr lang="en" dirty="0"/>
                        <a:t>, children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202071"/>
                  </a:ext>
                </a:extLst>
              </a:tr>
              <a:tr h="7941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dirty="0"/>
                        <a:t>&lt;</a:t>
                      </a:r>
                      <a:r>
                        <a:rPr lang="en" dirty="0" err="1"/>
                        <a:t>HashRouter</a:t>
                      </a:r>
                      <a:r>
                        <a:rPr lang="en" dirty="0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/>
                        <a:t>/#/path </a:t>
                      </a:r>
                      <a:r>
                        <a:rPr lang="ko-KR" altLang="en-US" dirty="0"/>
                        <a:t>형태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정적 서버 환경 등에서 사용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" dirty="0" err="1"/>
                        <a:t>basename</a:t>
                      </a:r>
                      <a:endParaRPr lang="e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3014398"/>
                  </a:ext>
                </a:extLst>
              </a:tr>
              <a:tr h="7941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dirty="0" err="1"/>
                        <a:t>createBrowserRouter</a:t>
                      </a:r>
                      <a:r>
                        <a:rPr lang="en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/>
                        <a:t>v6.4+ Data Router </a:t>
                      </a:r>
                      <a:r>
                        <a:rPr lang="ko-KR" altLang="en-US" dirty="0"/>
                        <a:t>생성 함수 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" dirty="0" err="1"/>
                        <a:t>RouteObject</a:t>
                      </a:r>
                      <a:r>
                        <a:rPr lang="en" dirty="0"/>
                        <a:t> </a:t>
                      </a:r>
                      <a:r>
                        <a:rPr lang="ko-KR" altLang="en-US" dirty="0"/>
                        <a:t>배열 사용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6091250"/>
                  </a:ext>
                </a:extLst>
              </a:tr>
              <a:tr h="7941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dirty="0"/>
                        <a:t>&lt;</a:t>
                      </a:r>
                      <a:r>
                        <a:rPr lang="en" dirty="0" err="1"/>
                        <a:t>RouterProvider</a:t>
                      </a:r>
                      <a:r>
                        <a:rPr lang="en" dirty="0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0" dirty="0" err="1"/>
                        <a:t>createBrowserRouter</a:t>
                      </a:r>
                      <a:r>
                        <a:rPr lang="ko-KR" altLang="en-US" b="0" dirty="0"/>
                        <a:t>로 만든 </a:t>
                      </a:r>
                      <a:endParaRPr lang="en-US" altLang="ko-KR" b="0" dirty="0"/>
                    </a:p>
                    <a:p>
                      <a:pPr>
                        <a:buNone/>
                      </a:pPr>
                      <a:r>
                        <a:rPr lang="en" b="0" dirty="0"/>
                        <a:t>router</a:t>
                      </a:r>
                      <a:r>
                        <a:rPr lang="ko-KR" altLang="en-US" b="0" dirty="0" err="1"/>
                        <a:t>를</a:t>
                      </a:r>
                      <a:r>
                        <a:rPr lang="ko-KR" altLang="en-US" b="0" dirty="0"/>
                        <a:t> 앱에 주입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" dirty="0"/>
                        <a:t>router prop </a:t>
                      </a:r>
                      <a:r>
                        <a:rPr lang="ko-KR" altLang="en-US" dirty="0"/>
                        <a:t>필수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211727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376FF7D-C865-74F0-4C9E-BCD6B2D19494}"/>
              </a:ext>
            </a:extLst>
          </p:cNvPr>
          <p:cNvSpPr txBox="1"/>
          <p:nvPr/>
        </p:nvSpPr>
        <p:spPr>
          <a:xfrm>
            <a:off x="827931" y="5267304"/>
            <a:ext cx="78866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//</a:t>
            </a:r>
            <a:r>
              <a:rPr lang="ko-KR" altLang="en-US" dirty="0"/>
              <a:t> </a:t>
            </a:r>
            <a:r>
              <a:rPr lang="en-US" altLang="ko-KR" dirty="0"/>
              <a:t>root</a:t>
            </a:r>
            <a:r>
              <a:rPr lang="ko-KR" altLang="en-US" dirty="0"/>
              <a:t> 컴포넌트</a:t>
            </a:r>
            <a:r>
              <a:rPr lang="en-US" altLang="ko-KR" dirty="0"/>
              <a:t>(App)</a:t>
            </a:r>
            <a:r>
              <a:rPr lang="ko-KR" altLang="en-US" dirty="0" err="1"/>
              <a:t>를</a:t>
            </a:r>
            <a:r>
              <a:rPr lang="en-US" altLang="ko-KR" dirty="0"/>
              <a:t> base</a:t>
            </a:r>
            <a:r>
              <a:rPr lang="ko-KR" altLang="en-US" dirty="0"/>
              <a:t>컴포넌트의 자식태그로 설정</a:t>
            </a:r>
            <a:endParaRPr lang="en-US" altLang="ko-KR" dirty="0"/>
          </a:p>
          <a:p>
            <a:r>
              <a:rPr lang="en-US" altLang="ko-KR" dirty="0"/>
              <a:t>&lt;</a:t>
            </a:r>
            <a:r>
              <a:rPr lang="en-US" altLang="ko-KR" dirty="0" err="1"/>
              <a:t>BrowserRouter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    &lt;App/&gt;</a:t>
            </a:r>
          </a:p>
          <a:p>
            <a:r>
              <a:rPr lang="en-US" altLang="ko-KR" dirty="0"/>
              <a:t>&lt;/</a:t>
            </a:r>
            <a:r>
              <a:rPr lang="en-US" altLang="ko-KR" dirty="0" err="1"/>
              <a:t>BrowserRouter</a:t>
            </a:r>
            <a:r>
              <a:rPr lang="en-US" altLang="ko-KR" dirty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872642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23AC1-529D-03AA-C4ED-50CA66F25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BA6C47F-47A7-25BD-29DA-10B8F6B9AE7C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Router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4E7F97-FBCE-C2F7-E9DA-681642244D33}"/>
              </a:ext>
            </a:extLst>
          </p:cNvPr>
          <p:cNvSpPr txBox="1"/>
          <p:nvPr/>
        </p:nvSpPr>
        <p:spPr>
          <a:xfrm>
            <a:off x="827932" y="1004699"/>
            <a:ext cx="6578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Router 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컴포넌트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(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설정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,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이동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)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2154028-9075-D874-082C-0FB0909773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732801"/>
              </p:ext>
            </p:extLst>
          </p:nvPr>
        </p:nvGraphicFramePr>
        <p:xfrm>
          <a:off x="827932" y="1554185"/>
          <a:ext cx="7886700" cy="304394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92754">
                  <a:extLst>
                    <a:ext uri="{9D8B030D-6E8A-4147-A177-3AD203B41FA5}">
                      <a16:colId xmlns:a16="http://schemas.microsoft.com/office/drawing/2014/main" val="2761318366"/>
                    </a:ext>
                  </a:extLst>
                </a:gridCol>
                <a:gridCol w="4066903">
                  <a:extLst>
                    <a:ext uri="{9D8B030D-6E8A-4147-A177-3AD203B41FA5}">
                      <a16:colId xmlns:a16="http://schemas.microsoft.com/office/drawing/2014/main" val="453797987"/>
                    </a:ext>
                  </a:extLst>
                </a:gridCol>
                <a:gridCol w="2427043">
                  <a:extLst>
                    <a:ext uri="{9D8B030D-6E8A-4147-A177-3AD203B41FA5}">
                      <a16:colId xmlns:a16="http://schemas.microsoft.com/office/drawing/2014/main" val="4181091739"/>
                    </a:ext>
                  </a:extLst>
                </a:gridCol>
              </a:tblGrid>
              <a:tr h="4836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/>
                        <a:t>컴포넌트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/>
                        <a:t>설명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/>
                        <a:t>주요 </a:t>
                      </a:r>
                      <a:r>
                        <a:rPr lang="en" b="1" dirty="0"/>
                        <a:t>props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3854685"/>
                  </a:ext>
                </a:extLst>
              </a:tr>
              <a:tr h="3831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b="0" dirty="0"/>
                        <a:t>&lt;Routes&gt;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0" dirty="0"/>
                        <a:t>가장 먼저 매칭되는 하나의 </a:t>
                      </a:r>
                      <a:r>
                        <a:rPr lang="en" b="0" dirty="0"/>
                        <a:t>Route</a:t>
                      </a:r>
                      <a:r>
                        <a:rPr lang="ko-KR" altLang="en-US" b="0" dirty="0"/>
                        <a:t>만 렌더링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/>
                        <a:t>children(Route)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02071"/>
                  </a:ext>
                </a:extLst>
              </a:tr>
              <a:tr h="2770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dirty="0"/>
                        <a:t>&lt;Route&gt;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 err="1"/>
                        <a:t>url</a:t>
                      </a:r>
                      <a:r>
                        <a:rPr lang="ko-KR" altLang="en-US" dirty="0"/>
                        <a:t>경로와 컴포넌트를 연결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 err="1"/>
                        <a:t>path,element,index</a:t>
                      </a:r>
                      <a:r>
                        <a:rPr lang="en" dirty="0"/>
                        <a:t>,</a:t>
                      </a:r>
                    </a:p>
                    <a:p>
                      <a:pPr>
                        <a:buNone/>
                      </a:pPr>
                      <a:r>
                        <a:rPr lang="en" dirty="0"/>
                        <a:t>children, </a:t>
                      </a:r>
                      <a:r>
                        <a:rPr lang="en" dirty="0" err="1"/>
                        <a:t>errorElement</a:t>
                      </a:r>
                      <a:endParaRPr lang="e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3014398"/>
                  </a:ext>
                </a:extLst>
              </a:tr>
              <a:tr h="4773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dirty="0"/>
                        <a:t>&lt;Link&gt;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/>
                        <a:t>a</a:t>
                      </a:r>
                      <a:r>
                        <a:rPr lang="ko-KR" altLang="en-US" dirty="0"/>
                        <a:t>태그 대용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 err="1"/>
                        <a:t>새로고침</a:t>
                      </a:r>
                      <a:r>
                        <a:rPr lang="ko-KR" altLang="en-US" dirty="0"/>
                        <a:t> 없이 클라이언트 라우팅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 err="1"/>
                        <a:t>to,replace,state</a:t>
                      </a:r>
                      <a:endParaRPr lang="e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6091250"/>
                  </a:ext>
                </a:extLst>
              </a:tr>
              <a:tr h="2753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dirty="0"/>
                        <a:t>&lt;</a:t>
                      </a:r>
                      <a:r>
                        <a:rPr lang="en" dirty="0" err="1"/>
                        <a:t>NavLink</a:t>
                      </a:r>
                      <a:r>
                        <a:rPr lang="en" dirty="0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현재 경로와 매칭되면 자동으로 활성화 상태 제공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 err="1"/>
                        <a:t>to,className,style,end</a:t>
                      </a:r>
                      <a:endParaRPr lang="e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211727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A431E40-EFE1-67DA-6C26-8DC859690439}"/>
              </a:ext>
            </a:extLst>
          </p:cNvPr>
          <p:cNvSpPr txBox="1"/>
          <p:nvPr/>
        </p:nvSpPr>
        <p:spPr>
          <a:xfrm>
            <a:off x="827932" y="4668226"/>
            <a:ext cx="788669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//</a:t>
            </a:r>
            <a:r>
              <a:rPr lang="en-US" altLang="ko-KR" dirty="0" err="1"/>
              <a:t>App.jsx</a:t>
            </a:r>
            <a:r>
              <a:rPr lang="ko-KR" altLang="en-US" dirty="0"/>
              <a:t>에서 </a:t>
            </a:r>
            <a:r>
              <a:rPr lang="en-US" altLang="ko-KR" dirty="0"/>
              <a:t>Routes,</a:t>
            </a:r>
            <a:r>
              <a:rPr lang="ko-KR" altLang="en-US" dirty="0"/>
              <a:t> </a:t>
            </a:r>
            <a:r>
              <a:rPr lang="en-US" altLang="ko-KR" dirty="0"/>
              <a:t>Route</a:t>
            </a:r>
            <a:r>
              <a:rPr lang="ko-KR" altLang="en-US" dirty="0" err="1"/>
              <a:t>를</a:t>
            </a:r>
            <a:r>
              <a:rPr lang="ko-KR" altLang="en-US" dirty="0"/>
              <a:t> 이용해서 </a:t>
            </a:r>
            <a:r>
              <a:rPr lang="en-US" altLang="ko-KR" dirty="0" err="1"/>
              <a:t>url</a:t>
            </a:r>
            <a:r>
              <a:rPr lang="ko-KR" altLang="en-US" dirty="0"/>
              <a:t>주소를 컴포넌트와 연결</a:t>
            </a:r>
            <a:endParaRPr lang="en-US" altLang="ko-KR" dirty="0"/>
          </a:p>
          <a:p>
            <a:r>
              <a:rPr lang="en-US" altLang="ko-KR" dirty="0"/>
              <a:t>&lt;Routes&gt;</a:t>
            </a:r>
          </a:p>
          <a:p>
            <a:r>
              <a:rPr lang="en-US" altLang="ko-KR" dirty="0"/>
              <a:t>    &lt;Route path=</a:t>
            </a:r>
            <a:r>
              <a:rPr lang="en-US" altLang="ko-KR" dirty="0" err="1"/>
              <a:t>url</a:t>
            </a:r>
            <a:r>
              <a:rPr lang="ko-KR" altLang="en-US" dirty="0"/>
              <a:t>주소</a:t>
            </a:r>
            <a:r>
              <a:rPr lang="en-US" altLang="ko-KR" dirty="0"/>
              <a:t>, element=</a:t>
            </a:r>
            <a:r>
              <a:rPr lang="ko-KR" altLang="en-US" dirty="0"/>
              <a:t>연결할 컴포넌트</a:t>
            </a:r>
            <a:r>
              <a:rPr lang="en-US" altLang="ko-KR" dirty="0"/>
              <a:t>&gt;</a:t>
            </a:r>
          </a:p>
          <a:p>
            <a:r>
              <a:rPr lang="ko-KR" altLang="en-US" dirty="0"/>
              <a:t>    </a:t>
            </a:r>
            <a:r>
              <a:rPr lang="en-US" altLang="ko-KR" dirty="0"/>
              <a:t>&lt;Route path=</a:t>
            </a:r>
            <a:r>
              <a:rPr lang="en-US" altLang="ko-KR" dirty="0" err="1"/>
              <a:t>url</a:t>
            </a:r>
            <a:r>
              <a:rPr lang="ko-KR" altLang="en-US" dirty="0"/>
              <a:t>주소</a:t>
            </a:r>
            <a:r>
              <a:rPr lang="en-US" altLang="ko-KR" dirty="0"/>
              <a:t>, element=</a:t>
            </a:r>
            <a:r>
              <a:rPr lang="ko-KR" altLang="en-US" dirty="0"/>
              <a:t>연결할 컴포넌트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&lt;/Routes&gt;</a:t>
            </a:r>
          </a:p>
          <a:p>
            <a:r>
              <a:rPr lang="en-US" altLang="ko-KR" dirty="0"/>
              <a:t>//</a:t>
            </a:r>
            <a:r>
              <a:rPr lang="en-US" altLang="ko-KR" dirty="0" err="1"/>
              <a:t>url</a:t>
            </a:r>
            <a:r>
              <a:rPr lang="ko-KR" altLang="en-US" dirty="0"/>
              <a:t>주소 링크는 </a:t>
            </a:r>
            <a:r>
              <a:rPr lang="en-US" altLang="ko-KR" dirty="0"/>
              <a:t>Link. </a:t>
            </a:r>
            <a:r>
              <a:rPr lang="en-US" altLang="ko-KR" dirty="0" err="1"/>
              <a:t>NavLink</a:t>
            </a:r>
            <a:r>
              <a:rPr lang="ko-KR" altLang="en-US" dirty="0"/>
              <a:t>로 설정</a:t>
            </a:r>
            <a:endParaRPr lang="en-US" altLang="ko-KR" dirty="0"/>
          </a:p>
          <a:p>
            <a:r>
              <a:rPr lang="en-US" altLang="ko-KR" dirty="0"/>
              <a:t>&lt;Link to=</a:t>
            </a:r>
            <a:r>
              <a:rPr lang="en-US" altLang="ko-KR" dirty="0" err="1"/>
              <a:t>url</a:t>
            </a:r>
            <a:r>
              <a:rPr lang="ko-KR" altLang="en-US" dirty="0"/>
              <a:t>주소</a:t>
            </a:r>
            <a:r>
              <a:rPr lang="en-US" altLang="ko-KR" dirty="0"/>
              <a:t>&gt;</a:t>
            </a:r>
            <a:r>
              <a:rPr lang="ko-KR" altLang="en-US" dirty="0"/>
              <a:t>연결문자열</a:t>
            </a:r>
            <a:r>
              <a:rPr lang="en-US" altLang="ko-KR" dirty="0"/>
              <a:t>&lt;/Link&gt;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789065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D2259-8977-1C93-D203-8E7132FC9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B845E797-237C-717C-A47F-1ADF07ABB9A8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Router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A79DA8-097F-B27D-0A88-2FED876BB4AB}"/>
              </a:ext>
            </a:extLst>
          </p:cNvPr>
          <p:cNvSpPr txBox="1"/>
          <p:nvPr/>
        </p:nvSpPr>
        <p:spPr>
          <a:xfrm>
            <a:off x="827932" y="1004699"/>
            <a:ext cx="6578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주요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Hooks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D13B9C2-0B79-8761-5838-44EA8B091E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396612"/>
              </p:ext>
            </p:extLst>
          </p:nvPr>
        </p:nvGraphicFramePr>
        <p:xfrm>
          <a:off x="827932" y="1554185"/>
          <a:ext cx="7886700" cy="445426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58811">
                  <a:extLst>
                    <a:ext uri="{9D8B030D-6E8A-4147-A177-3AD203B41FA5}">
                      <a16:colId xmlns:a16="http://schemas.microsoft.com/office/drawing/2014/main" val="2761318366"/>
                    </a:ext>
                  </a:extLst>
                </a:gridCol>
                <a:gridCol w="3500846">
                  <a:extLst>
                    <a:ext uri="{9D8B030D-6E8A-4147-A177-3AD203B41FA5}">
                      <a16:colId xmlns:a16="http://schemas.microsoft.com/office/drawing/2014/main" val="453797987"/>
                    </a:ext>
                  </a:extLst>
                </a:gridCol>
                <a:gridCol w="2427043">
                  <a:extLst>
                    <a:ext uri="{9D8B030D-6E8A-4147-A177-3AD203B41FA5}">
                      <a16:colId xmlns:a16="http://schemas.microsoft.com/office/drawing/2014/main" val="4181091739"/>
                    </a:ext>
                  </a:extLst>
                </a:gridCol>
              </a:tblGrid>
              <a:tr h="4836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/>
                        <a:t>이름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/>
                        <a:t>기능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b="1" dirty="0"/>
                        <a:t>예시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3854685"/>
                  </a:ext>
                </a:extLst>
              </a:tr>
              <a:tr h="7941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dirty="0" err="1"/>
                        <a:t>useNavigate</a:t>
                      </a:r>
                      <a:r>
                        <a:rPr lang="en" dirty="0"/>
                        <a:t>()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0" dirty="0"/>
                        <a:t>코드로 라우팅</a:t>
                      </a:r>
                      <a:r>
                        <a:rPr lang="en-US" altLang="ko-KR" b="0" dirty="0"/>
                        <a:t>(</a:t>
                      </a:r>
                      <a:r>
                        <a:rPr lang="ko-KR" altLang="en-US" b="0" dirty="0"/>
                        <a:t>페이지 이동</a:t>
                      </a:r>
                      <a:r>
                        <a:rPr lang="en-US" altLang="ko-KR" b="0" dirty="0"/>
                        <a:t>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navigate("/path"), navigate(-1)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02071"/>
                  </a:ext>
                </a:extLst>
              </a:tr>
              <a:tr h="7941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dirty="0" err="1"/>
                        <a:t>useParams</a:t>
                      </a:r>
                      <a:r>
                        <a:rPr lang="en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0" dirty="0"/>
                        <a:t>:id </a:t>
                      </a:r>
                      <a:r>
                        <a:rPr lang="ko-KR" altLang="en-US" b="0" dirty="0"/>
                        <a:t>같은 동적 </a:t>
                      </a:r>
                      <a:r>
                        <a:rPr lang="en" b="0" dirty="0"/>
                        <a:t>URL segment </a:t>
                      </a:r>
                      <a:r>
                        <a:rPr lang="ko-KR" altLang="en-US" b="0" dirty="0"/>
                        <a:t>읽기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const params = useParams();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3014398"/>
                  </a:ext>
                </a:extLst>
              </a:tr>
              <a:tr h="7941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dirty="0" err="1"/>
                        <a:t>useLocation</a:t>
                      </a:r>
                      <a:r>
                        <a:rPr lang="en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0" dirty="0"/>
                        <a:t>pathname, search, hash, state </a:t>
                      </a:r>
                      <a:r>
                        <a:rPr lang="ko-KR" altLang="en-US" b="0" dirty="0"/>
                        <a:t>등 현재 </a:t>
                      </a:r>
                      <a:r>
                        <a:rPr lang="en" b="0" dirty="0"/>
                        <a:t>location </a:t>
                      </a:r>
                      <a:r>
                        <a:rPr lang="ko-KR" altLang="en-US" b="0" dirty="0"/>
                        <a:t>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const { pathname } = useLocation();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6091250"/>
                  </a:ext>
                </a:extLst>
              </a:tr>
              <a:tr h="7941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dirty="0" err="1"/>
                        <a:t>useSearchParams</a:t>
                      </a:r>
                      <a:r>
                        <a:rPr lang="en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0" dirty="0"/>
                        <a:t>쿼리 스트링을 읽고 수정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/>
                        <a:t>[searchParams, setSearchParams]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2117274"/>
                  </a:ext>
                </a:extLst>
              </a:tr>
              <a:tr h="7941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dirty="0" err="1"/>
                        <a:t>useRoutes</a:t>
                      </a:r>
                      <a:r>
                        <a:rPr lang="en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b="0" dirty="0"/>
                        <a:t>&lt;Routes&gt;/&lt;Route&gt;</a:t>
                      </a:r>
                      <a:r>
                        <a:rPr lang="en-US" b="0" dirty="0"/>
                        <a:t> </a:t>
                      </a:r>
                      <a:r>
                        <a:rPr lang="ko-KR" altLang="en-US" b="0" dirty="0"/>
                        <a:t>정보를 가진 객체를 반환</a:t>
                      </a:r>
                      <a:endParaRPr lang="en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dirty="0"/>
                        <a:t>const element = </a:t>
                      </a:r>
                      <a:r>
                        <a:rPr lang="en" dirty="0" err="1"/>
                        <a:t>useRoutes</a:t>
                      </a:r>
                      <a:r>
                        <a:rPr lang="en" dirty="0"/>
                        <a:t>(routes);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0637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151435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059C8-A9B2-82DA-A5CF-96EDE4A07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그룹 8">
            <a:extLst>
              <a:ext uri="{FF2B5EF4-FFF2-40B4-BE49-F238E27FC236}">
                <a16:creationId xmlns:a16="http://schemas.microsoft.com/office/drawing/2014/main" id="{CED9519F-DFDE-138F-AE14-8B7C222EB544}"/>
              </a:ext>
            </a:extLst>
          </p:cNvPr>
          <p:cNvGrpSpPr>
            <a:grpSpLocks/>
          </p:cNvGrpSpPr>
          <p:nvPr/>
        </p:nvGrpSpPr>
        <p:grpSpPr bwMode="auto">
          <a:xfrm>
            <a:off x="2020491" y="1916906"/>
            <a:ext cx="5089922" cy="3090863"/>
            <a:chOff x="3413702" y="746702"/>
            <a:chExt cx="5364596" cy="5364596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56C68F0-4916-1034-764E-C6DCBC0A3F55}"/>
                </a:ext>
              </a:extLst>
            </p:cNvPr>
            <p:cNvSpPr/>
            <p:nvPr/>
          </p:nvSpPr>
          <p:spPr>
            <a:xfrm>
              <a:off x="3413702" y="746702"/>
              <a:ext cx="5364596" cy="5364596"/>
            </a:xfrm>
            <a:prstGeom prst="rect">
              <a:avLst/>
            </a:prstGeom>
            <a:gradFill flip="none" rotWithShape="1">
              <a:gsLst>
                <a:gs pos="0">
                  <a:srgbClr val="E3DCC1"/>
                </a:gs>
                <a:gs pos="69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017D04A-6D3B-3437-41BA-A1B30C5B1C6C}"/>
                </a:ext>
              </a:extLst>
            </p:cNvPr>
            <p:cNvSpPr/>
            <p:nvPr/>
          </p:nvSpPr>
          <p:spPr>
            <a:xfrm>
              <a:off x="3541699" y="928553"/>
              <a:ext cx="5122405" cy="50008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4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React</a:t>
              </a:r>
            </a:p>
            <a:p>
              <a:pPr algn="ctr">
                <a:defRPr/>
              </a:pPr>
              <a:r>
                <a:rPr lang="en-US" altLang="ko-KR" sz="4400" b="1" dirty="0" err="1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ReduxToolkit</a:t>
              </a:r>
              <a:endParaRPr lang="en-US" altLang="ko-KR" sz="4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43763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A0B15-30F1-5069-7F17-28B913F13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6AC1D61-59D0-C367-123D-B9872D0D3D06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</a:t>
            </a:r>
            <a:r>
              <a:rPr lang="en-US" altLang="ko-KR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ReduxToolkit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FBCC98-BF4F-46AA-C24F-2AD77AF84079}"/>
              </a:ext>
            </a:extLst>
          </p:cNvPr>
          <p:cNvSpPr txBox="1"/>
          <p:nvPr/>
        </p:nvSpPr>
        <p:spPr>
          <a:xfrm>
            <a:off x="827932" y="1004699"/>
            <a:ext cx="6578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ReduxToolkit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(RTK)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82D36C16-C5FC-02C5-6954-F5CE65B1BE97}"/>
              </a:ext>
            </a:extLst>
          </p:cNvPr>
          <p:cNvSpPr/>
          <p:nvPr/>
        </p:nvSpPr>
        <p:spPr>
          <a:xfrm>
            <a:off x="965749" y="1592931"/>
            <a:ext cx="7945330" cy="1677710"/>
          </a:xfrm>
          <a:prstGeom prst="round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altLang="ko-KR" dirty="0">
                <a:solidFill>
                  <a:schemeClr val="tx1"/>
                </a:solidFill>
                <a:latin typeface="+mn-ea"/>
              </a:rPr>
              <a:t>Redux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로직을 작성하는 표준방식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스토어설정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,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dirty="0" err="1">
                <a:solidFill>
                  <a:schemeClr val="tx1"/>
                </a:solidFill>
                <a:latin typeface="+mn-ea"/>
              </a:rPr>
              <a:t>리듀서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생성 등을 간편하게 해주는 라이브러리</a:t>
            </a:r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+mn-ea"/>
              </a:rPr>
              <a:t>필요패키지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: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@</a:t>
            </a:r>
            <a:r>
              <a:rPr lang="en-US" altLang="ko-KR" dirty="0" err="1">
                <a:solidFill>
                  <a:schemeClr val="tx1"/>
                </a:solidFill>
                <a:latin typeface="+mn-ea"/>
              </a:rPr>
              <a:t>reduxjs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/toolkit, react-redux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6AAE69-99B7-FB86-1A5F-131D85830105}"/>
              </a:ext>
            </a:extLst>
          </p:cNvPr>
          <p:cNvSpPr txBox="1"/>
          <p:nvPr/>
        </p:nvSpPr>
        <p:spPr>
          <a:xfrm>
            <a:off x="965749" y="3424992"/>
            <a:ext cx="64408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// </a:t>
            </a:r>
            <a:r>
              <a:rPr lang="ko-KR" altLang="en-US" dirty="0"/>
              <a:t>패키지 설치하기</a:t>
            </a:r>
            <a:endParaRPr lang="en-US" altLang="ko-KR" dirty="0"/>
          </a:p>
          <a:p>
            <a:r>
              <a:rPr lang="en-US" altLang="ko-KR" dirty="0" err="1"/>
              <a:t>npm</a:t>
            </a:r>
            <a:r>
              <a:rPr lang="ko-KR" altLang="en-US" dirty="0"/>
              <a:t> </a:t>
            </a:r>
            <a:r>
              <a:rPr lang="en-US" altLang="ko-KR" dirty="0"/>
              <a:t>install </a:t>
            </a:r>
            <a:r>
              <a:rPr lang="en-US" altLang="ko-KR" dirty="0">
                <a:latin typeface="+mn-ea"/>
              </a:rPr>
              <a:t>@</a:t>
            </a:r>
            <a:r>
              <a:rPr lang="en-US" altLang="ko-KR" dirty="0" err="1">
                <a:latin typeface="+mn-ea"/>
              </a:rPr>
              <a:t>reduxjs</a:t>
            </a:r>
            <a:r>
              <a:rPr lang="en-US" altLang="ko-KR" dirty="0">
                <a:latin typeface="+mn-ea"/>
              </a:rPr>
              <a:t>/toolkit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react-redux</a:t>
            </a:r>
            <a:endParaRPr lang="en-US" altLang="ko-KR" dirty="0"/>
          </a:p>
          <a:p>
            <a:r>
              <a:rPr lang="ko-KR" altLang="en-US" dirty="0"/>
              <a:t>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5859639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사각형: 둥근 한쪽 모서리 13">
            <a:extLst>
              <a:ext uri="{FF2B5EF4-FFF2-40B4-BE49-F238E27FC236}">
                <a16:creationId xmlns:a16="http://schemas.microsoft.com/office/drawing/2014/main" id="{31A3FE52-8173-4995-9245-5DFBC77AA054}"/>
              </a:ext>
            </a:extLst>
          </p:cNvPr>
          <p:cNvSpPr/>
          <p:nvPr/>
        </p:nvSpPr>
        <p:spPr>
          <a:xfrm>
            <a:off x="3408857" y="2418584"/>
            <a:ext cx="5459571" cy="2574099"/>
          </a:xfrm>
          <a:prstGeom prst="round1Rect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A9F7DBC-D2AB-43B3-89D6-ED4A713871F4}"/>
              </a:ext>
            </a:extLst>
          </p:cNvPr>
          <p:cNvSpPr/>
          <p:nvPr/>
        </p:nvSpPr>
        <p:spPr>
          <a:xfrm>
            <a:off x="1033397" y="2521925"/>
            <a:ext cx="1352811" cy="591854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350" dirty="0"/>
              <a:t>컴포넌트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1533F0B-56EC-408F-9272-01F23AAA9EA3}"/>
              </a:ext>
            </a:extLst>
          </p:cNvPr>
          <p:cNvSpPr/>
          <p:nvPr/>
        </p:nvSpPr>
        <p:spPr>
          <a:xfrm>
            <a:off x="3504155" y="2531319"/>
            <a:ext cx="1352811" cy="591854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50" dirty="0"/>
              <a:t>Action</a:t>
            </a:r>
            <a:endParaRPr lang="ko-KR" altLang="en-US" sz="1350" dirty="0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A22FB737-71BB-45E2-A63C-B19A14269640}"/>
              </a:ext>
            </a:extLst>
          </p:cNvPr>
          <p:cNvSpPr/>
          <p:nvPr/>
        </p:nvSpPr>
        <p:spPr>
          <a:xfrm>
            <a:off x="2541217" y="2658144"/>
            <a:ext cx="793838" cy="319415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9CB5787-8854-4F00-8C70-97825F6B4687}"/>
              </a:ext>
            </a:extLst>
          </p:cNvPr>
          <p:cNvSpPr/>
          <p:nvPr/>
        </p:nvSpPr>
        <p:spPr>
          <a:xfrm>
            <a:off x="7227518" y="2521925"/>
            <a:ext cx="1352811" cy="591854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50" dirty="0"/>
              <a:t>Reducer</a:t>
            </a:r>
            <a:endParaRPr lang="ko-KR" altLang="en-US" sz="1350" dirty="0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E2A687B9-D601-463F-A144-D740CBCED777}"/>
              </a:ext>
            </a:extLst>
          </p:cNvPr>
          <p:cNvSpPr/>
          <p:nvPr/>
        </p:nvSpPr>
        <p:spPr>
          <a:xfrm>
            <a:off x="4952265" y="2704878"/>
            <a:ext cx="2178176" cy="319415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9" name="원통형 8">
            <a:extLst>
              <a:ext uri="{FF2B5EF4-FFF2-40B4-BE49-F238E27FC236}">
                <a16:creationId xmlns:a16="http://schemas.microsoft.com/office/drawing/2014/main" id="{32230964-5FD4-4260-8375-384D654524F8}"/>
              </a:ext>
            </a:extLst>
          </p:cNvPr>
          <p:cNvSpPr/>
          <p:nvPr/>
        </p:nvSpPr>
        <p:spPr>
          <a:xfrm>
            <a:off x="3504155" y="3506000"/>
            <a:ext cx="1352811" cy="1334022"/>
          </a:xfrm>
          <a:prstGeom prst="can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350" dirty="0"/>
              <a:t>Store</a:t>
            </a:r>
            <a:endParaRPr lang="ko-KR" altLang="en-US" sz="1350" dirty="0"/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E65AFDB8-1368-4D83-8C99-D03C746AACBA}"/>
              </a:ext>
            </a:extLst>
          </p:cNvPr>
          <p:cNvSpPr/>
          <p:nvPr/>
        </p:nvSpPr>
        <p:spPr>
          <a:xfrm rot="8876549">
            <a:off x="5052652" y="3624091"/>
            <a:ext cx="1312542" cy="319415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A269D124-40A5-4613-8F16-770E65E8C8E3}"/>
              </a:ext>
            </a:extLst>
          </p:cNvPr>
          <p:cNvSpPr/>
          <p:nvPr/>
        </p:nvSpPr>
        <p:spPr>
          <a:xfrm rot="12491493">
            <a:off x="1727717" y="3548935"/>
            <a:ext cx="1316983" cy="319415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EA3643-312E-4E25-A456-D067D9BD6BA6}"/>
              </a:ext>
            </a:extLst>
          </p:cNvPr>
          <p:cNvSpPr txBox="1"/>
          <p:nvPr/>
        </p:nvSpPr>
        <p:spPr>
          <a:xfrm>
            <a:off x="4575133" y="1760968"/>
            <a:ext cx="30731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action</a:t>
            </a:r>
            <a:r>
              <a:rPr lang="ko-KR" altLang="en-US" sz="1200" dirty="0"/>
              <a:t>의 </a:t>
            </a:r>
            <a:r>
              <a:rPr lang="en-US" altLang="ko-KR" sz="1200" dirty="0"/>
              <a:t>type</a:t>
            </a:r>
            <a:r>
              <a:rPr lang="ko-KR" altLang="en-US" sz="1200" dirty="0"/>
              <a:t>기준으로 </a:t>
            </a:r>
            <a:r>
              <a:rPr lang="en-US" altLang="ko-KR" sz="1200" dirty="0"/>
              <a:t>reducer</a:t>
            </a:r>
            <a:r>
              <a:rPr lang="ko-KR" altLang="en-US" sz="1200" dirty="0"/>
              <a:t>함수호출</a:t>
            </a:r>
            <a:endParaRPr lang="en-US" altLang="ko-KR" sz="1200" dirty="0"/>
          </a:p>
          <a:p>
            <a:r>
              <a:rPr lang="en-US" altLang="ko-KR" sz="1200" dirty="0"/>
              <a:t>reducer</a:t>
            </a:r>
            <a:r>
              <a:rPr lang="ko-KR" altLang="en-US" sz="1200" dirty="0"/>
              <a:t>함수호출 시 </a:t>
            </a:r>
            <a:r>
              <a:rPr lang="en-US" altLang="ko-KR" sz="1200" dirty="0"/>
              <a:t>action</a:t>
            </a:r>
            <a:r>
              <a:rPr lang="ko-KR" altLang="en-US" sz="1200" dirty="0"/>
              <a:t>의 </a:t>
            </a:r>
            <a:r>
              <a:rPr lang="en-US" altLang="ko-KR" sz="1200" dirty="0"/>
              <a:t>payload</a:t>
            </a:r>
            <a:r>
              <a:rPr lang="ko-KR" altLang="en-US" sz="1200" dirty="0"/>
              <a:t>값 전달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5539F3-F222-40F6-8CF1-BDF53062D1EE}"/>
              </a:ext>
            </a:extLst>
          </p:cNvPr>
          <p:cNvSpPr txBox="1"/>
          <p:nvPr/>
        </p:nvSpPr>
        <p:spPr>
          <a:xfrm>
            <a:off x="1041142" y="1760968"/>
            <a:ext cx="3236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/>
              <a:t>useDispatch</a:t>
            </a:r>
            <a:r>
              <a:rPr lang="en-US" altLang="ko-KR" sz="1200" dirty="0"/>
              <a:t>()</a:t>
            </a:r>
            <a:r>
              <a:rPr lang="ko-KR" altLang="en-US" sz="1200" dirty="0" err="1"/>
              <a:t>으로</a:t>
            </a:r>
            <a:r>
              <a:rPr lang="ko-KR" altLang="en-US" sz="1200" dirty="0"/>
              <a:t> 가져온 </a:t>
            </a:r>
            <a:r>
              <a:rPr lang="en-US" altLang="ko-KR" sz="1200" dirty="0"/>
              <a:t>dispatcher()</a:t>
            </a:r>
            <a:r>
              <a:rPr lang="ko-KR" altLang="en-US" sz="1200" dirty="0"/>
              <a:t>함수호출</a:t>
            </a:r>
            <a:endParaRPr lang="en-US" altLang="ko-KR" sz="1200" dirty="0"/>
          </a:p>
          <a:p>
            <a:r>
              <a:rPr lang="ko-KR" altLang="en-US" sz="1200" dirty="0"/>
              <a:t>매개변수로 </a:t>
            </a:r>
            <a:r>
              <a:rPr lang="en-US" altLang="ko-KR" sz="1200" dirty="0"/>
              <a:t>action</a:t>
            </a:r>
            <a:r>
              <a:rPr lang="ko-KR" altLang="en-US" sz="1200" dirty="0"/>
              <a:t>함수로 생성된 객체 전달</a:t>
            </a:r>
            <a:endParaRPr lang="en-US" altLang="ko-KR" sz="1200" dirty="0"/>
          </a:p>
          <a:p>
            <a:r>
              <a:rPr lang="en-US" altLang="ko-KR" sz="1200" dirty="0"/>
              <a:t>action</a:t>
            </a:r>
            <a:r>
              <a:rPr lang="ko-KR" altLang="en-US" sz="1200" dirty="0"/>
              <a:t>함수의 매개변수로 변경데이터 전달</a:t>
            </a:r>
            <a:endParaRPr lang="en-US" altLang="ko-KR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5D3358-2649-42FE-929A-B4761E4C030A}"/>
              </a:ext>
            </a:extLst>
          </p:cNvPr>
          <p:cNvSpPr txBox="1"/>
          <p:nvPr/>
        </p:nvSpPr>
        <p:spPr>
          <a:xfrm>
            <a:off x="5649242" y="4504168"/>
            <a:ext cx="2315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solidFill>
                  <a:srgbClr val="C00000"/>
                </a:solidFill>
              </a:rPr>
              <a:t>리덕스에서</a:t>
            </a:r>
            <a:r>
              <a:rPr lang="ko-KR" altLang="en-US" dirty="0">
                <a:solidFill>
                  <a:srgbClr val="C00000"/>
                </a:solidFill>
              </a:rPr>
              <a:t> 자동처리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F1254B-5DA2-402C-8662-0E2E3FB3ED6E}"/>
              </a:ext>
            </a:extLst>
          </p:cNvPr>
          <p:cNvSpPr txBox="1"/>
          <p:nvPr/>
        </p:nvSpPr>
        <p:spPr>
          <a:xfrm>
            <a:off x="5552163" y="3902919"/>
            <a:ext cx="219572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50" dirty="0"/>
              <a:t>reducer</a:t>
            </a:r>
            <a:r>
              <a:rPr lang="ko-KR" altLang="en-US" sz="1350" dirty="0"/>
              <a:t>함수에서 반환하는 </a:t>
            </a:r>
            <a:endParaRPr lang="en-US" altLang="ko-KR" sz="1350" dirty="0"/>
          </a:p>
          <a:p>
            <a:r>
              <a:rPr lang="ko-KR" altLang="en-US" sz="1350" dirty="0"/>
              <a:t>객체</a:t>
            </a:r>
            <a:r>
              <a:rPr lang="en-US" altLang="ko-KR" sz="1350" dirty="0"/>
              <a:t>store</a:t>
            </a:r>
            <a:r>
              <a:rPr lang="ko-KR" altLang="en-US" sz="1350" dirty="0"/>
              <a:t>에 저장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7CA0D3-2A87-4ABB-A5EE-DFB9FABE8F26}"/>
              </a:ext>
            </a:extLst>
          </p:cNvPr>
          <p:cNvSpPr txBox="1"/>
          <p:nvPr/>
        </p:nvSpPr>
        <p:spPr>
          <a:xfrm>
            <a:off x="2513034" y="3010439"/>
            <a:ext cx="81458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dispatch</a:t>
            </a:r>
            <a:r>
              <a:rPr lang="en-US" altLang="ko-KR" sz="1350" dirty="0"/>
              <a:t>()</a:t>
            </a:r>
            <a:endParaRPr lang="ko-KR" altLang="en-US" sz="13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49EAF3-496A-4487-B9B0-49088AEDDE5B}"/>
              </a:ext>
            </a:extLst>
          </p:cNvPr>
          <p:cNvSpPr txBox="1"/>
          <p:nvPr/>
        </p:nvSpPr>
        <p:spPr>
          <a:xfrm>
            <a:off x="4779448" y="3074838"/>
            <a:ext cx="261994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50" dirty="0"/>
              <a:t>reducer(</a:t>
            </a:r>
            <a:r>
              <a:rPr lang="en-US" altLang="ko-KR" sz="1350" dirty="0" err="1"/>
              <a:t>state,action</a:t>
            </a:r>
            <a:r>
              <a:rPr lang="en-US" altLang="ko-KR" sz="1350" dirty="0"/>
              <a:t>) store</a:t>
            </a:r>
            <a:r>
              <a:rPr lang="ko-KR" altLang="en-US" sz="1350" dirty="0"/>
              <a:t>값 수정</a:t>
            </a:r>
            <a:endParaRPr lang="en-US" altLang="ko-KR" sz="13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849094-336B-46CE-A4FD-F5A9CEFE8347}"/>
              </a:ext>
            </a:extLst>
          </p:cNvPr>
          <p:cNvSpPr txBox="1"/>
          <p:nvPr/>
        </p:nvSpPr>
        <p:spPr>
          <a:xfrm>
            <a:off x="540118" y="3825485"/>
            <a:ext cx="22778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/>
              <a:t>useSelector</a:t>
            </a:r>
            <a:r>
              <a:rPr lang="en-US" altLang="ko-KR" sz="1200" dirty="0"/>
              <a:t>()</a:t>
            </a:r>
            <a:r>
              <a:rPr lang="ko-KR" altLang="en-US" sz="1200" dirty="0"/>
              <a:t>함수이용</a:t>
            </a:r>
            <a:endParaRPr lang="en-US" altLang="ko-KR" sz="1200" dirty="0"/>
          </a:p>
          <a:p>
            <a:r>
              <a:rPr lang="en-US" altLang="ko-KR" sz="1200" dirty="0"/>
              <a:t>Store</a:t>
            </a:r>
            <a:r>
              <a:rPr lang="ko-KR" altLang="en-US" sz="1200" dirty="0"/>
              <a:t>에 저장된 데이터이용가능</a:t>
            </a:r>
            <a:endParaRPr lang="en-US" altLang="ko-KR" sz="1200" dirty="0"/>
          </a:p>
          <a:p>
            <a:r>
              <a:rPr lang="en-US" altLang="ko-KR" sz="1200" dirty="0"/>
              <a:t>Component</a:t>
            </a:r>
            <a:r>
              <a:rPr lang="ko-KR" altLang="en-US" sz="1200" dirty="0"/>
              <a:t>의 </a:t>
            </a:r>
            <a:r>
              <a:rPr lang="en-US" altLang="ko-KR" sz="1200" dirty="0"/>
              <a:t>props</a:t>
            </a:r>
            <a:r>
              <a:rPr lang="ko-KR" altLang="en-US" sz="1200" dirty="0"/>
              <a:t>로 </a:t>
            </a:r>
            <a:r>
              <a:rPr lang="en-US" altLang="ko-KR" sz="1200" dirty="0"/>
              <a:t>store</a:t>
            </a:r>
            <a:r>
              <a:rPr lang="ko-KR" altLang="en-US" sz="1200" dirty="0"/>
              <a:t>에</a:t>
            </a:r>
            <a:endParaRPr lang="en-US" altLang="ko-KR" sz="1200" dirty="0"/>
          </a:p>
          <a:p>
            <a:r>
              <a:rPr lang="ko-KR" altLang="en-US" sz="1200" dirty="0"/>
              <a:t>저장된 데이터가 전달됨</a:t>
            </a:r>
            <a:endParaRPr lang="en-US" altLang="ko-KR" sz="1200" dirty="0"/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5A7E948F-694F-438B-9989-3FA717931995}"/>
              </a:ext>
            </a:extLst>
          </p:cNvPr>
          <p:cNvCxnSpPr>
            <a:stCxn id="4" idx="1"/>
            <a:endCxn id="13" idx="1"/>
          </p:cNvCxnSpPr>
          <p:nvPr/>
        </p:nvCxnSpPr>
        <p:spPr>
          <a:xfrm rot="10800000" flipH="1">
            <a:off x="1033396" y="2084134"/>
            <a:ext cx="7745" cy="733718"/>
          </a:xfrm>
          <a:prstGeom prst="bentConnector3">
            <a:avLst>
              <a:gd name="adj1" fmla="val -2951582"/>
            </a:avLst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728C46A3-0382-4B47-95C4-815D90D5065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179622" y="2145203"/>
            <a:ext cx="574949" cy="216073"/>
          </a:xfrm>
          <a:prstGeom prst="bentConnector2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026A3A4-B1BA-4439-8FD6-3248750752C9}"/>
              </a:ext>
            </a:extLst>
          </p:cNvPr>
          <p:cNvSpPr/>
          <p:nvPr/>
        </p:nvSpPr>
        <p:spPr>
          <a:xfrm>
            <a:off x="5098638" y="2631945"/>
            <a:ext cx="1748184" cy="407369"/>
          </a:xfrm>
          <a:prstGeom prst="roundRect">
            <a:avLst/>
          </a:prstGeom>
          <a:ln>
            <a:solidFill>
              <a:srgbClr val="7030A0"/>
            </a:solidFill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등록된 미들웨어 실행 없으면 생략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C3F5E4-6453-0267-49E9-9862F7B362CF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</a:t>
            </a:r>
            <a:r>
              <a:rPr lang="en-US" altLang="ko-KR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ReduxToolkit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C8BC42-AEC8-70BC-D025-9A8F765F7D85}"/>
              </a:ext>
            </a:extLst>
          </p:cNvPr>
          <p:cNvSpPr txBox="1"/>
          <p:nvPr/>
        </p:nvSpPr>
        <p:spPr>
          <a:xfrm>
            <a:off x="827932" y="1004699"/>
            <a:ext cx="6578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Redux</a:t>
            </a: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동작 구조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9810738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B7359-8DE1-6467-4665-92CC85046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482CF28-95C3-2986-4751-715E3DD87FF7}"/>
              </a:ext>
            </a:extLst>
          </p:cNvPr>
          <p:cNvSpPr txBox="1"/>
          <p:nvPr/>
        </p:nvSpPr>
        <p:spPr>
          <a:xfrm>
            <a:off x="259556" y="255600"/>
            <a:ext cx="8640366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▶ React </a:t>
            </a:r>
            <a:r>
              <a:rPr lang="en-US" altLang="ko-KR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Lato Black"/>
              </a:rPr>
              <a:t>ReduxToolkit</a:t>
            </a:r>
            <a:endParaRPr lang="ko-KR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02A0D-C09C-18FF-5590-77699AAB4642}"/>
              </a:ext>
            </a:extLst>
          </p:cNvPr>
          <p:cNvSpPr txBox="1"/>
          <p:nvPr/>
        </p:nvSpPr>
        <p:spPr>
          <a:xfrm>
            <a:off x="827932" y="1004699"/>
            <a:ext cx="6578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  <a:defRPr/>
            </a:pPr>
            <a:r>
              <a:rPr lang="ko-KR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주요 함수와 객체</a:t>
            </a:r>
            <a:endParaRPr lang="en-US" altLang="ko-K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A21545B-D95B-61EF-F3F6-CACA795A47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463606"/>
              </p:ext>
            </p:extLst>
          </p:nvPr>
        </p:nvGraphicFramePr>
        <p:xfrm>
          <a:off x="827932" y="1630688"/>
          <a:ext cx="7738552" cy="497171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83234">
                  <a:extLst>
                    <a:ext uri="{9D8B030D-6E8A-4147-A177-3AD203B41FA5}">
                      <a16:colId xmlns:a16="http://schemas.microsoft.com/office/drawing/2014/main" val="3636973593"/>
                    </a:ext>
                  </a:extLst>
                </a:gridCol>
                <a:gridCol w="1857676">
                  <a:extLst>
                    <a:ext uri="{9D8B030D-6E8A-4147-A177-3AD203B41FA5}">
                      <a16:colId xmlns:a16="http://schemas.microsoft.com/office/drawing/2014/main" val="322617736"/>
                    </a:ext>
                  </a:extLst>
                </a:gridCol>
                <a:gridCol w="2772076">
                  <a:extLst>
                    <a:ext uri="{9D8B030D-6E8A-4147-A177-3AD203B41FA5}">
                      <a16:colId xmlns:a16="http://schemas.microsoft.com/office/drawing/2014/main" val="1731071104"/>
                    </a:ext>
                  </a:extLst>
                </a:gridCol>
                <a:gridCol w="2425566">
                  <a:extLst>
                    <a:ext uri="{9D8B030D-6E8A-4147-A177-3AD203B41FA5}">
                      <a16:colId xmlns:a16="http://schemas.microsoft.com/office/drawing/2014/main" val="3764803776"/>
                    </a:ext>
                  </a:extLst>
                </a:gridCol>
              </a:tblGrid>
              <a:tr h="3555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1" dirty="0"/>
                        <a:t>구분</a:t>
                      </a:r>
                      <a:endParaRPr lang="ko-KR" altLang="en-US" sz="1600" dirty="0"/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1" dirty="0"/>
                        <a:t>이름</a:t>
                      </a:r>
                      <a:endParaRPr lang="ko-KR" altLang="en-US" sz="1600" dirty="0"/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1" dirty="0"/>
                        <a:t>역할</a:t>
                      </a:r>
                      <a:endParaRPr lang="ko-KR" altLang="en-US" sz="1600" dirty="0"/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1" dirty="0"/>
                        <a:t>핵심 매개변수</a:t>
                      </a:r>
                      <a:r>
                        <a:rPr lang="en-US" altLang="ko-KR" sz="1600" b="1" dirty="0"/>
                        <a:t>/</a:t>
                      </a:r>
                      <a:r>
                        <a:rPr lang="ko-KR" altLang="en-US" sz="1600" b="1" dirty="0"/>
                        <a:t>속성</a:t>
                      </a:r>
                      <a:endParaRPr lang="ko-KR" altLang="en-US" sz="1600" dirty="0"/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1233946641"/>
                  </a:ext>
                </a:extLst>
              </a:tr>
              <a:tr h="622868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/>
                        <a:t>함수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600" dirty="0" err="1"/>
                        <a:t>configureStore</a:t>
                      </a:r>
                      <a:r>
                        <a:rPr lang="en" sz="1600" dirty="0"/>
                        <a:t>()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/>
                        <a:t>Redux store </a:t>
                      </a:r>
                      <a:r>
                        <a:rPr lang="ko-KR" altLang="en-US" sz="1600"/>
                        <a:t>생성 </a:t>
                      </a:r>
                      <a:r>
                        <a:rPr lang="en-US" altLang="ko-KR" sz="1600"/>
                        <a:t>(</a:t>
                      </a:r>
                      <a:r>
                        <a:rPr lang="en" sz="1600"/>
                        <a:t>DevTools, middleware </a:t>
                      </a:r>
                      <a:r>
                        <a:rPr lang="ko-KR" altLang="en-US" sz="1600"/>
                        <a:t>자동 포함</a:t>
                      </a:r>
                      <a:r>
                        <a:rPr lang="en-US" altLang="ko-KR" sz="1600"/>
                        <a:t>)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dirty="0"/>
                        <a:t>reducer, middleware, </a:t>
                      </a:r>
                    </a:p>
                    <a:p>
                      <a:pPr>
                        <a:buNone/>
                      </a:pPr>
                      <a:r>
                        <a:rPr lang="en" sz="1600" dirty="0" err="1"/>
                        <a:t>devTools</a:t>
                      </a:r>
                      <a:r>
                        <a:rPr lang="en" sz="1600" dirty="0"/>
                        <a:t>, </a:t>
                      </a:r>
                      <a:r>
                        <a:rPr lang="en" sz="1600" dirty="0" err="1"/>
                        <a:t>preloadedState</a:t>
                      </a:r>
                      <a:endParaRPr lang="en" sz="1600" dirty="0"/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2911487719"/>
                  </a:ext>
                </a:extLst>
              </a:tr>
              <a:tr h="62286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600" dirty="0"/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600" dirty="0" err="1"/>
                        <a:t>createSlice</a:t>
                      </a:r>
                      <a:r>
                        <a:rPr lang="en" sz="1600" dirty="0"/>
                        <a:t>()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/>
                        <a:t>reducer + actions </a:t>
                      </a:r>
                      <a:r>
                        <a:rPr lang="ko-KR" altLang="en-US" sz="1600"/>
                        <a:t>한 번에 정의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dirty="0"/>
                        <a:t>name, </a:t>
                      </a:r>
                      <a:r>
                        <a:rPr lang="en" sz="1600" dirty="0" err="1"/>
                        <a:t>initialState</a:t>
                      </a:r>
                      <a:r>
                        <a:rPr lang="en" sz="1600" dirty="0"/>
                        <a:t>, reducers</a:t>
                      </a:r>
                    </a:p>
                    <a:p>
                      <a:pPr>
                        <a:buNone/>
                      </a:pPr>
                      <a:r>
                        <a:rPr lang="en" sz="1600" dirty="0" err="1"/>
                        <a:t>extraReducers</a:t>
                      </a:r>
                      <a:endParaRPr lang="en" sz="1600" dirty="0"/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462046441"/>
                  </a:ext>
                </a:extLst>
              </a:tr>
              <a:tr h="890140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600" dirty="0"/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600" dirty="0" err="1"/>
                        <a:t>createAsyncThunk</a:t>
                      </a:r>
                      <a:r>
                        <a:rPr lang="en" sz="1600" dirty="0"/>
                        <a:t>()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/>
                        <a:t>비동기 로직을 </a:t>
                      </a:r>
                      <a:r>
                        <a:rPr lang="en" sz="1600" dirty="0"/>
                        <a:t>action</a:t>
                      </a:r>
                      <a:r>
                        <a:rPr lang="ko-KR" altLang="en-US" sz="1600" dirty="0" err="1"/>
                        <a:t>처럼</a:t>
                      </a:r>
                      <a:r>
                        <a:rPr lang="ko-KR" altLang="en-US" sz="1600" dirty="0"/>
                        <a:t> 사용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dirty="0" err="1"/>
                        <a:t>typePrefix</a:t>
                      </a:r>
                      <a:r>
                        <a:rPr lang="en" sz="1600" dirty="0"/>
                        <a:t>, </a:t>
                      </a:r>
                      <a:r>
                        <a:rPr lang="en" sz="1600" dirty="0" err="1"/>
                        <a:t>payloadCreator</a:t>
                      </a:r>
                      <a:r>
                        <a:rPr lang="en" sz="1600" dirty="0"/>
                        <a:t>, </a:t>
                      </a:r>
                    </a:p>
                    <a:p>
                      <a:pPr>
                        <a:buNone/>
                      </a:pPr>
                      <a:r>
                        <a:rPr lang="ko-KR" altLang="en-US" sz="1600" dirty="0"/>
                        <a:t>옵션</a:t>
                      </a:r>
                      <a:r>
                        <a:rPr lang="en-US" altLang="ko-KR" sz="1600" dirty="0"/>
                        <a:t>(</a:t>
                      </a:r>
                      <a:r>
                        <a:rPr lang="en" sz="1600" dirty="0"/>
                        <a:t>condition, </a:t>
                      </a:r>
                      <a:r>
                        <a:rPr lang="en" sz="1600" dirty="0" err="1"/>
                        <a:t>dispatchConditionRejection</a:t>
                      </a:r>
                      <a:r>
                        <a:rPr lang="en" sz="1600" dirty="0"/>
                        <a:t>)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3892738441"/>
                  </a:ext>
                </a:extLst>
              </a:tr>
              <a:tr h="657001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600" dirty="0"/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600" dirty="0" err="1"/>
                        <a:t>createSelector</a:t>
                      </a:r>
                      <a:r>
                        <a:rPr lang="en" sz="1600" dirty="0"/>
                        <a:t>()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/>
                        <a:t>성능 최적화용 </a:t>
                      </a:r>
                      <a:r>
                        <a:rPr lang="en" sz="1600" dirty="0"/>
                        <a:t>selector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/>
                        <a:t>인풋 </a:t>
                      </a:r>
                      <a:r>
                        <a:rPr lang="en" sz="1600" dirty="0"/>
                        <a:t>selectors, </a:t>
                      </a:r>
                      <a:r>
                        <a:rPr lang="ko-KR" altLang="en-US" sz="1600" dirty="0"/>
                        <a:t>결과 함수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61332585"/>
                  </a:ext>
                </a:extLst>
              </a:tr>
              <a:tr h="4534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/>
                        <a:t>객체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600" dirty="0"/>
                        <a:t>slice </a:t>
                      </a:r>
                      <a:r>
                        <a:rPr lang="ko-KR" altLang="en-US" sz="1600" dirty="0"/>
                        <a:t>객체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dirty="0"/>
                        <a:t>reducer, actions, name</a:t>
                      </a:r>
                      <a:r>
                        <a:rPr lang="ko-KR" altLang="en-US" sz="1600" dirty="0" err="1"/>
                        <a:t>를</a:t>
                      </a:r>
                      <a:r>
                        <a:rPr lang="ko-KR" altLang="en-US" sz="1600" dirty="0"/>
                        <a:t> 포함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dirty="0" err="1"/>
                        <a:t>slice.reducer</a:t>
                      </a:r>
                      <a:r>
                        <a:rPr lang="en" sz="1600" dirty="0"/>
                        <a:t>, </a:t>
                      </a:r>
                      <a:r>
                        <a:rPr lang="en" sz="1600" dirty="0" err="1"/>
                        <a:t>slice.actions</a:t>
                      </a:r>
                      <a:endParaRPr lang="en" sz="1600" dirty="0"/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231166297"/>
                  </a:ext>
                </a:extLst>
              </a:tr>
              <a:tr h="6347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/>
                        <a:t>컴포넌트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600" dirty="0"/>
                        <a:t>&lt;Provider&gt;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/>
                        <a:t>하위 컴포넌트에 </a:t>
                      </a:r>
                      <a:r>
                        <a:rPr lang="en" sz="1600" dirty="0"/>
                        <a:t>store </a:t>
                      </a:r>
                      <a:r>
                        <a:rPr lang="ko-KR" altLang="en-US" sz="1600" dirty="0"/>
                        <a:t>주입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/>
                        <a:t>store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6461936"/>
                  </a:ext>
                </a:extLst>
              </a:tr>
              <a:tr h="3674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/>
                        <a:t>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600" dirty="0" err="1"/>
                        <a:t>useSelector</a:t>
                      </a:r>
                      <a:r>
                        <a:rPr lang="en" sz="1600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dirty="0"/>
                        <a:t>store </a:t>
                      </a:r>
                      <a:r>
                        <a:rPr lang="ko-KR" altLang="en-US" sz="1600" dirty="0"/>
                        <a:t>상태 읽기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/>
                        <a:t>인자로 </a:t>
                      </a:r>
                      <a:r>
                        <a:rPr lang="en" sz="1600" dirty="0"/>
                        <a:t>selector </a:t>
                      </a:r>
                      <a:r>
                        <a:rPr lang="ko-KR" altLang="en-US" sz="1600" dirty="0"/>
                        <a:t>함수</a:t>
                      </a:r>
                      <a:endParaRPr lang="e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0772439"/>
                  </a:ext>
                </a:extLst>
              </a:tr>
              <a:tr h="3674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/>
                        <a:t>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" sz="1600" dirty="0" err="1"/>
                        <a:t>useDispatch</a:t>
                      </a:r>
                      <a:r>
                        <a:rPr lang="en" sz="1600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600" dirty="0"/>
                        <a:t>action dispatch </a:t>
                      </a:r>
                      <a:r>
                        <a:rPr lang="ko-KR" altLang="en-US" sz="1600" dirty="0"/>
                        <a:t>함수 가져오기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/>
                        <a:t>없음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7202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950759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8F825-0D8B-9B66-B848-5242E066E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그룹 8">
            <a:extLst>
              <a:ext uri="{FF2B5EF4-FFF2-40B4-BE49-F238E27FC236}">
                <a16:creationId xmlns:a16="http://schemas.microsoft.com/office/drawing/2014/main" id="{817EEDE7-7D21-4DF9-3ACD-EF69F311C303}"/>
              </a:ext>
            </a:extLst>
          </p:cNvPr>
          <p:cNvGrpSpPr>
            <a:grpSpLocks/>
          </p:cNvGrpSpPr>
          <p:nvPr/>
        </p:nvGrpSpPr>
        <p:grpSpPr bwMode="auto">
          <a:xfrm>
            <a:off x="2020491" y="1916906"/>
            <a:ext cx="5089922" cy="3090863"/>
            <a:chOff x="3413702" y="746702"/>
            <a:chExt cx="5364596" cy="5364596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8C5A8EE-53B0-28C6-9F27-3FBB785FD491}"/>
                </a:ext>
              </a:extLst>
            </p:cNvPr>
            <p:cNvSpPr/>
            <p:nvPr/>
          </p:nvSpPr>
          <p:spPr>
            <a:xfrm>
              <a:off x="3413702" y="746702"/>
              <a:ext cx="5364596" cy="5364596"/>
            </a:xfrm>
            <a:prstGeom prst="rect">
              <a:avLst/>
            </a:prstGeom>
            <a:gradFill flip="none" rotWithShape="1">
              <a:gsLst>
                <a:gs pos="0">
                  <a:srgbClr val="E3DCC1"/>
                </a:gs>
                <a:gs pos="69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79FE50A-80D9-4FA8-CCFB-64DF8BB37785}"/>
                </a:ext>
              </a:extLst>
            </p:cNvPr>
            <p:cNvSpPr/>
            <p:nvPr/>
          </p:nvSpPr>
          <p:spPr>
            <a:xfrm>
              <a:off x="3541699" y="928553"/>
              <a:ext cx="5122404" cy="50008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4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React</a:t>
              </a:r>
            </a:p>
            <a:p>
              <a:pPr algn="ctr">
                <a:defRPr/>
              </a:pPr>
              <a:r>
                <a:rPr lang="ko-KR" altLang="en-US" sz="44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ea"/>
                  <a:ea typeface="+mj-ea"/>
                </a:rPr>
                <a:t>서버연동</a:t>
              </a:r>
              <a:endParaRPr lang="en-US" altLang="ko-KR" sz="44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0450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15623</TotalTime>
  <Words>5373</Words>
  <Application>Microsoft Macintosh PowerPoint</Application>
  <PresentationFormat>화면 슬라이드 쇼(4:3)</PresentationFormat>
  <Paragraphs>1087</Paragraphs>
  <Slides>73</Slides>
  <Notes>59</Notes>
  <HiddenSlides>2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73</vt:i4>
      </vt:variant>
    </vt:vector>
  </HeadingPairs>
  <TitlesOfParts>
    <vt:vector size="80" baseType="lpstr">
      <vt:lpstr>맑은 고딕</vt:lpstr>
      <vt:lpstr>Google Sans Text</vt:lpstr>
      <vt:lpstr>Arial</vt:lpstr>
      <vt:lpstr>Calibri</vt:lpstr>
      <vt:lpstr>Calibri Light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user1</dc:creator>
  <cp:lastModifiedBy>ByungSeung Yoo</cp:lastModifiedBy>
  <cp:revision>509</cp:revision>
  <cp:lastPrinted>2023-12-22T00:06:51Z</cp:lastPrinted>
  <dcterms:created xsi:type="dcterms:W3CDTF">2018-04-10T03:44:26Z</dcterms:created>
  <dcterms:modified xsi:type="dcterms:W3CDTF">2025-12-03T08:28:04Z</dcterms:modified>
</cp:coreProperties>
</file>